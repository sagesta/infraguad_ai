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72afa7b2624145" /><Relationship Type="http://schemas.openxmlformats.org/officeDocument/2006/relationships/extended-properties" Target="/docProps/app.xml" Id="R07883b645fd748ef" /><Relationship Type="http://schemas.openxmlformats.org/officeDocument/2006/relationships/officeDocument" Target="/ppt/presentation.xml" Id="Rb0f0bf7862f94f0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dd47cf324fc426d"/>
  </p:sldMasterIdLst>
  <p:notesMasterIdLst>
    <p:notesMasterId xmlns:r="http://schemas.openxmlformats.org/officeDocument/2006/relationships" r:id="R78ae2b1c47e7425c"/>
  </p:notesMasterIdLst>
  <p:sldIdLst>
    <p:sldId xmlns:r="http://schemas.openxmlformats.org/officeDocument/2006/relationships" id="256" r:id="Rbe7e53f70eec4db5"/>
    <p:sldId xmlns:r="http://schemas.openxmlformats.org/officeDocument/2006/relationships" id="257" r:id="Rb5bf2c0bf9584600"/>
    <p:sldId xmlns:r="http://schemas.openxmlformats.org/officeDocument/2006/relationships" id="258" r:id="R95d2853440dd477d"/>
    <p:sldId xmlns:r="http://schemas.openxmlformats.org/officeDocument/2006/relationships" id="259" r:id="Rd12df8c9469e4173"/>
    <p:sldId xmlns:r="http://schemas.openxmlformats.org/officeDocument/2006/relationships" id="260" r:id="R7bd60165a825403d"/>
    <p:sldId xmlns:r="http://schemas.openxmlformats.org/officeDocument/2006/relationships" id="261" r:id="R3944130a15c94b07"/>
    <p:sldId xmlns:r="http://schemas.openxmlformats.org/officeDocument/2006/relationships" id="262" r:id="R2f76ed54dca744de"/>
    <p:sldId xmlns:r="http://schemas.openxmlformats.org/officeDocument/2006/relationships" id="263" r:id="R8a1ccc30c7ca4edf"/>
    <p:sldId xmlns:r="http://schemas.openxmlformats.org/officeDocument/2006/relationships" id="264" r:id="R7607773399e44c3d"/>
    <p:sldId xmlns:r="http://schemas.openxmlformats.org/officeDocument/2006/relationships" id="265" r:id="Rd8c982173ab74456"/>
    <p:sldId xmlns:r="http://schemas.openxmlformats.org/officeDocument/2006/relationships" id="266" r:id="Re4de50f995394ad2"/>
    <p:sldId xmlns:r="http://schemas.openxmlformats.org/officeDocument/2006/relationships" id="267" r:id="Rc2ecca77ecc84652"/>
    <p:sldId xmlns:r="http://schemas.openxmlformats.org/officeDocument/2006/relationships" id="268" r:id="R276094f762044e50"/>
    <p:sldId xmlns:r="http://schemas.openxmlformats.org/officeDocument/2006/relationships" id="269" r:id="Rd29f0b348cf249c0"/>
    <p:sldId xmlns:r="http://schemas.openxmlformats.org/officeDocument/2006/relationships" id="270" r:id="Rb9ba2a41a35e454f"/>
  </p:sldIdLst>
  <p:sldSz cx="9144000" cy="5143500"/>
  <p:notesSz cx="6858000" cy="9144000"/>
  <p:embeddedFontLst>
    <p:embeddedFont>
      <p:font typeface="Afacad Flux"/>
      <p:regular xmlns:r="http://schemas.openxmlformats.org/officeDocument/2006/relationships" r:id="R98de2000f2a541bd"/>
      <p:bold xmlns:r="http://schemas.openxmlformats.org/officeDocument/2006/relationships" r:id="Rd739ec4e625d4661"/>
    </p:embeddedFont>
    <p:embeddedFont>
      <p:font typeface="Afacad Flux SemiBold"/>
      <p:regular xmlns:r="http://schemas.openxmlformats.org/officeDocument/2006/relationships" r:id="R51b6ce055d76442e"/>
      <p:bold xmlns:r="http://schemas.openxmlformats.org/officeDocument/2006/relationships" r:id="R3b2a0c9e5c404a8b"/>
    </p:embeddedFont>
    <p:embeddedFont>
      <p:font typeface="Manrope"/>
      <p:regular xmlns:r="http://schemas.openxmlformats.org/officeDocument/2006/relationships" r:id="R86979f772082425d"/>
      <p:bold xmlns:r="http://schemas.openxmlformats.org/officeDocument/2006/relationships" r:id="Rab7858402ad84d6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182792ac9624b0d" /><Relationship Type="http://schemas.openxmlformats.org/officeDocument/2006/relationships/slideMaster" Target="/ppt/slideMasters/slideMaster1.xml" Id="Rfdd47cf324fc426d" /><Relationship Type="http://schemas.openxmlformats.org/officeDocument/2006/relationships/notesMaster" Target="/ppt/notesMasters/notesMaster1.xml" Id="R78ae2b1c47e7425c" /><Relationship Type="http://schemas.openxmlformats.org/officeDocument/2006/relationships/presProps" Target="/ppt/presProps.xml" Id="Rcd413bb6212d4c51" /><Relationship Type="http://schemas.openxmlformats.org/officeDocument/2006/relationships/viewProps" Target="/ppt/viewProps.xml" Id="Rc9648f5bedab4f47" /><Relationship Type="http://schemas.openxmlformats.org/officeDocument/2006/relationships/tableStyles" Target="/ppt/tableStyles.xml" Id="R971cb85a44de4c05" /><Relationship Type="http://schemas.openxmlformats.org/officeDocument/2006/relationships/font" Target="/ppt/fonts/font.dat" Id="R98de2000f2a541bd" /><Relationship Type="http://schemas.openxmlformats.org/officeDocument/2006/relationships/font" Target="/ppt/fonts/font2.dat" Id="Rd739ec4e625d4661" /><Relationship Type="http://schemas.openxmlformats.org/officeDocument/2006/relationships/font" Target="/ppt/fonts/font3.dat" Id="R51b6ce055d76442e" /><Relationship Type="http://schemas.openxmlformats.org/officeDocument/2006/relationships/font" Target="/ppt/fonts/font4.dat" Id="R3b2a0c9e5c404a8b" /><Relationship Type="http://schemas.openxmlformats.org/officeDocument/2006/relationships/font" Target="/ppt/fonts/font5.dat" Id="R86979f772082425d" /><Relationship Type="http://schemas.openxmlformats.org/officeDocument/2006/relationships/font" Target="/ppt/fonts/font6.dat" Id="Rab7858402ad84d69" /><Relationship Type="http://schemas.openxmlformats.org/officeDocument/2006/relationships/slide" Target="/ppt/slides/slide1.xml" Id="Rbe7e53f70eec4db5" /><Relationship Type="http://schemas.openxmlformats.org/officeDocument/2006/relationships/slide" Target="/ppt/slides/slide2.xml" Id="Rb5bf2c0bf9584600" /><Relationship Type="http://schemas.openxmlformats.org/officeDocument/2006/relationships/slide" Target="/ppt/slides/slide3.xml" Id="R95d2853440dd477d" /><Relationship Type="http://schemas.openxmlformats.org/officeDocument/2006/relationships/slide" Target="/ppt/slides/slide4.xml" Id="Rd12df8c9469e4173" /><Relationship Type="http://schemas.openxmlformats.org/officeDocument/2006/relationships/slide" Target="/ppt/slides/slide5.xml" Id="R7bd60165a825403d" /><Relationship Type="http://schemas.openxmlformats.org/officeDocument/2006/relationships/slide" Target="/ppt/slides/slide6.xml" Id="R3944130a15c94b07" /><Relationship Type="http://schemas.openxmlformats.org/officeDocument/2006/relationships/slide" Target="/ppt/slides/slide7.xml" Id="R2f76ed54dca744de" /><Relationship Type="http://schemas.openxmlformats.org/officeDocument/2006/relationships/slide" Target="/ppt/slides/slide8.xml" Id="R8a1ccc30c7ca4edf" /><Relationship Type="http://schemas.openxmlformats.org/officeDocument/2006/relationships/slide" Target="/ppt/slides/slide9.xml" Id="R7607773399e44c3d" /><Relationship Type="http://schemas.openxmlformats.org/officeDocument/2006/relationships/slide" Target="/ppt/slides/slide10.xml" Id="Rd8c982173ab74456" /><Relationship Type="http://schemas.openxmlformats.org/officeDocument/2006/relationships/slide" Target="/ppt/slides/slide11.xml" Id="Re4de50f995394ad2" /><Relationship Type="http://schemas.openxmlformats.org/officeDocument/2006/relationships/slide" Target="/ppt/slides/slide12.xml" Id="Rc2ecca77ecc84652" /><Relationship Type="http://schemas.openxmlformats.org/officeDocument/2006/relationships/slide" Target="/ppt/slides/slide13.xml" Id="R276094f762044e50" /><Relationship Type="http://schemas.openxmlformats.org/officeDocument/2006/relationships/slide" Target="/ppt/slides/slide14.xml" Id="Rd29f0b348cf249c0" /><Relationship Type="http://schemas.openxmlformats.org/officeDocument/2006/relationships/slide" Target="/ppt/slides/slide15.xml" Id="Rb9ba2a41a35e45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f6d4c6595f43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6aadfd198f48df" /><Relationship Type="http://schemas.openxmlformats.org/officeDocument/2006/relationships/notesMaster" Target="/ppt/notesMasters/notesMaster1.xml" Id="Rea6cc30f620f42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3707449cd24309" /><Relationship Type="http://schemas.openxmlformats.org/officeDocument/2006/relationships/notesMaster" Target="/ppt/notesMasters/notesMaster1.xml" Id="Rcae792f6ff554f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8d343bab384be1" /><Relationship Type="http://schemas.openxmlformats.org/officeDocument/2006/relationships/notesMaster" Target="/ppt/notesMasters/notesMaster1.xml" Id="R8b9fa5fda11046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7ca3c9407a4856" /><Relationship Type="http://schemas.openxmlformats.org/officeDocument/2006/relationships/notesMaster" Target="/ppt/notesMasters/notesMaster1.xml" Id="R2785b9f7fdd744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691b4eae634b91" /><Relationship Type="http://schemas.openxmlformats.org/officeDocument/2006/relationships/notesMaster" Target="/ppt/notesMasters/notesMaster1.xml" Id="R93df643cd9024c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76f8bfc15249f3" /><Relationship Type="http://schemas.openxmlformats.org/officeDocument/2006/relationships/notesMaster" Target="/ppt/notesMasters/notesMaster1.xml" Id="R116db3af2ff141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a060742712498f" /><Relationship Type="http://schemas.openxmlformats.org/officeDocument/2006/relationships/notesMaster" Target="/ppt/notesMasters/notesMaster1.xml" Id="R52c04ee3a68449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10d17043bd456c" /><Relationship Type="http://schemas.openxmlformats.org/officeDocument/2006/relationships/notesMaster" Target="/ppt/notesMasters/notesMaster1.xml" Id="R0be6388d841e4b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c678840a2c448b" /><Relationship Type="http://schemas.openxmlformats.org/officeDocument/2006/relationships/notesMaster" Target="/ppt/notesMasters/notesMaster1.xml" Id="R37cfa43204e94e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bf734145104c42" /><Relationship Type="http://schemas.openxmlformats.org/officeDocument/2006/relationships/notesMaster" Target="/ppt/notesMasters/notesMaster1.xml" Id="R6841ad328bc943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2ed7137d544496" /><Relationship Type="http://schemas.openxmlformats.org/officeDocument/2006/relationships/notesMaster" Target="/ppt/notesMasters/notesMaster1.xml" Id="Rf373f3cecf6444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e3393b760d447b" /><Relationship Type="http://schemas.openxmlformats.org/officeDocument/2006/relationships/notesMaster" Target="/ppt/notesMasters/notesMaster1.xml" Id="R2f3da56c0c1747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178c8559834fab" /><Relationship Type="http://schemas.openxmlformats.org/officeDocument/2006/relationships/notesMaster" Target="/ppt/notesMasters/notesMaster1.xml" Id="Rebecc293668d48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d3cc0b06744180" /><Relationship Type="http://schemas.openxmlformats.org/officeDocument/2006/relationships/notesMaster" Target="/ppt/notesMasters/notesMaster1.xml" Id="Re09290b79a614c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7651e644da34eb4" /><Relationship Type="http://schemas.openxmlformats.org/officeDocument/2006/relationships/notesMaster" Target="/ppt/notesMasters/notesMaster1.xml" Id="R5a4ad68a26be41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[Timing] 0:00–0:20 (20 seconds)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afternoon. InfraGuard AI is a governance-by-design framework for bounded model-assisted incident triage. The result that frames this defence is simple: all 72 benchmark outputs passed the project's required verdict-structure and parser checks, but only 29 matched the expected severity. I will show what InfraGuard changes and why that gap makes its safeguards necessary.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Abstract and Sections 5.2, 5.4.2.2–5.4.2.3, 5.4.3 and 6.3</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[Timing] 0:20–1:05 (45 seconds)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Existing monitoring already detects symptoms, but it leaves operators to assemble the judgement. Evidence is spread across logs, metrics, alerts and runbooks, while severity and action still require human interpretation. Adding a language model alone does not solve that problem because a fluent answer can be inconsistent or confidently wrong. InfraGuard therefore does not replace monitoring. It adds a governed interpretation layer that bounds the evidence, records provenance, validates the verdict and keeps disruptive action under operator control.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1.1, 1.2–1.2.1, 2.4.5 and 6.2</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[Timing] 1:05–2:00 (55 seconds)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workflow begins with selected telemetry from Loki, Prometheus, HTTP checks, Docker and CrowdSec. InfraGuard retrieves bounded runbook context from the local store, combines it with the telemetry and sends that evidence to the configured model. The response is forced into a structured verdict and validated before it reaches the operator. The operator reviews the verdict and decides what action, if any, to take. Notifications are allowed, but a CrowdSec ban requires explicit approval. Acknowledgement only masks qualifying rows in the default dashboard view; it does not stop inference, model calls or verdict storage.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3.3.2–3.3.6, 3.4.3–3.4.6 and 4.2.5–4.2.8</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[Timing] 2:00–2:50 (50 seconds)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primary contribution is the governance-by-design reference framework: bounded context, visible provenance, structured validation, operator approval and severity-aware visibility are designed into one incident-triage workflow. Its distinctive implemented construct is the fingerprint. It binds the condition signature to prompt version and model, so a changed reasoning context forces fresh review. Matching low-risk rows may be masked, but records and calls continue and high or critical findings remain visible. The claim is deliberately scoped: this combination is the contribution, while universal novelty is not claimed. Signature instability and same-model circularity remain limitations.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1.2.1, 2.2.4, 2.4.5, 3.4.5, 4.2.5, 5.3, 5.6.2 and 6.3</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[Timing] 2:50–3:30 (40 seconds)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evaluation keeps unlike claims separate. Software verification used 148 automated tests and line coverage. Model behaviour used a frozen qwen2.5:3b benchmark: 24 fixtures repeated three times, producing 72 responses. Retrieval was checked separately with 12 labelled questions. The first human stream used two exploratory assessor-role reports. The separate SUS study used ten complete convenience-sample responses; they are not the same cohort or instrument. These streams do not constitute a live operational field evaluation or prove real-world diagnostic effectiveness.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3.1.1, 3.1.4–3.1.7, 5.1, 5.4.2–5.4.3 and 5.6</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[Timing] 3:30–4:20 (50 seconds)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Controlled software verification was strong. The recorded 28 August run passed 148 tests with 87 percent statement coverage across 1,516 statements, and five reviewer-targeted modules reached 100 percent. For each of 12 labelled questions, at least one frozen relevant runbook appeared in the top four. The exploratory two-assessor means were higher with RAG in the frozen study. All 72 outputs passed required verdict-structure and parser checks; this was not a full JSON-Schema validation. The descriptive SUS mean was 79.25 from ten complete convenience-sample responses. These findings do not prove diagnostic or production effectiveness.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5.2–5.2.1, 5.4.2.2–5.4.2.3, 5.4.3 and 5.6.1; Appendices D–E</a:t>
            </a:r>
            <a:endParaRPr/>
          </a:p>
          <a:p xmlns:a="http://schemas.openxmlformats.org/drawingml/2006/main">
            <a:pPr marL="0" lvl="0" indent="0" algn="l">
              <a:lnSpc>
                <a:spcPct val="100000"/>
              </a:lnSpc>
              <a:spcBef>
                <a:spcPts val="0"/>
              </a:spcBef>
              <a:spcAft>
                <a:spcPts val="0"/>
              </a:spcAft>
              <a:buSzPts val="1100"/>
              <a:buNone/>
            </a:pPr>
            <a:r>
              <a:t>- Repository verification records cited in the manuscript's evaluation chapter</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[Timing] 4:20–5:20 (60 seconds)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For the tested qwen2.5:3b configuration, all 72 outputs passed the project's required verdict-structure and parser checks, but exact severity accuracy was only 40.3 percent—29 of 72—and macro-F1 was 0.383. Six gold-high responses were under-called as warning across two scenarios repeated three times. Only 10 of 24 scenarios produced one identical signature across all three repeats. These results show exactly where the artefact's value must be bounded. Parser checks protect expected form, not calibration. Human review, visible severity and controlled action are therefore mandatory design requirements.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5.4.2.2, 5.6.1–5.6.3 and 6.2–6.3; Tables 5.5–5.6; Appendix E</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[Timing] 5:20–6:00 (40 seconds)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InfraGuard demonstrates an inspectable, operator-controlled reference framework in the evaluated artefact. It combines telemetry and runbooks with visible provenance, structured validation, explicit approval before a CrowdSec ban and a fingerprinted acknowledgement mechanism that preserves high-severity visibility. The evaluation does not establish autonomous diagnosis, real-world workload or alert-fatigue reduction, production effectiveness, population usability or cross-model/provider equivalence. Next steps are telemetry-derived signatures, comparative models, live-workload field evaluation, larger independent panels and task-instrumented usability. InfraGuard's contribution is not autonomous diagnosis; it shows how model-assisted triage can be made inspectable, evidence-bounded and operator-controlled—and why those safeguards are necessary.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5.6.2–5.6.3 and 6.2–6.4</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Theoretical foundations are Design Science, organisational AI governance, trustworthy AI and appropriate reliance. Observability, SRE, AIOps and RAG are domain concepts; bounded context, provenance, validation, acknowledgement and approval are design constructs.</a:t>
            </a:r>
            <a:endParaRPr/>
          </a:p>
          <a:p xmlns:a="http://schemas.openxmlformats.org/drawingml/2006/main">
            <a:pPr marL="0" lvl="0" indent="0" algn="l">
              <a:lnSpc>
                <a:spcPct val="100000"/>
              </a:lnSpc>
              <a:spcBef>
                <a:spcPts val="0"/>
              </a:spcBef>
              <a:spcAft>
                <a:spcPts val="0"/>
              </a:spcAft>
              <a:buSzPts val="1100"/>
              <a:buNone/>
            </a:pPr>
            <a:r>
              <a:t>Alert fatigue is a motivation, not a measured outcome in this study.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2.1.6 to 2.1.8 and 2.4.5</a:t>
            </a:r>
            <a:endParaRPr/>
          </a:p>
          <a:p xmlns:a="http://schemas.openxmlformats.org/drawingml/2006/main">
            <a:pPr marL="0" lvl="0" indent="0" algn="l">
              <a:lnSpc>
                <a:spcPct val="100000"/>
              </a:lnSpc>
              <a:spcBef>
                <a:spcPts val="0"/>
              </a:spcBef>
              <a:spcAft>
                <a:spcPts val="0"/>
              </a:spcAft>
              <a:buSzPts val="1100"/>
              <a:buNone/>
            </a:pPr>
            <a:r>
              <a:t>- Mäntymäki et al. (2022); Morley et al. (2020); NIST (2023, 2024); Raji et al. (2020); Lee and See (2004)</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Use the questions as traceability controls, not as an inventory to read verbatim.</a:t>
            </a:r>
            <a:endParaRPr/>
          </a:p>
          <a:p xmlns:a="http://schemas.openxmlformats.org/drawingml/2006/main">
            <a:pPr marL="0" lvl="0" indent="0" algn="l">
              <a:lnSpc>
                <a:spcPct val="100000"/>
              </a:lnSpc>
              <a:spcBef>
                <a:spcPts val="0"/>
              </a:spcBef>
              <a:spcAft>
                <a:spcPts val="0"/>
              </a:spcAft>
              <a:buSzPts val="1100"/>
              <a:buNone/>
            </a:pPr>
            <a:r>
              <a:t>RQ4 is split so software/model evidence, descriptive usability and unresolved effectiveness claims are not collapsed into one answer.</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1.3.1 to 1.3.3, Table 3.1 and Section 6.2.1</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 16 August values are the historical baseline; the 18 August event includes the retained 81-test regression and frozen benchmark; the 28 August rerun supersedes the supervisor's earlier 27 August software snapshot.</a:t>
            </a:r>
            <a:endParaRPr/>
          </a:p>
          <a:p xmlns:a="http://schemas.openxmlformats.org/drawingml/2006/main">
            <a:pPr marL="0" lvl="0" indent="0" algn="l">
              <a:lnSpc>
                <a:spcPct val="100000"/>
              </a:lnSpc>
              <a:spcBef>
                <a:spcPts val="0"/>
              </a:spcBef>
              <a:spcAft>
                <a:spcPts val="0"/>
              </a:spcAft>
              <a:buSzPts val="1100"/>
              <a:buNone/>
            </a:pPr>
            <a:r>
              <a:t>Model roles differ: gemini-3.6-flash is the source-code default, DeepSeek V4 Flash was used in the observed pilot, and qwen2.5:3b was used in the controlled benchmark. Interface portability is not cross-provider equivalence.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4.1.1, 5.2.1, 5.4.2.1, 5.4.3, Table 5.1 and Appendix E</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 final 28 August run reported 148 passed, zero failed, 1,516 statements, 201 missed and 23 dependency warnings.</a:t>
            </a:r>
            <a:endParaRPr/>
          </a:p>
          <a:p xmlns:a="http://schemas.openxmlformats.org/drawingml/2006/main">
            <a:pPr marL="0" lvl="0" indent="0" algn="l">
              <a:lnSpc>
                <a:spcPct val="100000"/>
              </a:lnSpc>
              <a:spcBef>
                <a:spcPts val="0"/>
              </a:spcBef>
              <a:spcAft>
                <a:spcPts val="0"/>
              </a:spcAft>
              <a:buSzPts val="1100"/>
              <a:buNone/>
            </a:pPr>
            <a:r>
              <a:t>Coverage closes the supervisor-identified line-coverage gap; it does not prove assertion adequacy or live integration behaviour.</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5.2 and 5.2.1, Table 5.1 and Figure 5.1</a:t>
            </a:r>
            <a:endParaRPr/>
          </a:p>
          <a:p xmlns:a="http://schemas.openxmlformats.org/drawingml/2006/main">
            <a:pPr marL="0" lvl="0" indent="0" algn="l">
              <a:lnSpc>
                <a:spcPct val="100000"/>
              </a:lnSpc>
              <a:spcBef>
                <a:spcPts val="0"/>
              </a:spcBef>
              <a:spcAft>
                <a:spcPts val="0"/>
              </a:spcAft>
              <a:buSzPts val="1100"/>
              <a:buNone/>
            </a:pPr>
            <a:r>
              <a:t>- Final remediation test and coverage reports retained in the project evidence package</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Keep retrieval reachability separate from generated-answer quality.</a:t>
            </a:r>
            <a:endParaRPr/>
          </a:p>
          <a:p xmlns:a="http://schemas.openxmlformats.org/drawingml/2006/main">
            <a:pPr marL="0" lvl="0" indent="0" algn="l">
              <a:lnSpc>
                <a:spcPct val="100000"/>
              </a:lnSpc>
              <a:spcBef>
                <a:spcPts val="0"/>
              </a:spcBef>
              <a:spcAft>
                <a:spcPts val="0"/>
              </a:spcAft>
              <a:buSzPts val="1100"/>
              <a:buNone/>
            </a:pPr>
            <a:r>
              <a:t>The no-RAG zero grounding score reflects absent source-document traceability under the rubric, not automatic factual incorrectness or causal proof that RAG improved diagnosis.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5.4.2.4 to 5.4.2.6 and Tables 5.7–5.9</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SUS was chosen as a brief, technology-agnostic global perceived-usability measure.</a:t>
            </a:r>
            <a:endParaRPr/>
          </a:p>
          <a:p xmlns:a="http://schemas.openxmlformats.org/drawingml/2006/main">
            <a:pPr marL="0" lvl="0" indent="0" algn="l">
              <a:lnSpc>
                <a:spcPct val="100000"/>
              </a:lnSpc>
              <a:spcBef>
                <a:spcPts val="0"/>
              </a:spcBef>
              <a:spcAft>
                <a:spcPts val="0"/>
              </a:spcAft>
              <a:buSzPts val="1100"/>
              <a:buNone/>
            </a:pPr>
            <a:r>
              <a:t>The study retained no task timing, error, assistance or free-text records, so it cannot support task-performance claims.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Sections 3.1.7, 5.4.3 and 5.6.1; Table 5.11; Appendix D</a:t>
            </a:r>
            <a:endParaRPr/>
          </a:p>
          <a:p xmlns:a="http://schemas.openxmlformats.org/drawingml/2006/main">
            <a:pPr marL="0" lvl="0" indent="0" algn="l">
              <a:lnSpc>
                <a:spcPct val="100000"/>
              </a:lnSpc>
              <a:spcBef>
                <a:spcPts val="0"/>
              </a:spcBef>
              <a:spcAft>
                <a:spcPts val="0"/>
              </a:spcAft>
              <a:buSzPts val="1100"/>
              <a:buNone/>
            </a:pPr>
            <a:r>
              <a:t>- Brooke (1996); Bangor et al. (2008)</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These selected recent references support the governance and evaluation framing. The full alphabetised 51-entry bibliography, including foundational Design Science and human-factors sources, appears in the manuscript.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a:t>
            </a:r>
            <a:endParaRPr/>
          </a:p>
          <a:p xmlns:a="http://schemas.openxmlformats.org/drawingml/2006/main">
            <a:pPr marL="0" lvl="0" indent="0" algn="l">
              <a:lnSpc>
                <a:spcPct val="100000"/>
              </a:lnSpc>
              <a:spcBef>
                <a:spcPts val="0"/>
              </a:spcBef>
              <a:spcAft>
                <a:spcPts val="0"/>
              </a:spcAft>
              <a:buSzPts val="1100"/>
              <a:buNone/>
            </a:pPr>
            <a:r>
              <a:t>- InfraGuard_AI_Masters_Project_REVISED_AFTER_28_AUGUST_REVIEW.docx, References</a:t>
            </a:r>
            <a:endParaRPr/>
          </a:p>
          <a:p xmlns:a="http://schemas.openxmlformats.org/drawingml/2006/main">
            <a:pPr marL="0" lvl="0" indent="0" algn="l">
              <a:lnSpc>
                <a:spcPct val="100000"/>
              </a:lnSpc>
              <a:spcBef>
                <a:spcPts val="0"/>
              </a:spcBef>
              <a:spcAft>
                <a:spcPts val="0"/>
              </a:spcAft>
              <a:buSzPts val="1100"/>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748c39665f4f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6aa29c645647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e06c088d0c41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5ae615ebb340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7c7f853b3e42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d7523b697c488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2ee2f5df48443e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f3815c6af374ed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2a50cc619549b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35119dd4c08459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9ca87d7442a446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2">
            <a:extLst xmlns:a="http://schemas.openxmlformats.org/drawingml/2006/main">
              <a:ext uri="{FF2B5EF4-FFF2-40B4-BE49-F238E27FC236}">
                <a16:creationId xmlns:a16="http://schemas.microsoft.com/office/drawing/2014/main" id="{2AEB7C89-C8E0-4622-9430-6A9EA6D8227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22">
            <a:extLst xmlns:a="http://schemas.openxmlformats.org/drawingml/2006/main">
              <a:ext uri="{FF2B5EF4-FFF2-40B4-BE49-F238E27FC236}">
                <a16:creationId xmlns:a16="http://schemas.microsoft.com/office/drawing/2014/main" id="{69ABCC32-9FA5-4F61-8EB1-48A407B987D1}"/>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22">
            <a:extLst xmlns:a="http://schemas.openxmlformats.org/drawingml/2006/main">
              <a:ext uri="{FF2B5EF4-FFF2-40B4-BE49-F238E27FC236}">
                <a16:creationId xmlns:a16="http://schemas.microsoft.com/office/drawing/2014/main" id="{6D291505-2D88-4CC8-8C2D-905644CEB44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4" name="Google Shape;14;p23">
            <a:extLst xmlns:a="http://schemas.openxmlformats.org/drawingml/2006/main">
              <a:ext uri="{FF2B5EF4-FFF2-40B4-BE49-F238E27FC236}">
                <a16:creationId xmlns:a16="http://schemas.microsoft.com/office/drawing/2014/main" id="{121E9B3F-CA35-4E56-98B7-536E1078038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15" name="Google Shape;15;p23">
            <a:extLst xmlns:a="http://schemas.openxmlformats.org/drawingml/2006/main">
              <a:ext uri="{FF2B5EF4-FFF2-40B4-BE49-F238E27FC236}">
                <a16:creationId xmlns:a16="http://schemas.microsoft.com/office/drawing/2014/main" id="{E82CE9B8-87FD-4D48-B1C4-33410D66B44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a:endParaRPr/>
          </a:p>
        </p:txBody>
      </p:sp>
      <p:sp>
        <p:nvSpPr>
          <p:cNvPr id="16" name="Google Shape;16;p23">
            <a:extLst xmlns:a="http://schemas.openxmlformats.org/drawingml/2006/main">
              <a:ext uri="{FF2B5EF4-FFF2-40B4-BE49-F238E27FC236}">
                <a16:creationId xmlns:a16="http://schemas.microsoft.com/office/drawing/2014/main" id="{FBB0792B-D125-4250-A02E-A1EC57D1C18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8" name="Google Shape;18;p24">
            <a:extLst xmlns:a="http://schemas.openxmlformats.org/drawingml/2006/main">
              <a:ext uri="{FF2B5EF4-FFF2-40B4-BE49-F238E27FC236}">
                <a16:creationId xmlns:a16="http://schemas.microsoft.com/office/drawing/2014/main" id="{A2EC30C7-62A3-4A85-89AC-8BB1165D40BC}"/>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9" name="Google Shape;19;p24">
            <a:extLst xmlns:a="http://schemas.openxmlformats.org/drawingml/2006/main">
              <a:ext uri="{FF2B5EF4-FFF2-40B4-BE49-F238E27FC236}">
                <a16:creationId xmlns:a16="http://schemas.microsoft.com/office/drawing/2014/main" id="{70987D93-6C55-4937-B29E-3C8C274CE53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25">
            <a:extLst xmlns:a="http://schemas.openxmlformats.org/drawingml/2006/main">
              <a:ext uri="{FF2B5EF4-FFF2-40B4-BE49-F238E27FC236}">
                <a16:creationId xmlns:a16="http://schemas.microsoft.com/office/drawing/2014/main" id="{0BB4B537-04F6-4A86-B674-8A646209164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25">
            <a:extLst xmlns:a="http://schemas.openxmlformats.org/drawingml/2006/main">
              <a:ext uri="{FF2B5EF4-FFF2-40B4-BE49-F238E27FC236}">
                <a16:creationId xmlns:a16="http://schemas.microsoft.com/office/drawing/2014/main" id="{CBFC46D2-8591-4926-ADF3-817D5B302A5F}"/>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a:endParaRPr/>
          </a:p>
        </p:txBody>
      </p:sp>
      <p:sp>
        <p:nvSpPr>
          <p:cNvPr id="23" name="Google Shape;23;p25">
            <a:extLst xmlns:a="http://schemas.openxmlformats.org/drawingml/2006/main">
              <a:ext uri="{FF2B5EF4-FFF2-40B4-BE49-F238E27FC236}">
                <a16:creationId xmlns:a16="http://schemas.microsoft.com/office/drawing/2014/main" id="{57BE952D-56E6-44F7-904F-CA1E9B0057D6}"/>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a:endParaRPr/>
          </a:p>
        </p:txBody>
      </p:sp>
      <p:sp>
        <p:nvSpPr>
          <p:cNvPr id="24" name="Google Shape;24;p25">
            <a:extLst xmlns:a="http://schemas.openxmlformats.org/drawingml/2006/main">
              <a:ext uri="{FF2B5EF4-FFF2-40B4-BE49-F238E27FC236}">
                <a16:creationId xmlns:a16="http://schemas.microsoft.com/office/drawing/2014/main" id="{0AAC1DB6-23C8-4A86-BF2B-73D887BC374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26">
            <a:extLst xmlns:a="http://schemas.openxmlformats.org/drawingml/2006/main">
              <a:ext uri="{FF2B5EF4-FFF2-40B4-BE49-F238E27FC236}">
                <a16:creationId xmlns:a16="http://schemas.microsoft.com/office/drawing/2014/main" id="{BB433B75-7181-4D9E-9B94-831130D245D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7" name="Google Shape;27;p26">
            <a:extLst xmlns:a="http://schemas.openxmlformats.org/drawingml/2006/main">
              <a:ext uri="{FF2B5EF4-FFF2-40B4-BE49-F238E27FC236}">
                <a16:creationId xmlns:a16="http://schemas.microsoft.com/office/drawing/2014/main" id="{EAE46275-300F-4153-B3AC-86F09351E72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27">
            <a:extLst xmlns:a="http://schemas.openxmlformats.org/drawingml/2006/main">
              <a:ext uri="{FF2B5EF4-FFF2-40B4-BE49-F238E27FC236}">
                <a16:creationId xmlns:a16="http://schemas.microsoft.com/office/drawing/2014/main" id="{C4F79727-778C-497C-AE1A-CDB2489D2FE8}"/>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7">
            <a:extLst xmlns:a="http://schemas.openxmlformats.org/drawingml/2006/main">
              <a:ext uri="{FF2B5EF4-FFF2-40B4-BE49-F238E27FC236}">
                <a16:creationId xmlns:a16="http://schemas.microsoft.com/office/drawing/2014/main" id="{E8BBB23D-D730-4580-8988-28D4D1F4F6A5}"/>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a:endParaRPr/>
          </a:p>
        </p:txBody>
      </p:sp>
      <p:sp>
        <p:nvSpPr>
          <p:cNvPr id="31" name="Google Shape;31;p27">
            <a:extLst xmlns:a="http://schemas.openxmlformats.org/drawingml/2006/main">
              <a:ext uri="{FF2B5EF4-FFF2-40B4-BE49-F238E27FC236}">
                <a16:creationId xmlns:a16="http://schemas.microsoft.com/office/drawing/2014/main" id="{0720EB0A-D853-4E63-B8CD-BCC6605673B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28">
            <a:extLst xmlns:a="http://schemas.openxmlformats.org/drawingml/2006/main">
              <a:ext uri="{FF2B5EF4-FFF2-40B4-BE49-F238E27FC236}">
                <a16:creationId xmlns:a16="http://schemas.microsoft.com/office/drawing/2014/main" id="{E0153E35-488E-410A-AB00-F2F84E96826E}"/>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34" name="Google Shape;34;p28">
            <a:extLst xmlns:a="http://schemas.openxmlformats.org/drawingml/2006/main">
              <a:ext uri="{FF2B5EF4-FFF2-40B4-BE49-F238E27FC236}">
                <a16:creationId xmlns:a16="http://schemas.microsoft.com/office/drawing/2014/main" id="{68831EEE-7887-4437-9631-AD12E6725F2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29">
            <a:extLst xmlns:a="http://schemas.openxmlformats.org/drawingml/2006/main">
              <a:ext uri="{FF2B5EF4-FFF2-40B4-BE49-F238E27FC236}">
                <a16:creationId xmlns:a16="http://schemas.microsoft.com/office/drawing/2014/main" id="{3FE0ECEC-51E4-4476-B3DA-6224A9BBAD26}"/>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7" name="Google Shape;37;p29">
            <a:extLst xmlns:a="http://schemas.openxmlformats.org/drawingml/2006/main">
              <a:ext uri="{FF2B5EF4-FFF2-40B4-BE49-F238E27FC236}">
                <a16:creationId xmlns:a16="http://schemas.microsoft.com/office/drawing/2014/main" id="{57906E32-71D9-4460-A9E5-47AEA4132DCD}"/>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38" name="Google Shape;38;p29">
            <a:extLst xmlns:a="http://schemas.openxmlformats.org/drawingml/2006/main">
              <a:ext uri="{FF2B5EF4-FFF2-40B4-BE49-F238E27FC236}">
                <a16:creationId xmlns:a16="http://schemas.microsoft.com/office/drawing/2014/main" id="{520D5C1F-98AF-4B45-8E61-854D010926F7}"/>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39" name="Google Shape;39;p29">
            <a:extLst xmlns:a="http://schemas.openxmlformats.org/drawingml/2006/main">
              <a:ext uri="{FF2B5EF4-FFF2-40B4-BE49-F238E27FC236}">
                <a16:creationId xmlns:a16="http://schemas.microsoft.com/office/drawing/2014/main" id="{A75F84D2-3781-4C55-A8D3-8BAC58DF49B2}"/>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a:endParaRPr/>
          </a:p>
        </p:txBody>
      </p:sp>
      <p:sp>
        <p:nvSpPr>
          <p:cNvPr id="40" name="Google Shape;40;p29">
            <a:extLst xmlns:a="http://schemas.openxmlformats.org/drawingml/2006/main">
              <a:ext uri="{FF2B5EF4-FFF2-40B4-BE49-F238E27FC236}">
                <a16:creationId xmlns:a16="http://schemas.microsoft.com/office/drawing/2014/main" id="{E6F03898-AA2F-4D74-9E80-13C60C6BDE3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30">
            <a:extLst xmlns:a="http://schemas.openxmlformats.org/drawingml/2006/main">
              <a:ext uri="{FF2B5EF4-FFF2-40B4-BE49-F238E27FC236}">
                <a16:creationId xmlns:a16="http://schemas.microsoft.com/office/drawing/2014/main" id="{901FDE27-8C32-4A0B-81EF-893B9D954105}"/>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a:endParaRPr/>
          </a:p>
        </p:txBody>
      </p:sp>
      <p:sp>
        <p:nvSpPr>
          <p:cNvPr id="43" name="Google Shape;43;p30">
            <a:extLst xmlns:a="http://schemas.openxmlformats.org/drawingml/2006/main">
              <a:ext uri="{FF2B5EF4-FFF2-40B4-BE49-F238E27FC236}">
                <a16:creationId xmlns:a16="http://schemas.microsoft.com/office/drawing/2014/main" id="{F921355E-7AD6-4DAE-9AA0-911AA1ECB83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31">
            <a:extLst xmlns:a="http://schemas.openxmlformats.org/drawingml/2006/main">
              <a:ext uri="{FF2B5EF4-FFF2-40B4-BE49-F238E27FC236}">
                <a16:creationId xmlns:a16="http://schemas.microsoft.com/office/drawing/2014/main" id="{2271FA6F-FF45-4CAB-9367-843E41293A27}"/>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46" name="Google Shape;46;p31">
            <a:extLst xmlns:a="http://schemas.openxmlformats.org/drawingml/2006/main">
              <a:ext uri="{FF2B5EF4-FFF2-40B4-BE49-F238E27FC236}">
                <a16:creationId xmlns:a16="http://schemas.microsoft.com/office/drawing/2014/main" id="{7066A19C-720C-4F49-B349-F671D3E21E3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a:endParaRPr/>
          </a:p>
        </p:txBody>
      </p:sp>
      <p:sp>
        <p:nvSpPr>
          <p:cNvPr id="47" name="Google Shape;47;p31">
            <a:extLst xmlns:a="http://schemas.openxmlformats.org/drawingml/2006/main">
              <a:ext uri="{FF2B5EF4-FFF2-40B4-BE49-F238E27FC236}">
                <a16:creationId xmlns:a16="http://schemas.microsoft.com/office/drawing/2014/main" id="{DF5CDBCB-05DC-4ACC-8719-02D683832D2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32">
            <a:extLst xmlns:a="http://schemas.openxmlformats.org/drawingml/2006/main">
              <a:ext uri="{FF2B5EF4-FFF2-40B4-BE49-F238E27FC236}">
                <a16:creationId xmlns:a16="http://schemas.microsoft.com/office/drawing/2014/main" id="{16560358-EB1B-44A2-9CB6-303CC7ECCAA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2008e8f26f48f0" /><Relationship Type="http://schemas.openxmlformats.org/officeDocument/2006/relationships/slideLayout" Target="/ppt/slideLayouts/slideLayout1.xml" Id="Rf0615571adff4274" /><Relationship Type="http://schemas.openxmlformats.org/officeDocument/2006/relationships/slideLayout" Target="/ppt/slideLayouts/slideLayout2.xml" Id="R67d6dd8ee5ff4070" /><Relationship Type="http://schemas.openxmlformats.org/officeDocument/2006/relationships/slideLayout" Target="/ppt/slideLayouts/slideLayout3.xml" Id="R440b4db220d84f77" /><Relationship Type="http://schemas.openxmlformats.org/officeDocument/2006/relationships/slideLayout" Target="/ppt/slideLayouts/slideLayout4.xml" Id="R259f417211954ccd" /><Relationship Type="http://schemas.openxmlformats.org/officeDocument/2006/relationships/slideLayout" Target="/ppt/slideLayouts/slideLayout5.xml" Id="Rfa8870bbeac14e67" /><Relationship Type="http://schemas.openxmlformats.org/officeDocument/2006/relationships/slideLayout" Target="/ppt/slideLayouts/slideLayout6.xml" Id="R7e1c833860ee4608" /><Relationship Type="http://schemas.openxmlformats.org/officeDocument/2006/relationships/slideLayout" Target="/ppt/slideLayouts/slideLayout7.xml" Id="R3fa683ef563d4e31" /><Relationship Type="http://schemas.openxmlformats.org/officeDocument/2006/relationships/slideLayout" Target="/ppt/slideLayouts/slideLayout8.xml" Id="R1e2c76d62380461f" /><Relationship Type="http://schemas.openxmlformats.org/officeDocument/2006/relationships/slideLayout" Target="/ppt/slideLayouts/slideLayout9.xml" Id="Ra1b7c378f69b4e47" /><Relationship Type="http://schemas.openxmlformats.org/officeDocument/2006/relationships/slideLayout" Target="/ppt/slideLayouts/slideLayout10.xml" Id="R1721593553fe42fb" /><Relationship Type="http://schemas.openxmlformats.org/officeDocument/2006/relationships/slideLayout" Target="/ppt/slideLayouts/slideLayout11.xml" Id="Rdc2351820c474e04"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21">
            <a:extLst xmlns:a="http://schemas.openxmlformats.org/drawingml/2006/main">
              <a:ext uri="{FF2B5EF4-FFF2-40B4-BE49-F238E27FC236}">
                <a16:creationId xmlns:a16="http://schemas.microsoft.com/office/drawing/2014/main" id="{4BE0C86A-C051-4EC6-98A4-96C1E988D14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9pPr>
          </a:lstStyle>
          <a:p xmlns:a="http://schemas.openxmlformats.org/drawingml/2006/main">
            <a:endParaRPr/>
          </a:p>
        </p:txBody>
      </p:sp>
      <p:sp>
        <p:nvSpPr>
          <p:cNvPr id="7" name="Google Shape;7;p21">
            <a:extLst xmlns:a="http://schemas.openxmlformats.org/drawingml/2006/main">
              <a:ext uri="{FF2B5EF4-FFF2-40B4-BE49-F238E27FC236}">
                <a16:creationId xmlns:a16="http://schemas.microsoft.com/office/drawing/2014/main" id="{2D80BC4F-B183-41D4-8C71-DABAA002243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xmlns:a="http://schemas.openxmlformats.org/drawingml/2006/main">
            <a:endParaRPr/>
          </a:p>
        </p:txBody>
      </p:sp>
      <p:sp>
        <p:nvSpPr>
          <p:cNvPr id="8" name="Google Shape;8;p21">
            <a:extLst xmlns:a="http://schemas.openxmlformats.org/drawingml/2006/main">
              <a:ext uri="{FF2B5EF4-FFF2-40B4-BE49-F238E27FC236}">
                <a16:creationId xmlns:a16="http://schemas.microsoft.com/office/drawing/2014/main" id="{F05F1DD6-A414-41A8-82E6-7D1F84670A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0615571adff4274"/>
    <p:sldLayoutId xmlns:r="http://schemas.openxmlformats.org/officeDocument/2006/relationships" id="2147483650" r:id="R67d6dd8ee5ff4070"/>
    <p:sldLayoutId xmlns:r="http://schemas.openxmlformats.org/officeDocument/2006/relationships" id="2147483651" r:id="R440b4db220d84f77"/>
    <p:sldLayoutId xmlns:r="http://schemas.openxmlformats.org/officeDocument/2006/relationships" id="2147483652" r:id="R259f417211954ccd"/>
    <p:sldLayoutId xmlns:r="http://schemas.openxmlformats.org/officeDocument/2006/relationships" id="2147483653" r:id="Rfa8870bbeac14e67"/>
    <p:sldLayoutId xmlns:r="http://schemas.openxmlformats.org/officeDocument/2006/relationships" id="2147483654" r:id="R7e1c833860ee4608"/>
    <p:sldLayoutId xmlns:r="http://schemas.openxmlformats.org/officeDocument/2006/relationships" id="2147483655" r:id="R3fa683ef563d4e31"/>
    <p:sldLayoutId xmlns:r="http://schemas.openxmlformats.org/officeDocument/2006/relationships" id="2147483656" r:id="R1e2c76d62380461f"/>
    <p:sldLayoutId xmlns:r="http://schemas.openxmlformats.org/officeDocument/2006/relationships" id="2147483657" r:id="Ra1b7c378f69b4e47"/>
    <p:sldLayoutId xmlns:r="http://schemas.openxmlformats.org/officeDocument/2006/relationships" id="2147483658" r:id="R1721593553fe42fb"/>
    <p:sldLayoutId xmlns:r="http://schemas.openxmlformats.org/officeDocument/2006/relationships" id="2147483659" r:id="Rdc2351820c474e0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1bbe46e9d94ce7" /><Relationship Type="http://schemas.openxmlformats.org/officeDocument/2006/relationships/image" Target="/ppt/media/image.png" Id="R369ef6b1051e4135" /><Relationship Type="http://schemas.openxmlformats.org/officeDocument/2006/relationships/notesSlide" Target="/ppt/notesSlides/notesSlide1.xml" Id="Re67e9baeb65b48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0238486a344acb" /><Relationship Type="http://schemas.openxmlformats.org/officeDocument/2006/relationships/image" Target="/ppt/media/image2.png" Id="R7c0db5176e7f40fa" /><Relationship Type="http://schemas.openxmlformats.org/officeDocument/2006/relationships/image" Target="/ppt/media/image3.png" Id="R0c52076cf36948d6" /><Relationship Type="http://schemas.openxmlformats.org/officeDocument/2006/relationships/notesSlide" Target="/ppt/notesSlides/notesSlide2.xml" Id="R6d814947c4864b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9327cb88b9428e" /><Relationship Type="http://schemas.openxmlformats.org/officeDocument/2006/relationships/image" Target="/ppt/media/image2.png" Id="R6918639633d44be0" /><Relationship Type="http://schemas.openxmlformats.org/officeDocument/2006/relationships/image" Target="/ppt/media/image3.png" Id="R9992bf3f803648d9" /><Relationship Type="http://schemas.openxmlformats.org/officeDocument/2006/relationships/notesSlide" Target="/ppt/notesSlides/notesSlide3.xml" Id="Rcaaae6d51ccc42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f1ed47a77e4382" /><Relationship Type="http://schemas.openxmlformats.org/officeDocument/2006/relationships/image" Target="/ppt/media/image3.png" Id="R67a453566d784968" /><Relationship Type="http://schemas.openxmlformats.org/officeDocument/2006/relationships/notesSlide" Target="/ppt/notesSlides/notesSlide4.xml" Id="R3c1d00ebe2a547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b62419fe71544ed" /><Relationship Type="http://schemas.openxmlformats.org/officeDocument/2006/relationships/image" Target="/ppt/media/image.png" Id="R61f756ee2db0457e" /><Relationship Type="http://schemas.openxmlformats.org/officeDocument/2006/relationships/notesSlide" Target="/ppt/notesSlides/notesSlide5.xml" Id="R9a8160be1c8144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25afb847f84773" /><Relationship Type="http://schemas.openxmlformats.org/officeDocument/2006/relationships/image" Target="/ppt/media/image3.png" Id="R7f2e17eac2bb41be" /><Relationship Type="http://schemas.openxmlformats.org/officeDocument/2006/relationships/notesSlide" Target="/ppt/notesSlides/notesSlide6.xml" Id="R826c2d9d60a841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e772dfe3e940ee" /><Relationship Type="http://schemas.openxmlformats.org/officeDocument/2006/relationships/image" Target="/ppt/media/image3.png" Id="R22af8a33bf0a4a10" /><Relationship Type="http://schemas.openxmlformats.org/officeDocument/2006/relationships/notesSlide" Target="/ppt/notesSlides/notesSlide7.xml" Id="Rd30a1084be8344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3971ae76204e16" /><Relationship Type="http://schemas.openxmlformats.org/officeDocument/2006/relationships/image" Target="/ppt/media/image3.png" Id="R974861937e684d9d" /><Relationship Type="http://schemas.openxmlformats.org/officeDocument/2006/relationships/notesSlide" Target="/ppt/notesSlides/notesSlide8.xml" Id="R14409f57503849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7064f59a8bb4bd5" /><Relationship Type="http://schemas.openxmlformats.org/officeDocument/2006/relationships/image" Target="/ppt/media/image3.png" Id="R94d1f87863d84029" /><Relationship Type="http://schemas.openxmlformats.org/officeDocument/2006/relationships/notesSlide" Target="/ppt/notesSlides/notesSlide9.xml" Id="R4aafa654274147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8c9ad1e3a4f435d" /><Relationship Type="http://schemas.openxmlformats.org/officeDocument/2006/relationships/image" Target="/ppt/media/image.png" Id="Rf55c2f8cddfb4ce1" /><Relationship Type="http://schemas.openxmlformats.org/officeDocument/2006/relationships/notesSlide" Target="/ppt/notesSlides/notesSlide10.xml" Id="R17f368d6f15f4b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e80d74a16e14365" /><Relationship Type="http://schemas.openxmlformats.org/officeDocument/2006/relationships/image" Target="/ppt/media/image.png" Id="R4d69e8a999c245fe" /><Relationship Type="http://schemas.openxmlformats.org/officeDocument/2006/relationships/notesSlide" Target="/ppt/notesSlides/notesSlide11.xml" Id="R986cfc120be344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eb5e0952a384c15" /><Relationship Type="http://schemas.openxmlformats.org/officeDocument/2006/relationships/image" Target="/ppt/media/image.png" Id="Rda8b958e72d94cf1" /><Relationship Type="http://schemas.openxmlformats.org/officeDocument/2006/relationships/notesSlide" Target="/ppt/notesSlides/notesSlide12.xml" Id="R088d066c251c4d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c8b0bec188f438c" /><Relationship Type="http://schemas.openxmlformats.org/officeDocument/2006/relationships/image" Target="/ppt/media/image.png" Id="R3162140166224c8e" /><Relationship Type="http://schemas.openxmlformats.org/officeDocument/2006/relationships/notesSlide" Target="/ppt/notesSlides/notesSlide13.xml" Id="R61655a1976d24c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385e4af50ec42bc" /><Relationship Type="http://schemas.openxmlformats.org/officeDocument/2006/relationships/image" Target="/ppt/media/image.png" Id="R6a4030a80990411d" /><Relationship Type="http://schemas.openxmlformats.org/officeDocument/2006/relationships/notesSlide" Target="/ppt/notesSlides/notesSlide14.xml" Id="R4fa7fda7b6314e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3d4c1a36a0f47ce" /><Relationship Type="http://schemas.openxmlformats.org/officeDocument/2006/relationships/image" Target="/ppt/media/image3.png" Id="Ree17973b690746b6" /><Relationship Type="http://schemas.openxmlformats.org/officeDocument/2006/relationships/notesSlide" Target="/ppt/notesSlides/notesSlide15.xml" Id="Re6a8f0e950da48c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5" name="Google Shape;65;g3bb6db650b2_0_55">
            <a:extLst xmlns:a="http://schemas.openxmlformats.org/drawingml/2006/main">
              <a:ext uri="{FF2B5EF4-FFF2-40B4-BE49-F238E27FC236}">
                <a16:creationId xmlns:a16="http://schemas.microsoft.com/office/drawing/2014/main" id="{10498E75-CBC9-49BE-9474-1EAB8F8E7995}"/>
              </a:ext>
            </a:extLst>
          </p:cNvPr>
          <p:cNvSpPr>
            <a:spLocks xmlns:a="http://schemas.openxmlformats.org/drawingml/2006/main" noGrp="1"/>
          </p:cNvSpPr>
          <p:nvPr/>
        </p:nvSpPr>
        <p:spPr>
          <a:xfrm xmlns:a="http://schemas.openxmlformats.org/drawingml/2006/main">
            <a:off x="3577350" y="4642350"/>
            <a:ext cx="1989300" cy="202200"/>
          </a:xfrm>
          <a:prstGeom xmlns:a="http://schemas.openxmlformats.org/drawingml/2006/main" prst="roundRect">
            <a:avLst>
              <a:gd name="adj" fmla="val 50000"/>
            </a:avLst>
          </a:prstGeom>
          <a:solidFill xmlns:a="http://schemas.openxmlformats.org/drawingml/2006/main">
            <a:srgbClr val="E3383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pic>
        <p:nvPicPr>
          <p:cNvPr id="68" name="Picture 1"/>
          <p:cNvPicPr>
            <a:picLocks xmlns:a="http://schemas.openxmlformats.org/drawingml/2006/main" noChangeAspect="1"/>
          </p:cNvPicPr>
          <p:nvPr/>
        </p:nvPicPr>
        <p:blipFill>
          <a:blip xmlns:r="http://schemas.openxmlformats.org/officeDocument/2006/relationships" xmlns:a="http://schemas.openxmlformats.org/drawingml/2006/main" r:embed="R369ef6b1051e4135"/>
          <a:stretch xmlns:a="http://schemas.openxmlformats.org/drawingml/2006/main">
            <a:fillRect l="0" t="0" r="0" b="0"/>
          </a:stretch>
        </p:blipFill>
        <p:spPr>
          <a:xfrm xmlns:a="http://schemas.openxmlformats.org/drawingml/2006/main">
            <a:off x="7125672" y="239527"/>
            <a:ext cx="1591055" cy="559355"/>
          </a:xfrm>
          <a:prstGeom xmlns:a="http://schemas.openxmlformats.org/drawingml/2006/main" prst="rect">
            <a:avLst/>
          </a:prstGeom>
        </p:spPr>
      </p:pic>
      <p:sp>
        <p:nvSpPr>
          <p:cNvPr id="7" name="Google Shape;77;g3ba14ccda94_0_19">
            <a:extLst xmlns:a="http://schemas.openxmlformats.org/drawingml/2006/main">
              <a:ext uri="{FF2B5EF4-FFF2-40B4-BE49-F238E27FC236}">
                <a16:creationId xmlns:a16="http://schemas.microsoft.com/office/drawing/2014/main" id="{52D65209-CA83-F3E2-3495-9CCDEF11EA5C}"/>
              </a:ext>
            </a:extLst>
          </p:cNvPr>
          <p:cNvSpPr>
            <a:spLocks xmlns:a="http://schemas.openxmlformats.org/drawingml/2006/main" noGrp="1"/>
          </p:cNvSpPr>
          <p:nvPr>
            <p:ph type="ctrTitle" idx="0"/>
          </p:nvPr>
        </p:nvSpPr>
        <p:spPr>
          <a:xfrm xmlns:a="http://schemas.openxmlformats.org/drawingml/2006/main">
            <a:off x="311150" y="744538"/>
            <a:ext cx="8521700" cy="399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100000"/>
          </a:bodyPr>
          <a:lstStyle xmlns:a="http://schemas.openxmlformats.org/drawingml/2006/main"/>
          <a:p xmlns:a="http://schemas.openxmlformats.org/drawingml/2006/main">
            <a:pPr algn="ctr">
              <a:buNone/>
              <a:defRPr sz="2100" b="1">
                <a:solidFill>
                  <a:srgbClr val="104494"/>
                </a:solidFill>
                <a:latin typeface="Afacad Flux"/>
                <a:ea typeface="Afacad Flux"/>
                <a:cs typeface="Afacad Flux"/>
              </a:defRPr>
            </a:pPr>
            <a:r>
              <a:rPr sz="2100" b="1">
                <a:solidFill>
                  <a:srgbClr val="104494"/>
                </a:solidFill>
                <a:latin typeface="Afacad Flux"/>
                <a:ea typeface="Afacad Flux"/>
                <a:cs typeface="Afacad Flux"/>
              </a:rPr>
              <a:t>INFRAGUARD AI</a:t>
            </a:r>
          </a:p>
          <a:p xmlns:a="http://schemas.openxmlformats.org/drawingml/2006/main">
            <a:pPr algn="ctr">
              <a:buNone/>
              <a:defRPr sz="2100" b="1">
                <a:solidFill>
                  <a:srgbClr val="104494"/>
                </a:solidFill>
                <a:latin typeface="Afacad Flux"/>
                <a:ea typeface="Afacad Flux"/>
                <a:cs typeface="Afacad Flux"/>
              </a:defRPr>
            </a:pPr>
            <a:r>
              <a:rPr sz="2100" b="1">
                <a:solidFill>
                  <a:srgbClr val="104494"/>
                </a:solidFill>
                <a:latin typeface="Afacad Flux"/>
                <a:ea typeface="Afacad Flux"/>
                <a:cs typeface="Afacad Flux"/>
              </a:rPr>
              <a:t>Governance-by-Design for Bounded Incident Triage</a:t>
            </a:r>
          </a:p>
          <a:p xmlns:a="http://schemas.openxmlformats.org/drawingml/2006/main">
            <a:pPr>
              <a:buNone/>
            </a:pPr>
            <a:r>
              <a:rPr sz="1000">
                <a:solidFill>
                  <a:srgbClr val="104494"/>
                </a:solidFill>
              </a:rPr>
              <a:t/>
            </a:r>
          </a:p>
          <a:p xmlns:a="http://schemas.openxmlformats.org/drawingml/2006/main">
            <a:pPr algn="ctr">
              <a:buNone/>
              <a:defRPr sz="2100" b="1">
                <a:solidFill>
                  <a:srgbClr val="104494"/>
                </a:solidFill>
                <a:latin typeface="Afacad Flux"/>
                <a:ea typeface="Afacad Flux"/>
                <a:cs typeface="Afacad Flux"/>
              </a:defRPr>
            </a:pPr>
            <a:r>
              <a:rPr sz="2100" b="1">
                <a:solidFill>
                  <a:srgbClr val="104494"/>
                </a:solidFill>
                <a:latin typeface="Afacad Flux"/>
                <a:ea typeface="Afacad Flux"/>
                <a:cs typeface="Afacad Flux"/>
              </a:rPr>
              <a:t>72/72 STRUCTURE-VALID  •  29/72 EXACT SEVERITY</a:t>
            </a:r>
          </a:p>
          <a:p xmlns:a="http://schemas.openxmlformats.org/drawingml/2006/main">
            <a:pPr>
              <a:buNone/>
            </a:pPr>
            <a:r>
              <a:rPr sz="1000">
                <a:solidFill>
                  <a:srgbClr val="104494"/>
                </a:solidFill>
              </a:rPr>
              <a:t/>
            </a:r>
          </a:p>
          <a:p xmlns:a="http://schemas.openxmlformats.org/drawingml/2006/main">
            <a:pPr algn="ctr">
              <a:buNone/>
              <a:defRPr sz="2100" b="1">
                <a:solidFill>
                  <a:srgbClr val="104494"/>
                </a:solidFill>
                <a:latin typeface="Afacad Flux"/>
                <a:ea typeface="Afacad Flux"/>
                <a:cs typeface="Afacad Flux"/>
              </a:defRPr>
            </a:pPr>
            <a:r>
              <a:rPr sz="2100" b="1">
                <a:solidFill>
                  <a:srgbClr val="104494"/>
                </a:solidFill>
                <a:latin typeface="Afacad Flux"/>
                <a:ea typeface="Afacad Flux"/>
                <a:cs typeface="Afacad Flux"/>
              </a:rPr>
              <a:t>PROJECT DEFENCE</a:t>
            </a:r>
          </a:p>
          <a:p xmlns:a="http://schemas.openxmlformats.org/drawingml/2006/main">
            <a:pPr algn="ctr">
              <a:buNone/>
              <a:defRPr sz="2100" b="1">
                <a:solidFill>
                  <a:srgbClr val="104494"/>
                </a:solidFill>
                <a:latin typeface="Afacad Flux"/>
                <a:ea typeface="Afacad Flux"/>
                <a:cs typeface="Afacad Flux"/>
              </a:defRPr>
            </a:pPr>
            <a:r>
              <a:rPr sz="2100" b="1">
                <a:solidFill>
                  <a:srgbClr val="104494"/>
                </a:solidFill>
                <a:latin typeface="Afacad Flux"/>
                <a:ea typeface="Afacad Flux"/>
                <a:cs typeface="Afacad Flux"/>
              </a:rPr>
              <a:t>Adebodun Samuel Tomola  |  2025/A/MIT/0616</a:t>
            </a:r>
          </a:p>
          <a:p xmlns:a="http://schemas.openxmlformats.org/drawingml/2006/main">
            <a:pPr algn="ctr">
              <a:buNone/>
              <a:defRPr sz="2100" b="1">
                <a:solidFill>
                  <a:srgbClr val="104494"/>
                </a:solidFill>
                <a:latin typeface="Afacad Flux"/>
                <a:ea typeface="Afacad Flux"/>
                <a:cs typeface="Afacad Flux"/>
              </a:defRPr>
            </a:pPr>
            <a:r>
              <a:rPr sz="2100" b="1">
                <a:solidFill>
                  <a:srgbClr val="104494"/>
                </a:solidFill>
                <a:latin typeface="Afacad Flux"/>
                <a:ea typeface="Afacad Flux"/>
                <a:cs typeface="Afacad Flux"/>
              </a:rPr>
              <a:t>Supervisor: Dr. Emmanuel Mkpojiogu</a:t>
            </a:r>
          </a:p>
          <a:p xmlns:a="http://schemas.openxmlformats.org/drawingml/2006/main">
            <a:pPr algn="ctr">
              <a:buNone/>
              <a:defRPr sz="2100" b="1">
                <a:solidFill>
                  <a:srgbClr val="104494"/>
                </a:solidFill>
                <a:latin typeface="Afacad Flux"/>
                <a:ea typeface="Afacad Flux"/>
                <a:cs typeface="Afacad Flux"/>
              </a:defRPr>
            </a:pPr>
            <a:r>
              <a:rPr sz="2100" b="1">
                <a:solidFill>
                  <a:srgbClr val="104494"/>
                </a:solidFill>
                <a:latin typeface="Afacad Flux"/>
                <a:ea typeface="Afacad Flux"/>
                <a:cs typeface="Afacad Flux"/>
              </a:rPr>
              <a:t>Miva Open University  |  August 2026</a:t>
            </a:r>
          </a:p>
        </p:txBody>
      </p:sp>
    </p:spTree>
    <p:extLst>
      <p:ext uri="{BB962C8B-B14F-4D97-AF65-F5344CB8AC3E}">
        <p14:creationId xmlns:p14="http://schemas.microsoft.com/office/powerpoint/2010/main" val="1578195342"/>
      </p:ext>
    </p:extLst>
  </p:cSld>
</p:sld>
</file>

<file path=ppt/slides/slide2.xml><?xml version="1.0" encoding="utf-8"?>
<p:sld xmlns:p="http://schemas.openxmlformats.org/presentationml/2006/main">
  <p:cSld>
    <p:bg>
      <p:bgPr>
        <a:blipFill xmlns:a="http://schemas.openxmlformats.org/drawingml/2006/main">
          <a:blip xmlns:r="http://schemas.openxmlformats.org/officeDocument/2006/relationships" r:embed="R7c0db5176e7f40fa">
            <a:alphaModFix/>
          </a:blip>
          <a:stretch>
            <a:fillRect l="0" t="0" r="0" b="0"/>
          </a:stretch>
        </a:blipFill>
      </p:bgPr>
    </p:bg>
    <p:spTree>
      <p:nvGrpSpPr>
        <p:cNvPr id="1" name=""/>
        <p:cNvGrpSpPr/>
        <p:nvPr/>
      </p:nvGrpSpPr>
      <p:grpSpPr>
        <a:xfrm xmlns:a="http://schemas.openxmlformats.org/drawingml/2006/main"/>
      </p:grpSpPr>
      <p:sp>
        <p:nvSpPr>
          <p:cNvPr id="87" name="Google Shape;87;g3ba14ccda94_0_28">
            <a:extLst xmlns:a="http://schemas.openxmlformats.org/drawingml/2006/main">
              <a:ext uri="{FF2B5EF4-FFF2-40B4-BE49-F238E27FC236}">
                <a16:creationId xmlns:a16="http://schemas.microsoft.com/office/drawing/2014/main" id="{F676E721-F8A9-464E-9641-EDEB9AE014E8}"/>
              </a:ext>
            </a:extLst>
          </p:cNvPr>
          <p:cNvSpPr>
            <a:spLocks xmlns:a="http://schemas.openxmlformats.org/drawingml/2006/main" noGrp="1"/>
          </p:cNvSpPr>
          <p:nvPr/>
        </p:nvSpPr>
        <p:spPr>
          <a:xfrm xmlns:a="http://schemas.openxmlformats.org/drawingml/2006/main">
            <a:off x="-171450" y="-171450"/>
            <a:ext cx="9326550" cy="5324798"/>
          </a:xfrm>
          <a:prstGeom xmlns:a="http://schemas.openxmlformats.org/drawingml/2006/main" prst="rect">
            <a:avLst/>
          </a:prstGeom>
          <a:solidFill xmlns:a="http://schemas.openxmlformats.org/drawingml/2006/main">
            <a:srgbClr val="09314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endParaRPr/>
          </a:p>
        </p:txBody>
      </p:sp>
      <p:sp>
        <p:nvSpPr>
          <p:cNvPr id="88" name="Google Shape;88;g3ba14ccda94_0_28">
            <a:extLst xmlns:a="http://schemas.openxmlformats.org/drawingml/2006/main">
              <a:ext uri="{FF2B5EF4-FFF2-40B4-BE49-F238E27FC236}">
                <a16:creationId xmlns:a16="http://schemas.microsoft.com/office/drawing/2014/main" id="{D3507DF7-F09C-4726-9A36-8F4BA68DA179}"/>
              </a:ext>
            </a:extLst>
          </p:cNvPr>
          <p:cNvSpPr>
            <a:spLocks xmlns:a="http://schemas.openxmlformats.org/drawingml/2006/main" noGrp="1"/>
          </p:cNvSpPr>
          <p:nvPr/>
        </p:nvSpPr>
        <p:spPr>
          <a:xfrm xmlns:a="http://schemas.openxmlformats.org/drawingml/2006/main">
            <a:off x="585574" y="942125"/>
            <a:ext cx="6572250" cy="5385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81894"/>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00"/>
              <a:buFont typeface="Arial"/>
              <a:buNone/>
              <a:defRPr sz="2850" b="1">
                <a:solidFill>
                  <a:srgbClr val="C0A282"/>
                </a:solidFill>
                <a:latin typeface="Afacad Flux"/>
                <a:ea typeface="Afacad Flux"/>
                <a:cs typeface="Afacad Flux"/>
              </a:defRPr>
            </a:pPr>
            <a:r>
              <a:rPr sz="2850" b="1" i="0" u="none" cap="none">
                <a:solidFill>
                  <a:srgbClr val="C0A282"/>
                </a:solidFill>
                <a:latin typeface="Afacad Flux"/>
                <a:ea typeface="Afacad Flux"/>
                <a:cs typeface="Afacad Flux"/>
              </a:rPr>
              <a:t>Monitoring detects; operators still decide</a:t>
            </a:r>
            <a:endParaRPr sz="2300" b="1" i="0" u="none" cap="none">
              <a:solidFill>
                <a:srgbClr val="C0A282"/>
              </a:solidFill>
              <a:latin typeface="Afacad Flux"/>
              <a:ea typeface="Afacad Flux"/>
              <a:cs typeface="Afacad Flux"/>
            </a:endParaRPr>
          </a:p>
        </p:txBody>
      </p:sp>
      <p:sp>
        <p:nvSpPr>
          <p:cNvPr id="89" name="Google Shape;89;g3ba14ccda94_0_28">
            <a:extLst xmlns:a="http://schemas.openxmlformats.org/drawingml/2006/main">
              <a:ext uri="{FF2B5EF4-FFF2-40B4-BE49-F238E27FC236}">
                <a16:creationId xmlns:a16="http://schemas.microsoft.com/office/drawing/2014/main" id="{978C474A-3F16-41AD-8568-E03EEBBE7F3B}"/>
              </a:ext>
            </a:extLst>
          </p:cNvPr>
          <p:cNvSpPr>
            <a:spLocks xmlns:a="http://schemas.openxmlformats.org/drawingml/2006/main" noGrp="1"/>
          </p:cNvSpPr>
          <p:nvPr/>
        </p:nvSpPr>
        <p:spPr>
          <a:xfrm xmlns:a="http://schemas.openxmlformats.org/drawingml/2006/main">
            <a:off x="617675" y="1881275"/>
            <a:ext cx="8214826" cy="2571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100000"/>
          </a:bodyPr>
          <a:lstStyle xmlns:a="http://schemas.openxmlformats.org/drawingml/2006/main"/>
          <a:p xmlns:a="http://schemas.openxmlformats.org/drawingml/2006/main">
            <a:pPr lvl="0" algn="l">
              <a:lnSpc>
                <a:spcPct val="115000"/>
              </a:lnSpc>
              <a:buSzPts val="1200"/>
              <a:buNone/>
              <a:defRPr sz="1575">
                <a:solidFill>
                  <a:srgbClr val="FFFFFF"/>
                </a:solidFill>
                <a:latin typeface="Manrope"/>
                <a:ea typeface="Manrope"/>
                <a:cs typeface="Manrope"/>
              </a:defRPr>
            </a:pPr>
            <a:r>
              <a:rPr sz="1575" b="0" i="0" u="none" cap="none">
                <a:solidFill>
                  <a:srgbClr val="FFFFFF"/>
                </a:solidFill>
                <a:latin typeface="Manrope"/>
                <a:ea typeface="Manrope"/>
                <a:cs typeface="Manrope"/>
              </a:rPr>
              <a:t>PROBLEM</a:t>
            </a:r>
          </a:p>
          <a:p xmlns:a="http://schemas.openxmlformats.org/drawingml/2006/main">
            <a:pPr lvl="0" algn="l">
              <a:lnSpc>
                <a:spcPct val="115000"/>
              </a:lnSpc>
              <a:buSzPts val="1200"/>
              <a:buNone/>
              <a:defRPr sz="1575">
                <a:solidFill>
                  <a:srgbClr val="FFFFFF"/>
                </a:solidFill>
                <a:latin typeface="Manrope"/>
                <a:ea typeface="Manrope"/>
                <a:cs typeface="Manrope"/>
              </a:defRPr>
            </a:pPr>
            <a:r>
              <a:rPr sz="1575" b="0" i="0" u="none" cap="none">
                <a:solidFill>
                  <a:srgbClr val="FFFFFF"/>
                </a:solidFill>
                <a:latin typeface="Manrope"/>
                <a:ea typeface="Manrope"/>
                <a:cs typeface="Manrope"/>
              </a:rPr>
              <a:t>• Logs, metrics and alerts remain fragmented</a:t>
            </a:r>
          </a:p>
          <a:p xmlns:a="http://schemas.openxmlformats.org/drawingml/2006/main">
            <a:pPr lvl="0" algn="l">
              <a:lnSpc>
                <a:spcPct val="115000"/>
              </a:lnSpc>
              <a:buSzPts val="1200"/>
              <a:buNone/>
              <a:defRPr sz="1575">
                <a:solidFill>
                  <a:srgbClr val="FFFFFF"/>
                </a:solidFill>
                <a:latin typeface="Manrope"/>
                <a:ea typeface="Manrope"/>
                <a:cs typeface="Manrope"/>
              </a:defRPr>
            </a:pPr>
            <a:r>
              <a:rPr sz="1575" b="0" i="0" u="none" cap="none">
                <a:solidFill>
                  <a:srgbClr val="FFFFFF"/>
                </a:solidFill>
                <a:latin typeface="Manrope"/>
                <a:ea typeface="Manrope"/>
                <a:cs typeface="Manrope"/>
              </a:rPr>
              <a:t>• Operators must correlate evidence, consult runbooks and judge severity</a:t>
            </a:r>
          </a:p>
          <a:p xmlns:a="http://schemas.openxmlformats.org/drawingml/2006/main">
            <a:pPr lvl="0" algn="l">
              <a:lnSpc>
                <a:spcPct val="115000"/>
              </a:lnSpc>
              <a:buSzPts val="1200"/>
              <a:buNone/>
              <a:defRPr sz="1575">
                <a:solidFill>
                  <a:srgbClr val="FFFFFF"/>
                </a:solidFill>
                <a:latin typeface="Manrope"/>
                <a:ea typeface="Manrope"/>
                <a:cs typeface="Manrope"/>
              </a:defRPr>
            </a:pPr>
            <a:r>
              <a:rPr sz="1575" b="0" i="0" u="none" cap="none">
                <a:solidFill>
                  <a:srgbClr val="FFFFFF"/>
                </a:solidFill>
                <a:latin typeface="Manrope"/>
                <a:ea typeface="Manrope"/>
                <a:cs typeface="Manrope"/>
              </a:rPr>
              <a:t>• Fluent model output can be well-formed yet unsafe</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650">
                <a:solidFill>
                  <a:srgbClr val="FFFFFF"/>
                </a:solidFill>
                <a:latin typeface="Manrope"/>
                <a:ea typeface="Manrope"/>
                <a:cs typeface="Manrope"/>
              </a:defRPr>
            </a:pPr>
            <a:r>
              <a:rPr sz="1650" b="0" i="0" u="none" cap="none">
                <a:solidFill>
                  <a:srgbClr val="FFFFFF"/>
                </a:solidFill>
                <a:latin typeface="Manrope"/>
                <a:ea typeface="Manrope"/>
                <a:cs typeface="Manrope"/>
              </a:rPr>
              <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575">
                <a:solidFill>
                  <a:srgbClr val="FFFFFF"/>
                </a:solidFill>
                <a:latin typeface="Manrope"/>
                <a:ea typeface="Manrope"/>
                <a:cs typeface="Manrope"/>
              </a:defRPr>
            </a:pPr>
            <a:r>
              <a:rPr sz="1575" b="0" i="0" u="none" cap="none">
                <a:solidFill>
                  <a:srgbClr val="FFFFFF"/>
                </a:solidFill>
                <a:latin typeface="Manrope"/>
                <a:ea typeface="Manrope"/>
                <a:cs typeface="Manrope"/>
              </a:rPr>
              <a:t>WHAT INFRAGUARD FIXES</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575">
                <a:solidFill>
                  <a:srgbClr val="FFFFFF"/>
                </a:solidFill>
                <a:latin typeface="Manrope"/>
                <a:ea typeface="Manrope"/>
                <a:cs typeface="Manrope"/>
              </a:defRPr>
            </a:pPr>
            <a:r>
              <a:rPr sz="1575" b="0" i="0" u="none" cap="none">
                <a:solidFill>
                  <a:srgbClr val="FFFFFF"/>
                </a:solidFill>
                <a:latin typeface="Manrope"/>
                <a:ea typeface="Manrope"/>
                <a:cs typeface="Manrope"/>
              </a:rPr>
              <a:t>A governed interpretation layer: bounded evidence, visible provenance and human-controlled action—not more monitoring or autonomous diagnosis.</a:t>
            </a:r>
            <a:endParaRPr sz="1200" b="0" i="0" u="none" cap="none">
              <a:solidFill>
                <a:schemeClr val="lt1"/>
              </a:solidFill>
              <a:latin typeface="Manrope"/>
              <a:ea typeface="Manrope"/>
              <a:cs typeface="Manrope"/>
            </a:endParaRPr>
          </a:p>
        </p:txBody>
      </p:sp>
      <p:cxnSp>
        <p:nvCxnSpPr>
          <p:cNvPr id="117" name="Google Shape;91;g3ba14ccda94_0_28"/>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E83831"/>
            </a:solidFill>
            <a:prstDash val="solid"/>
            <a:round/>
            <a:headEnd type="none" w="med" len="med"/>
            <a:tailEnd type="none" w="med" len="med"/>
          </a:ln>
        </p:spPr>
      </p:cxnSp>
      <p:sp>
        <p:nvSpPr>
          <p:cNvPr id="92" name="Google Shape;92;g3ba14ccda94_0_28">
            <a:extLst xmlns:a="http://schemas.openxmlformats.org/drawingml/2006/main">
              <a:ext uri="{FF2B5EF4-FFF2-40B4-BE49-F238E27FC236}">
                <a16:creationId xmlns:a16="http://schemas.microsoft.com/office/drawing/2014/main" id="{21B55B2B-794E-4D61-BEA8-B4DD3CAA0D04}"/>
              </a:ext>
            </a:extLst>
          </p:cNvPr>
          <p:cNvSpPr>
            <a:spLocks xmlns:a="http://schemas.openxmlformats.org/drawingml/2006/main" noGrp="1"/>
          </p:cNvSpPr>
          <p:nvPr/>
        </p:nvSpPr>
        <p:spPr>
          <a:xfrm xmlns:a="http://schemas.openxmlformats.org/drawingml/2006/main">
            <a:off x="594524" y="349855"/>
            <a:ext cx="1254373"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FFFFFF"/>
                </a:solidFill>
                <a:latin typeface="Afacad Flux"/>
                <a:ea typeface="Afacad Flux"/>
                <a:cs typeface="Afacad Flux"/>
              </a:defRPr>
            </a:pPr>
            <a:r>
              <a:rPr sz="1200" b="1">
                <a:solidFill>
                  <a:srgbClr val="FFFFFF"/>
                </a:solidFill>
                <a:latin typeface="Afacad Flux"/>
                <a:ea typeface="Afacad Flux"/>
                <a:cs typeface="Afacad Flux"/>
              </a:rPr>
              <a:t>Project Defence</a:t>
            </a:r>
            <a:endParaRPr sz="1000" b="1" i="0" u="none" cap="none">
              <a:solidFill>
                <a:schemeClr val="lt1"/>
              </a:solidFill>
              <a:latin typeface="Afacad Flux"/>
              <a:ea typeface="Afacad Flux"/>
              <a:cs typeface="Afacad Flux"/>
            </a:endParaRPr>
          </a:p>
        </p:txBody>
      </p:sp>
      <p:pic>
        <p:nvPicPr>
          <p:cNvPr id="119" name="Picture 1"/>
          <p:cNvPicPr>
            <a:picLocks xmlns:a="http://schemas.openxmlformats.org/drawingml/2006/main" noChangeAspect="1"/>
          </p:cNvPicPr>
          <p:nvPr/>
        </p:nvPicPr>
        <p:blipFill>
          <a:blip xmlns:r="http://schemas.openxmlformats.org/officeDocument/2006/relationships" xmlns:a="http://schemas.openxmlformats.org/drawingml/2006/main" r:embed="R0c52076cf36948d6"/>
          <a:stretch xmlns:a="http://schemas.openxmlformats.org/drawingml/2006/main">
            <a:fillRect l="0" t="0" r="0" b="0"/>
          </a:stretch>
        </p:blipFill>
        <p:spPr>
          <a:xfrm xmlns:a="http://schemas.openxmlformats.org/drawingml/2006/main">
            <a:off x="7127814" y="239115"/>
            <a:ext cx="1593400" cy="560179"/>
          </a:xfrm>
          <a:prstGeom xmlns:a="http://schemas.openxmlformats.org/drawingml/2006/main" prst="rect">
            <a:avLst/>
          </a:prstGeom>
        </p:spPr>
      </p:pic>
    </p:spTree>
    <p:extLst>
      <p:ext uri="{BB962C8B-B14F-4D97-AF65-F5344CB8AC3E}">
        <p14:creationId xmlns:p14="http://schemas.microsoft.com/office/powerpoint/2010/main" val="1008312563"/>
      </p:ext>
    </p:extLst>
  </p:cSld>
</p:sld>
</file>

<file path=ppt/slides/slide3.xml><?xml version="1.0" encoding="utf-8"?>
<p:sld xmlns:p="http://schemas.openxmlformats.org/presentationml/2006/main">
  <p:cSld>
    <p:bg>
      <p:bgPr>
        <a:blipFill xmlns:a="http://schemas.openxmlformats.org/drawingml/2006/main">
          <a:blip xmlns:r="http://schemas.openxmlformats.org/officeDocument/2006/relationships" r:embed="R6918639633d44be0">
            <a:alphaModFix/>
          </a:blip>
          <a:stretch>
            <a:fillRect l="0" t="0" r="0" b="0"/>
          </a:stretch>
        </a:blipFill>
      </p:bgPr>
    </p:bg>
    <p:spTree>
      <p:nvGrpSpPr>
        <p:cNvPr id="1" name=""/>
        <p:cNvGrpSpPr/>
        <p:nvPr/>
      </p:nvGrpSpPr>
      <p:grpSpPr>
        <a:xfrm xmlns:a="http://schemas.openxmlformats.org/drawingml/2006/main"/>
      </p:grpSpPr>
      <p:sp>
        <p:nvSpPr>
          <p:cNvPr id="87" name="Google Shape;87;g3ba14ccda94_0_28">
            <a:extLst xmlns:a="http://schemas.openxmlformats.org/drawingml/2006/main">
              <a:ext uri="{FF2B5EF4-FFF2-40B4-BE49-F238E27FC236}">
                <a16:creationId xmlns:a16="http://schemas.microsoft.com/office/drawing/2014/main" id="{F676E721-F8A9-464E-9641-EDEB9AE014E8}"/>
              </a:ext>
            </a:extLst>
          </p:cNvPr>
          <p:cNvSpPr>
            <a:spLocks xmlns:a="http://schemas.openxmlformats.org/drawingml/2006/main" noGrp="1"/>
          </p:cNvSpPr>
          <p:nvPr/>
        </p:nvSpPr>
        <p:spPr>
          <a:xfrm xmlns:a="http://schemas.openxmlformats.org/drawingml/2006/main">
            <a:off x="-171450" y="-171450"/>
            <a:ext cx="9326550" cy="5324798"/>
          </a:xfrm>
          <a:prstGeom xmlns:a="http://schemas.openxmlformats.org/drawingml/2006/main" prst="rect">
            <a:avLst/>
          </a:prstGeom>
          <a:solidFill xmlns:a="http://schemas.openxmlformats.org/drawingml/2006/main">
            <a:srgbClr val="09314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endParaRPr/>
          </a:p>
        </p:txBody>
      </p:sp>
      <p:sp>
        <p:nvSpPr>
          <p:cNvPr id="88" name="Google Shape;88;g3ba14ccda94_0_28">
            <a:extLst xmlns:a="http://schemas.openxmlformats.org/drawingml/2006/main">
              <a:ext uri="{FF2B5EF4-FFF2-40B4-BE49-F238E27FC236}">
                <a16:creationId xmlns:a16="http://schemas.microsoft.com/office/drawing/2014/main" id="{D3507DF7-F09C-4726-9A36-8F4BA68DA179}"/>
              </a:ext>
            </a:extLst>
          </p:cNvPr>
          <p:cNvSpPr>
            <a:spLocks xmlns:a="http://schemas.openxmlformats.org/drawingml/2006/main" noGrp="1"/>
          </p:cNvSpPr>
          <p:nvPr/>
        </p:nvSpPr>
        <p:spPr>
          <a:xfrm xmlns:a="http://schemas.openxmlformats.org/drawingml/2006/main">
            <a:off x="585574" y="942125"/>
            <a:ext cx="6572250" cy="5385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81894"/>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00"/>
              <a:buFont typeface="Arial"/>
              <a:buNone/>
              <a:defRPr sz="2850" b="1">
                <a:solidFill>
                  <a:srgbClr val="C0A282"/>
                </a:solidFill>
                <a:latin typeface="Afacad Flux"/>
                <a:ea typeface="Afacad Flux"/>
                <a:cs typeface="Afacad Flux"/>
              </a:defRPr>
            </a:pPr>
            <a:r>
              <a:rPr sz="2850" b="1" i="0" u="none" cap="none">
                <a:solidFill>
                  <a:srgbClr val="C0A282"/>
                </a:solidFill>
                <a:latin typeface="Afacad Flux"/>
                <a:ea typeface="Afacad Flux"/>
                <a:cs typeface="Afacad Flux"/>
              </a:rPr>
              <a:t>How InfraGuard turns telemetry into a verdict</a:t>
            </a:r>
            <a:endParaRPr sz="2300" b="1" i="0" u="none" cap="none">
              <a:solidFill>
                <a:srgbClr val="C0A282"/>
              </a:solidFill>
              <a:latin typeface="Afacad Flux"/>
              <a:ea typeface="Afacad Flux"/>
              <a:cs typeface="Afacad Flux"/>
            </a:endParaRPr>
          </a:p>
        </p:txBody>
      </p:sp>
      <p:sp>
        <p:nvSpPr>
          <p:cNvPr id="89" name="Google Shape;89;g3ba14ccda94_0_28">
            <a:extLst xmlns:a="http://schemas.openxmlformats.org/drawingml/2006/main">
              <a:ext uri="{FF2B5EF4-FFF2-40B4-BE49-F238E27FC236}">
                <a16:creationId xmlns:a16="http://schemas.microsoft.com/office/drawing/2014/main" id="{978C474A-3F16-41AD-8568-E03EEBBE7F3B}"/>
              </a:ext>
            </a:extLst>
          </p:cNvPr>
          <p:cNvSpPr>
            <a:spLocks xmlns:a="http://schemas.openxmlformats.org/drawingml/2006/main" noGrp="1"/>
          </p:cNvSpPr>
          <p:nvPr/>
        </p:nvSpPr>
        <p:spPr>
          <a:xfrm xmlns:a="http://schemas.openxmlformats.org/drawingml/2006/main">
            <a:off x="617696" y="3752850"/>
            <a:ext cx="8214836"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100000"/>
          </a:bodyPr>
          <a:lstStyle xmlns:a="http://schemas.openxmlformats.org/drawingml/2006/main"/>
          <a:p xmlns:a="http://schemas.openxmlformats.org/drawingml/2006/main">
            <a:pPr lvl="0" algn="l">
              <a:lnSpc>
                <a:spcPct val="115000"/>
              </a:lnSpc>
              <a:buSzPts val="1200"/>
              <a:buNone/>
              <a:defRPr sz="1350">
                <a:solidFill>
                  <a:srgbClr val="FFFFFF"/>
                </a:solidFill>
                <a:latin typeface="Manrope"/>
                <a:ea typeface="Manrope"/>
                <a:cs typeface="Manrope"/>
              </a:defRPr>
            </a:pPr>
            <a:r>
              <a:rPr sz="1350" b="0" i="0" u="none" cap="none">
                <a:solidFill>
                  <a:srgbClr val="FFFFFF"/>
                </a:solidFill>
                <a:latin typeface="Manrope"/>
                <a:ea typeface="Manrope"/>
                <a:cs typeface="Manrope"/>
              </a:rPr>
              <a:t>Acknowledgement masks eligible rows from the default view; model calls and verdict records continue.</a:t>
            </a:r>
          </a:p>
        </p:txBody>
      </p:sp>
      <p:cxnSp>
        <p:nvCxnSpPr>
          <p:cNvPr id="126" name="Google Shape;91;g3ba14ccda94_0_28"/>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E83831"/>
            </a:solidFill>
            <a:prstDash val="solid"/>
            <a:round/>
            <a:headEnd type="none" w="med" len="med"/>
            <a:tailEnd type="none" w="med" len="med"/>
          </a:ln>
        </p:spPr>
      </p:cxnSp>
      <p:sp>
        <p:nvSpPr>
          <p:cNvPr id="92" name="Google Shape;92;g3ba14ccda94_0_28">
            <a:extLst xmlns:a="http://schemas.openxmlformats.org/drawingml/2006/main">
              <a:ext uri="{FF2B5EF4-FFF2-40B4-BE49-F238E27FC236}">
                <a16:creationId xmlns:a16="http://schemas.microsoft.com/office/drawing/2014/main" id="{21B55B2B-794E-4D61-BEA8-B4DD3CAA0D04}"/>
              </a:ext>
            </a:extLst>
          </p:cNvPr>
          <p:cNvSpPr>
            <a:spLocks xmlns:a="http://schemas.openxmlformats.org/drawingml/2006/main" noGrp="1"/>
          </p:cNvSpPr>
          <p:nvPr/>
        </p:nvSpPr>
        <p:spPr>
          <a:xfrm xmlns:a="http://schemas.openxmlformats.org/drawingml/2006/main">
            <a:off x="594524" y="349855"/>
            <a:ext cx="1254373"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FFFFFF"/>
                </a:solidFill>
                <a:latin typeface="Afacad Flux"/>
                <a:ea typeface="Afacad Flux"/>
                <a:cs typeface="Afacad Flux"/>
              </a:defRPr>
            </a:pPr>
            <a:r>
              <a:rPr sz="1200" b="1">
                <a:solidFill>
                  <a:srgbClr val="FFFFFF"/>
                </a:solidFill>
                <a:latin typeface="Afacad Flux"/>
                <a:ea typeface="Afacad Flux"/>
                <a:cs typeface="Afacad Flux"/>
              </a:rPr>
              <a:t>Project Defence</a:t>
            </a:r>
            <a:endParaRPr sz="1000" b="1" i="0" u="none" cap="none">
              <a:solidFill>
                <a:schemeClr val="lt1"/>
              </a:solidFill>
              <a:latin typeface="Afacad Flux"/>
              <a:ea typeface="Afacad Flux"/>
              <a:cs typeface="Afacad Flux"/>
            </a:endParaRPr>
          </a:p>
        </p:txBody>
      </p:sp>
      <p:pic>
        <p:nvPicPr>
          <p:cNvPr id="128" name="Picture 1"/>
          <p:cNvPicPr>
            <a:picLocks xmlns:a="http://schemas.openxmlformats.org/drawingml/2006/main" noChangeAspect="1"/>
          </p:cNvPicPr>
          <p:nvPr/>
        </p:nvPicPr>
        <p:blipFill>
          <a:blip xmlns:r="http://schemas.openxmlformats.org/officeDocument/2006/relationships" xmlns:a="http://schemas.openxmlformats.org/drawingml/2006/main" r:embed="R9992bf3f803648d9"/>
          <a:stretch xmlns:a="http://schemas.openxmlformats.org/drawingml/2006/main">
            <a:fillRect l="0" t="0" r="0" b="0"/>
          </a:stretch>
        </p:blipFill>
        <p:spPr>
          <a:xfrm xmlns:a="http://schemas.openxmlformats.org/drawingml/2006/main">
            <a:off x="7127814" y="239115"/>
            <a:ext cx="1593400" cy="560179"/>
          </a:xfrm>
          <a:prstGeom xmlns:a="http://schemas.openxmlformats.org/drawingml/2006/main" prst="rect">
            <a:avLst/>
          </a:prstGeom>
        </p:spPr>
      </p:pic>
      <p:sp>
        <p:nvSpPr>
          <p:cNvPr id="104" name="architecture-card-1">
            <a:extLst xmlns:a="http://schemas.openxmlformats.org/drawingml/2006/main">
              <a:ext uri="{FF2B5EF4-FFF2-40B4-BE49-F238E27FC236}">
                <a16:creationId xmlns:a16="http://schemas.microsoft.com/office/drawing/2014/main" id="{8B7EEC80-3AF7-4559-B46E-C9C9548EF18A}"/>
              </a:ext>
            </a:extLst>
          </p:cNvPr>
          <p:cNvSpPr>
            <a:spLocks xmlns:a="http://schemas.openxmlformats.org/drawingml/2006/main" noGrp="1"/>
          </p:cNvSpPr>
          <p:nvPr/>
        </p:nvSpPr>
        <p:spPr>
          <a:xfrm xmlns:a="http://schemas.openxmlformats.org/drawingml/2006/main">
            <a:off x="714375" y="2057400"/>
            <a:ext cx="1666875" cy="1066800"/>
          </a:xfrm>
          <a:prstGeom xmlns:a="http://schemas.openxmlformats.org/drawingml/2006/main" prst="roundRect">
            <a:avLst>
              <a:gd name="adj" fmla="val 10714"/>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85725" tIns="95250" rIns="85725" bIns="85725"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OBSERVE</a:t>
            </a:r>
          </a:p>
          <a:p xmlns:a="http://schemas.openxmlformats.org/drawingml/2006/main">
            <a:pPr algn="ctr">
              <a:buNone/>
              <a:defRPr sz="825">
                <a:solidFill>
                  <a:srgbClr val="FFFFFF"/>
                </a:solidFill>
                <a:latin typeface="Manrope"/>
                <a:ea typeface="Manrope"/>
                <a:cs typeface="Manrope"/>
              </a:defRPr>
            </a:pPr>
            <a:r>
              <a:rPr sz="825">
                <a:solidFill>
                  <a:srgbClr val="FFFFFF"/>
                </a:solidFill>
                <a:latin typeface="Manrope"/>
                <a:ea typeface="Manrope"/>
                <a:cs typeface="Manrope"/>
              </a:rPr>
              <a:t>Loki • Prometheus
HTTP • Docker • CrowdSec</a:t>
            </a:r>
          </a:p>
        </p:txBody>
      </p:sp>
      <p:sp>
        <p:nvSpPr>
          <p:cNvPr id="105" name="architecture-arrow-1">
            <a:extLst xmlns:a="http://schemas.openxmlformats.org/drawingml/2006/main">
              <a:ext uri="{FF2B5EF4-FFF2-40B4-BE49-F238E27FC236}">
                <a16:creationId xmlns:a16="http://schemas.microsoft.com/office/drawing/2014/main" id="{6B464BF5-1749-4F27-866A-E5A8925F200F}"/>
              </a:ext>
            </a:extLst>
          </p:cNvPr>
          <p:cNvSpPr>
            <a:spLocks xmlns:a="http://schemas.openxmlformats.org/drawingml/2006/main" noGrp="1"/>
          </p:cNvSpPr>
          <p:nvPr/>
        </p:nvSpPr>
        <p:spPr>
          <a:xfrm xmlns:a="http://schemas.openxmlformats.org/drawingml/2006/main">
            <a:off x="2438400" y="2466975"/>
            <a:ext cx="171450" cy="171450"/>
          </a:xfrm>
          <a:prstGeom xmlns:a="http://schemas.openxmlformats.org/drawingml/2006/main" prst="rightArrow">
            <a:avLst/>
          </a:prstGeom>
          <a:solidFill xmlns:a="http://schemas.openxmlformats.org/drawingml/2006/main">
            <a:srgbClr val="E83831"/>
          </a:solidFill>
          <a:ln xmlns:a="http://schemas.openxmlformats.org/drawingml/2006/main" w="0">
            <a:solidFill>
              <a:srgbClr val="E83831"/>
            </a:solidFill>
            <a:prstDash val="solid"/>
          </a:ln>
        </p:spPr>
      </p:sp>
      <p:sp>
        <p:nvSpPr>
          <p:cNvPr id="106" name="architecture-card-2">
            <a:extLst xmlns:a="http://schemas.openxmlformats.org/drawingml/2006/main">
              <a:ext uri="{FF2B5EF4-FFF2-40B4-BE49-F238E27FC236}">
                <a16:creationId xmlns:a16="http://schemas.microsoft.com/office/drawing/2014/main" id="{CA213186-40EE-411A-B12D-1A2130373EA9}"/>
              </a:ext>
            </a:extLst>
          </p:cNvPr>
          <p:cNvSpPr>
            <a:spLocks xmlns:a="http://schemas.openxmlformats.org/drawingml/2006/main" noGrp="1"/>
          </p:cNvSpPr>
          <p:nvPr/>
        </p:nvSpPr>
        <p:spPr>
          <a:xfrm xmlns:a="http://schemas.openxmlformats.org/drawingml/2006/main">
            <a:off x="2667000" y="2057400"/>
            <a:ext cx="1666875" cy="1066800"/>
          </a:xfrm>
          <a:prstGeom xmlns:a="http://schemas.openxmlformats.org/drawingml/2006/main" prst="roundRect">
            <a:avLst>
              <a:gd name="adj" fmla="val 10714"/>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85725" tIns="95250" rIns="85725" bIns="85725"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GROUND + ANALYSE</a:t>
            </a:r>
          </a:p>
          <a:p xmlns:a="http://schemas.openxmlformats.org/drawingml/2006/main">
            <a:pPr algn="ctr">
              <a:buNone/>
              <a:defRPr sz="825">
                <a:solidFill>
                  <a:srgbClr val="FFFFFF"/>
                </a:solidFill>
                <a:latin typeface="Manrope"/>
                <a:ea typeface="Manrope"/>
                <a:cs typeface="Manrope"/>
              </a:defRPr>
            </a:pPr>
            <a:r>
              <a:rPr sz="825">
                <a:solidFill>
                  <a:srgbClr val="FFFFFF"/>
                </a:solidFill>
                <a:latin typeface="Manrope"/>
                <a:ea typeface="Manrope"/>
                <a:cs typeface="Manrope"/>
              </a:rPr>
              <a:t>20 runbooks • ChromaDB
model + verdict validation</a:t>
            </a:r>
          </a:p>
        </p:txBody>
      </p:sp>
      <p:sp>
        <p:nvSpPr>
          <p:cNvPr id="107" name="architecture-arrow-2">
            <a:extLst xmlns:a="http://schemas.openxmlformats.org/drawingml/2006/main">
              <a:ext uri="{FF2B5EF4-FFF2-40B4-BE49-F238E27FC236}">
                <a16:creationId xmlns:a16="http://schemas.microsoft.com/office/drawing/2014/main" id="{D2B5DE27-1C72-4054-AB18-65C4FDD8E396}"/>
              </a:ext>
            </a:extLst>
          </p:cNvPr>
          <p:cNvSpPr>
            <a:spLocks xmlns:a="http://schemas.openxmlformats.org/drawingml/2006/main" noGrp="1"/>
          </p:cNvSpPr>
          <p:nvPr/>
        </p:nvSpPr>
        <p:spPr>
          <a:xfrm xmlns:a="http://schemas.openxmlformats.org/drawingml/2006/main">
            <a:off x="4391025" y="2466975"/>
            <a:ext cx="171450" cy="171450"/>
          </a:xfrm>
          <a:prstGeom xmlns:a="http://schemas.openxmlformats.org/drawingml/2006/main" prst="rightArrow">
            <a:avLst/>
          </a:prstGeom>
          <a:solidFill xmlns:a="http://schemas.openxmlformats.org/drawingml/2006/main">
            <a:srgbClr val="E83831"/>
          </a:solidFill>
          <a:ln xmlns:a="http://schemas.openxmlformats.org/drawingml/2006/main" w="0">
            <a:solidFill>
              <a:srgbClr val="E83831"/>
            </a:solidFill>
            <a:prstDash val="solid"/>
          </a:ln>
        </p:spPr>
      </p:sp>
      <p:sp>
        <p:nvSpPr>
          <p:cNvPr id="108" name="architecture-card-3">
            <a:extLst xmlns:a="http://schemas.openxmlformats.org/drawingml/2006/main">
              <a:ext uri="{FF2B5EF4-FFF2-40B4-BE49-F238E27FC236}">
                <a16:creationId xmlns:a16="http://schemas.microsoft.com/office/drawing/2014/main" id="{2FA6F9C0-38BB-41D2-B23C-73D9D9109EE6}"/>
              </a:ext>
            </a:extLst>
          </p:cNvPr>
          <p:cNvSpPr>
            <a:spLocks xmlns:a="http://schemas.openxmlformats.org/drawingml/2006/main" noGrp="1"/>
          </p:cNvSpPr>
          <p:nvPr/>
        </p:nvSpPr>
        <p:spPr>
          <a:xfrm xmlns:a="http://schemas.openxmlformats.org/drawingml/2006/main">
            <a:off x="4619625" y="2057400"/>
            <a:ext cx="1666875" cy="1066800"/>
          </a:xfrm>
          <a:prstGeom xmlns:a="http://schemas.openxmlformats.org/drawingml/2006/main" prst="roundRect">
            <a:avLst>
              <a:gd name="adj" fmla="val 10714"/>
            </a:avLst>
          </a:prstGeom>
          <a:solidFill xmlns:a="http://schemas.openxmlformats.org/drawingml/2006/main">
            <a:srgbClr val="E83831"/>
          </a:solidFill>
          <a:ln xmlns:a="http://schemas.openxmlformats.org/drawingml/2006/main" w="9525">
            <a:solidFill>
              <a:srgbClr val="F7A6A1"/>
            </a:solidFill>
            <a:prstDash val="solid"/>
          </a:ln>
        </p:spPr>
        <p:txBody>
          <a:bodyPr xmlns:a="http://schemas.openxmlformats.org/drawingml/2006/main" wrap="square" lIns="85725" tIns="95250" rIns="85725" bIns="85725"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DECIDE</a:t>
            </a:r>
          </a:p>
          <a:p xmlns:a="http://schemas.openxmlformats.org/drawingml/2006/main">
            <a:pPr algn="ctr">
              <a:buNone/>
              <a:defRPr sz="825">
                <a:solidFill>
                  <a:srgbClr val="FFFFFF"/>
                </a:solidFill>
                <a:latin typeface="Manrope"/>
                <a:ea typeface="Manrope"/>
                <a:cs typeface="Manrope"/>
              </a:defRPr>
            </a:pPr>
            <a:r>
              <a:rPr sz="825">
                <a:solidFill>
                  <a:srgbClr val="FFFFFF"/>
                </a:solidFill>
                <a:latin typeface="Manrope"/>
                <a:ea typeface="Manrope"/>
                <a:cs typeface="Manrope"/>
              </a:rPr>
              <a:t>Review verdict
choose response</a:t>
            </a:r>
          </a:p>
        </p:txBody>
      </p:sp>
      <p:sp>
        <p:nvSpPr>
          <p:cNvPr id="109" name="architecture-arrow-3">
            <a:extLst xmlns:a="http://schemas.openxmlformats.org/drawingml/2006/main">
              <a:ext uri="{FF2B5EF4-FFF2-40B4-BE49-F238E27FC236}">
                <a16:creationId xmlns:a16="http://schemas.microsoft.com/office/drawing/2014/main" id="{A7BB92D1-AF40-4B1B-9946-13814205C15C}"/>
              </a:ext>
            </a:extLst>
          </p:cNvPr>
          <p:cNvSpPr>
            <a:spLocks xmlns:a="http://schemas.openxmlformats.org/drawingml/2006/main" noGrp="1"/>
          </p:cNvSpPr>
          <p:nvPr/>
        </p:nvSpPr>
        <p:spPr>
          <a:xfrm xmlns:a="http://schemas.openxmlformats.org/drawingml/2006/main">
            <a:off x="6343650" y="2466975"/>
            <a:ext cx="171450" cy="171450"/>
          </a:xfrm>
          <a:prstGeom xmlns:a="http://schemas.openxmlformats.org/drawingml/2006/main" prst="rightArrow">
            <a:avLst/>
          </a:prstGeom>
          <a:solidFill xmlns:a="http://schemas.openxmlformats.org/drawingml/2006/main">
            <a:srgbClr val="E83831"/>
          </a:solidFill>
          <a:ln xmlns:a="http://schemas.openxmlformats.org/drawingml/2006/main" w="0">
            <a:solidFill>
              <a:srgbClr val="E83831"/>
            </a:solidFill>
            <a:prstDash val="solid"/>
          </a:ln>
        </p:spPr>
      </p:sp>
      <p:sp>
        <p:nvSpPr>
          <p:cNvPr id="110" name="architecture-card-4">
            <a:extLst xmlns:a="http://schemas.openxmlformats.org/drawingml/2006/main">
              <a:ext uri="{FF2B5EF4-FFF2-40B4-BE49-F238E27FC236}">
                <a16:creationId xmlns:a16="http://schemas.microsoft.com/office/drawing/2014/main" id="{17BC90A7-BC41-4F81-8523-83289611342B}"/>
              </a:ext>
            </a:extLst>
          </p:cNvPr>
          <p:cNvSpPr>
            <a:spLocks xmlns:a="http://schemas.openxmlformats.org/drawingml/2006/main" noGrp="1"/>
          </p:cNvSpPr>
          <p:nvPr/>
        </p:nvSpPr>
        <p:spPr>
          <a:xfrm xmlns:a="http://schemas.openxmlformats.org/drawingml/2006/main">
            <a:off x="6572250" y="2057400"/>
            <a:ext cx="1666875" cy="1066800"/>
          </a:xfrm>
          <a:prstGeom xmlns:a="http://schemas.openxmlformats.org/drawingml/2006/main" prst="roundRect">
            <a:avLst>
              <a:gd name="adj" fmla="val 10714"/>
            </a:avLst>
          </a:prstGeom>
          <a:solidFill xmlns:a="http://schemas.openxmlformats.org/drawingml/2006/main">
            <a:srgbClr val="C0A282"/>
          </a:solidFill>
          <a:ln xmlns:a="http://schemas.openxmlformats.org/drawingml/2006/main" w="9525">
            <a:solidFill>
              <a:srgbClr val="4F7185"/>
            </a:solidFill>
            <a:prstDash val="solid"/>
          </a:ln>
        </p:spPr>
        <p:txBody>
          <a:bodyPr xmlns:a="http://schemas.openxmlformats.org/drawingml/2006/main" wrap="square" lIns="85725" tIns="95250" rIns="85725" bIns="85725" anchor="ctr">
            <a:normAutofit fontScale="100000"/>
          </a:bodyPr>
          <a:lstStyle xmlns:a="http://schemas.openxmlformats.org/drawingml/2006/main"/>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NOTIFY / ACT</a:t>
            </a:r>
          </a:p>
          <a:p xmlns:a="http://schemas.openxmlformats.org/drawingml/2006/main">
            <a:pPr algn="ctr">
              <a:buNone/>
              <a:defRPr sz="825">
                <a:solidFill>
                  <a:srgbClr val="0B314F"/>
                </a:solidFill>
                <a:latin typeface="Manrope"/>
                <a:ea typeface="Manrope"/>
                <a:cs typeface="Manrope"/>
              </a:defRPr>
            </a:pPr>
            <a:r>
              <a:rPr sz="825">
                <a:solidFill>
                  <a:srgbClr val="0B314F"/>
                </a:solidFill>
                <a:latin typeface="Manrope"/>
                <a:ea typeface="Manrope"/>
                <a:cs typeface="Manrope"/>
              </a:rPr>
              <a:t>Dashboard • alerts
CrowdSec after approval</a:t>
            </a:r>
          </a:p>
        </p:txBody>
      </p:sp>
      <p:sp>
        <p:nvSpPr>
          <p:cNvPr id="111" name="architecture-flow-labels">
            <a:extLst xmlns:a="http://schemas.openxmlformats.org/drawingml/2006/main">
              <a:ext uri="{FF2B5EF4-FFF2-40B4-BE49-F238E27FC236}">
                <a16:creationId xmlns:a16="http://schemas.microsoft.com/office/drawing/2014/main" id="{7AED7287-DE5F-4A47-8544-6B48CD839098}"/>
              </a:ext>
            </a:extLst>
          </p:cNvPr>
          <p:cNvSpPr>
            <a:spLocks xmlns:a="http://schemas.openxmlformats.org/drawingml/2006/main" noGrp="1"/>
          </p:cNvSpPr>
          <p:nvPr/>
        </p:nvSpPr>
        <p:spPr>
          <a:xfrm xmlns:a="http://schemas.openxmlformats.org/drawingml/2006/main">
            <a:off x="1905000" y="1790700"/>
            <a:ext cx="561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1425" b="1">
                <a:solidFill>
                  <a:srgbClr val="C0A282"/>
                </a:solidFill>
                <a:latin typeface="Manrope"/>
                <a:ea typeface="Manrope"/>
                <a:cs typeface="Manrope"/>
              </a:defRPr>
            </a:pPr>
            <a:r>
              <a:rPr sz="1425" b="1">
                <a:solidFill>
                  <a:srgbClr val="C0A282"/>
                </a:solidFill>
                <a:latin typeface="Manrope"/>
                <a:ea typeface="Manrope"/>
                <a:cs typeface="Manrope"/>
              </a:rPr>
              <a:t>observe        ground + analyse        decide        notify / act</a:t>
            </a:r>
          </a:p>
        </p:txBody>
      </p:sp>
      <p:sp>
        <p:nvSpPr>
          <p:cNvPr id="112" name="architecture-boundary">
            <a:extLst xmlns:a="http://schemas.openxmlformats.org/drawingml/2006/main">
              <a:ext uri="{FF2B5EF4-FFF2-40B4-BE49-F238E27FC236}">
                <a16:creationId xmlns:a16="http://schemas.microsoft.com/office/drawing/2014/main" id="{958F0EBB-57E2-4874-AD5F-895EA1AEF15D}"/>
              </a:ext>
            </a:extLst>
          </p:cNvPr>
          <p:cNvSpPr>
            <a:spLocks xmlns:a="http://schemas.openxmlformats.org/drawingml/2006/main" noGrp="1"/>
          </p:cNvSpPr>
          <p:nvPr/>
        </p:nvSpPr>
        <p:spPr>
          <a:xfrm xmlns:a="http://schemas.openxmlformats.org/drawingml/2006/main">
            <a:off x="1524000" y="3276600"/>
            <a:ext cx="6096000" cy="361950"/>
          </a:xfrm>
          <a:prstGeom xmlns:a="http://schemas.openxmlformats.org/drawingml/2006/main" prst="roundRect">
            <a:avLst>
              <a:gd name="adj" fmla="val 50000"/>
            </a:avLst>
          </a:prstGeom>
          <a:solidFill xmlns:a="http://schemas.openxmlformats.org/drawingml/2006/main">
            <a:srgbClr val="0B344F"/>
          </a:solidFill>
          <a:ln xmlns:a="http://schemas.openxmlformats.org/drawingml/2006/main" w="9525">
            <a:solidFill>
              <a:srgbClr val="E83831"/>
            </a:solidFill>
            <a:prstDash val="solid"/>
          </a:ln>
        </p:spPr>
        <p:txBody>
          <a:bodyPr xmlns:a="http://schemas.openxmlformats.org/drawingml/2006/main" wrap="square" lIns="95250" tIns="28575" rIns="95250" bIns="28575" anchor="ctr">
            <a:normAutofit fontScale="91536"/>
          </a:bodyPr>
          <a:lstStyle xmlns:a="http://schemas.openxmlformats.org/drawingml/2006/main"/>
          <a:p xmlns:a="http://schemas.openxmlformats.org/drawingml/2006/main">
            <a:pPr algn="ctr">
              <a:buNone/>
              <a:defRPr sz="1425" b="1">
                <a:solidFill>
                  <a:srgbClr val="FFFFFF"/>
                </a:solidFill>
                <a:latin typeface="Manrope"/>
                <a:ea typeface="Manrope"/>
                <a:cs typeface="Manrope"/>
              </a:defRPr>
            </a:pPr>
            <a:r>
              <a:rPr sz="1425" b="1">
                <a:solidFill>
                  <a:srgbClr val="FFFFFF"/>
                </a:solidFill>
                <a:latin typeface="Manrope"/>
                <a:ea typeface="Manrope"/>
                <a:cs typeface="Manrope"/>
              </a:rPr>
              <a:t>ACTION BOUNDARY  •  service/firewall changes require approval</a:t>
            </a:r>
          </a:p>
        </p:txBody>
      </p:sp>
    </p:spTree>
    <p:extLst>
      <p:ext uri="{BB962C8B-B14F-4D97-AF65-F5344CB8AC3E}">
        <p14:creationId xmlns:p14="http://schemas.microsoft.com/office/powerpoint/2010/main" val="100831256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g3ba14ccda94_0_28">
            <a:extLst xmlns:a="http://schemas.openxmlformats.org/drawingml/2006/main">
              <a:ext uri="{FF2B5EF4-FFF2-40B4-BE49-F238E27FC236}">
                <a16:creationId xmlns:a16="http://schemas.microsoft.com/office/drawing/2014/main" id="{F6E9DE47-7A89-03FD-8838-AB32C51F16BE}"/>
              </a:ext>
            </a:extLst>
          </p:cNvPr>
          <p:cNvSpPr>
            <a:spLocks xmlns:a="http://schemas.openxmlformats.org/drawingml/2006/main" noGrp="1"/>
          </p:cNvSpPr>
          <p:nvPr/>
        </p:nvSpPr>
        <p:spPr>
          <a:xfrm xmlns:a="http://schemas.openxmlformats.org/drawingml/2006/main">
            <a:off x="-266700" y="-152400"/>
            <a:ext cx="9421800" cy="5305748"/>
          </a:xfrm>
          <a:prstGeom xmlns:a="http://schemas.openxmlformats.org/drawingml/2006/main" prst="rect">
            <a:avLst/>
          </a:prstGeom>
          <a:solidFill xmlns:a="http://schemas.openxmlformats.org/drawingml/2006/main">
            <a:srgbClr val="09314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endParaRPr/>
          </a:p>
        </p:txBody>
      </p:sp>
      <p:sp>
        <p:nvSpPr>
          <p:cNvPr id="88" name="Google Shape;88;g3ba14ccda94_0_28">
            <a:extLst xmlns:a="http://schemas.openxmlformats.org/drawingml/2006/main">
              <a:ext uri="{FF2B5EF4-FFF2-40B4-BE49-F238E27FC236}">
                <a16:creationId xmlns:a16="http://schemas.microsoft.com/office/drawing/2014/main" id="{50CF5E3E-E802-64F5-BC89-2D8335A7B79A}"/>
              </a:ext>
            </a:extLst>
          </p:cNvPr>
          <p:cNvSpPr>
            <a:spLocks xmlns:a="http://schemas.openxmlformats.org/drawingml/2006/main" noGrp="1"/>
          </p:cNvSpPr>
          <p:nvPr/>
        </p:nvSpPr>
        <p:spPr>
          <a:xfrm xmlns:a="http://schemas.openxmlformats.org/drawingml/2006/main">
            <a:off x="585574" y="942125"/>
            <a:ext cx="6572250" cy="5385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81894"/>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00"/>
              <a:buFont typeface="Arial"/>
              <a:buNone/>
              <a:defRPr sz="2850" b="1">
                <a:solidFill>
                  <a:srgbClr val="C0A282"/>
                </a:solidFill>
                <a:latin typeface="Afacad Flux"/>
                <a:ea typeface="Afacad Flux"/>
                <a:cs typeface="Afacad Flux"/>
              </a:defRPr>
            </a:pPr>
            <a:r>
              <a:rPr sz="2850" b="1" i="0" u="none" cap="none">
                <a:solidFill>
                  <a:srgbClr val="C0A282"/>
                </a:solidFill>
                <a:latin typeface="Afacad Flux"/>
                <a:ea typeface="Afacad Flux"/>
                <a:cs typeface="Afacad Flux"/>
              </a:rPr>
              <a:t>The contribution is governance-by-design</a:t>
            </a:r>
            <a:endParaRPr sz="2300" b="1" i="0" u="none" cap="none">
              <a:solidFill>
                <a:srgbClr val="C0A282"/>
              </a:solidFill>
              <a:latin typeface="Afacad Flux"/>
              <a:ea typeface="Afacad Flux"/>
              <a:cs typeface="Afacad Flux"/>
            </a:endParaRPr>
          </a:p>
        </p:txBody>
      </p:sp>
      <p:sp>
        <p:nvSpPr>
          <p:cNvPr id="89" name="Google Shape;89;g3ba14ccda94_0_28">
            <a:extLst xmlns:a="http://schemas.openxmlformats.org/drawingml/2006/main">
              <a:ext uri="{FF2B5EF4-FFF2-40B4-BE49-F238E27FC236}">
                <a16:creationId xmlns:a16="http://schemas.microsoft.com/office/drawing/2014/main" id="{2BC2C388-10A3-D249-2B73-7D9B289B1AB9}"/>
              </a:ext>
            </a:extLst>
          </p:cNvPr>
          <p:cNvSpPr>
            <a:spLocks xmlns:a="http://schemas.openxmlformats.org/drawingml/2006/main" noGrp="1"/>
          </p:cNvSpPr>
          <p:nvPr/>
        </p:nvSpPr>
        <p:spPr>
          <a:xfrm xmlns:a="http://schemas.openxmlformats.org/drawingml/2006/main">
            <a:off x="617696" y="4038600"/>
            <a:ext cx="8214836"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88579"/>
          </a:bodyPr>
          <a:lstStyle xmlns:a="http://schemas.openxmlformats.org/drawingml/2006/main"/>
          <a:p xmlns:a="http://schemas.openxmlformats.org/drawingml/2006/main">
            <a:pPr lvl="0" algn="l">
              <a:lnSpc>
                <a:spcPct val="115000"/>
              </a:lnSpc>
              <a:buSzPts val="1200"/>
              <a:buNone/>
              <a:defRPr sz="1313">
                <a:solidFill>
                  <a:srgbClr val="FFFFFF"/>
                </a:solidFill>
                <a:latin typeface="Manrope"/>
                <a:ea typeface="Manrope"/>
                <a:cs typeface="Manrope"/>
              </a:defRPr>
            </a:pPr>
            <a:r>
              <a:rPr sz="1313" b="0" i="0" u="none" cap="none">
                <a:solidFill>
                  <a:srgbClr val="FFFFFF"/>
                </a:solidFill>
                <a:latin typeface="Manrope"/>
                <a:ea typeface="Manrope"/>
                <a:cs typeface="Manrope"/>
              </a:rPr>
              <a:t>Distinctive construct within the framework—not a universal novelty claim. Only 10/24 scenarios produced one identical signature across all three repeats; same-model identity creates circularity risk.</a:t>
            </a:r>
          </a:p>
        </p:txBody>
      </p:sp>
      <p:cxnSp>
        <p:nvCxnSpPr>
          <p:cNvPr id="143" name="Google Shape;91;g3ba14ccda94_0_28"/>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E83831"/>
            </a:solidFill>
            <a:prstDash val="solid"/>
            <a:round/>
            <a:headEnd type="none" w="med" len="med"/>
            <a:tailEnd type="none" w="med" len="med"/>
          </a:ln>
        </p:spPr>
      </p:cxnSp>
      <p:sp>
        <p:nvSpPr>
          <p:cNvPr id="92" name="Google Shape;92;g3ba14ccda94_0_28">
            <a:extLst xmlns:a="http://schemas.openxmlformats.org/drawingml/2006/main">
              <a:ext uri="{FF2B5EF4-FFF2-40B4-BE49-F238E27FC236}">
                <a16:creationId xmlns:a16="http://schemas.microsoft.com/office/drawing/2014/main" id="{B4430A66-BD6A-1853-78AC-9C8941EC619E}"/>
              </a:ext>
            </a:extLst>
          </p:cNvPr>
          <p:cNvSpPr>
            <a:spLocks xmlns:a="http://schemas.openxmlformats.org/drawingml/2006/main" noGrp="1"/>
          </p:cNvSpPr>
          <p:nvPr/>
        </p:nvSpPr>
        <p:spPr>
          <a:xfrm xmlns:a="http://schemas.openxmlformats.org/drawingml/2006/main">
            <a:off x="594524" y="349855"/>
            <a:ext cx="1254373"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FFFFFF"/>
                </a:solidFill>
                <a:latin typeface="Afacad Flux"/>
                <a:ea typeface="Afacad Flux"/>
                <a:cs typeface="Afacad Flux"/>
              </a:defRPr>
            </a:pPr>
            <a:r>
              <a:rPr sz="1200" b="1">
                <a:solidFill>
                  <a:srgbClr val="FFFFFF"/>
                </a:solidFill>
                <a:latin typeface="Afacad Flux"/>
                <a:ea typeface="Afacad Flux"/>
                <a:cs typeface="Afacad Flux"/>
              </a:rPr>
              <a:t>Project Defence</a:t>
            </a:r>
            <a:endParaRPr sz="1000" b="1" i="0" u="none" cap="none">
              <a:solidFill>
                <a:schemeClr val="lt1"/>
              </a:solidFill>
              <a:latin typeface="Afacad Flux"/>
              <a:ea typeface="Afacad Flux"/>
              <a:cs typeface="Afacad Flux"/>
            </a:endParaRPr>
          </a:p>
        </p:txBody>
      </p:sp>
      <p:pic>
        <p:nvPicPr>
          <p:cNvPr id="145" name="Picture 1"/>
          <p:cNvPicPr>
            <a:picLocks xmlns:a="http://schemas.openxmlformats.org/drawingml/2006/main" noChangeAspect="1"/>
          </p:cNvPicPr>
          <p:nvPr/>
        </p:nvPicPr>
        <p:blipFill>
          <a:blip xmlns:r="http://schemas.openxmlformats.org/officeDocument/2006/relationships" xmlns:a="http://schemas.openxmlformats.org/drawingml/2006/main" r:embed="R67a453566d784968"/>
          <a:stretch xmlns:a="http://schemas.openxmlformats.org/drawingml/2006/main">
            <a:fillRect l="0" t="0" r="0" b="0"/>
          </a:stretch>
        </p:blipFill>
        <p:spPr>
          <a:xfrm xmlns:a="http://schemas.openxmlformats.org/drawingml/2006/main">
            <a:off x="7127814" y="239115"/>
            <a:ext cx="1593400" cy="560179"/>
          </a:xfrm>
          <a:prstGeom xmlns:a="http://schemas.openxmlformats.org/drawingml/2006/main" prst="rect">
            <a:avLst/>
          </a:prstGeom>
        </p:spPr>
      </p:pic>
      <p:sp>
        <p:nvSpPr>
          <p:cNvPr id="104" name="fingerprint-formula">
            <a:extLst xmlns:a="http://schemas.openxmlformats.org/drawingml/2006/main">
              <a:ext uri="{FF2B5EF4-FFF2-40B4-BE49-F238E27FC236}">
                <a16:creationId xmlns:a16="http://schemas.microsoft.com/office/drawing/2014/main" id="{9C3DA796-FD1E-46D4-BAB8-F4258E50236C}"/>
              </a:ext>
            </a:extLst>
          </p:cNvPr>
          <p:cNvSpPr>
            <a:spLocks xmlns:a="http://schemas.openxmlformats.org/drawingml/2006/main" noGrp="1"/>
          </p:cNvSpPr>
          <p:nvPr/>
        </p:nvSpPr>
        <p:spPr>
          <a:xfrm xmlns:a="http://schemas.openxmlformats.org/drawingml/2006/main">
            <a:off x="714375" y="1809750"/>
            <a:ext cx="7762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1125" b="1">
                <a:solidFill>
                  <a:srgbClr val="FFFFFF"/>
                </a:solidFill>
                <a:latin typeface="Manrope"/>
                <a:ea typeface="Manrope"/>
                <a:cs typeface="Manrope"/>
              </a:defRPr>
            </a:pPr>
            <a:r>
              <a:rPr sz="1125" b="1">
                <a:solidFill>
                  <a:srgbClr val="FFFFFF"/>
                </a:solidFill>
                <a:latin typeface="Manrope"/>
                <a:ea typeface="Manrope"/>
                <a:cs typeface="Manrope"/>
              </a:rPr>
              <a:t>fingerprint = SHA-256(condition signature | prompt version | model)</a:t>
            </a:r>
          </a:p>
        </p:txBody>
      </p:sp>
      <p:sp>
        <p:nvSpPr>
          <p:cNvPr id="105" name="fingerprint-inputs">
            <a:extLst xmlns:a="http://schemas.openxmlformats.org/drawingml/2006/main">
              <a:ext uri="{FF2B5EF4-FFF2-40B4-BE49-F238E27FC236}">
                <a16:creationId xmlns:a16="http://schemas.microsoft.com/office/drawing/2014/main" id="{3C6D2565-9C5F-4C8C-962C-0C359185ADE3}"/>
              </a:ext>
            </a:extLst>
          </p:cNvPr>
          <p:cNvSpPr>
            <a:spLocks xmlns:a="http://schemas.openxmlformats.org/drawingml/2006/main" noGrp="1"/>
          </p:cNvSpPr>
          <p:nvPr/>
        </p:nvSpPr>
        <p:spPr>
          <a:xfrm xmlns:a="http://schemas.openxmlformats.org/drawingml/2006/main">
            <a:off x="714375" y="2324100"/>
            <a:ext cx="1428750" cy="971550"/>
          </a:xfrm>
          <a:prstGeom xmlns:a="http://schemas.openxmlformats.org/drawingml/2006/main" prst="roundRect">
            <a:avLst>
              <a:gd name="adj" fmla="val 11765"/>
            </a:avLst>
          </a:prstGeom>
          <a:solidFill xmlns:a="http://schemas.openxmlformats.org/drawingml/2006/main">
            <a:srgbClr val="15465F"/>
          </a:solidFill>
          <a:ln xmlns:a="http://schemas.openxmlformats.org/drawingml/2006/main" w="9525">
            <a:solidFill>
              <a:srgbClr val="4F7185"/>
            </a:solidFill>
            <a:prstDash val="solid"/>
          </a:ln>
        </p:spPr>
      </p:sp>
      <p:sp>
        <p:nvSpPr>
          <p:cNvPr id="106" name="fingerprint-inputs-title">
            <a:extLst xmlns:a="http://schemas.openxmlformats.org/drawingml/2006/main">
              <a:ext uri="{FF2B5EF4-FFF2-40B4-BE49-F238E27FC236}">
                <a16:creationId xmlns:a16="http://schemas.microsoft.com/office/drawing/2014/main" id="{7FC5EEDB-DE73-4CA0-9BA1-E62124224D81}"/>
              </a:ext>
            </a:extLst>
          </p:cNvPr>
          <p:cNvSpPr>
            <a:spLocks xmlns:a="http://schemas.openxmlformats.org/drawingml/2006/main" noGrp="1"/>
          </p:cNvSpPr>
          <p:nvPr/>
        </p:nvSpPr>
        <p:spPr>
          <a:xfrm xmlns:a="http://schemas.openxmlformats.org/drawingml/2006/main">
            <a:off x="790575" y="240982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83342"/>
          </a:bodyPr>
          <a:lstStyle xmlns:a="http://schemas.openxmlformats.org/drawingml/2006/main"/>
          <a:p xmlns:a="http://schemas.openxmlformats.org/drawingml/2006/main">
            <a:pPr algn="ctr">
              <a:buNone/>
              <a:defRPr sz="1350" b="1">
                <a:solidFill>
                  <a:srgbClr val="FFFFFF"/>
                </a:solidFill>
                <a:latin typeface="Manrope"/>
                <a:ea typeface="Manrope"/>
                <a:cs typeface="Manrope"/>
              </a:defRPr>
            </a:pPr>
            <a:r>
              <a:rPr sz="1350" b="1">
                <a:solidFill>
                  <a:srgbClr val="FFFFFF"/>
                </a:solidFill>
                <a:latin typeface="Manrope"/>
                <a:ea typeface="Manrope"/>
                <a:cs typeface="Manrope"/>
              </a:rPr>
              <a:t>CONTEXT INPUTS</a:t>
            </a:r>
          </a:p>
        </p:txBody>
      </p:sp>
      <p:sp>
        <p:nvSpPr>
          <p:cNvPr id="107" name="fingerprint-inputs-body">
            <a:extLst xmlns:a="http://schemas.openxmlformats.org/drawingml/2006/main">
              <a:ext uri="{FF2B5EF4-FFF2-40B4-BE49-F238E27FC236}">
                <a16:creationId xmlns:a16="http://schemas.microsoft.com/office/drawing/2014/main" id="{70416357-96D3-4C1F-9223-A2B4EE4695F5}"/>
              </a:ext>
            </a:extLst>
          </p:cNvPr>
          <p:cNvSpPr>
            <a:spLocks xmlns:a="http://schemas.openxmlformats.org/drawingml/2006/main" noGrp="1"/>
          </p:cNvSpPr>
          <p:nvPr/>
        </p:nvSpPr>
        <p:spPr>
          <a:xfrm xmlns:a="http://schemas.openxmlformats.org/drawingml/2006/main">
            <a:off x="790575" y="2667000"/>
            <a:ext cx="1276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93750"/>
          </a:bodyPr>
          <a:lstStyle xmlns:a="http://schemas.openxmlformats.org/drawingml/2006/main"/>
          <a:p xmlns:a="http://schemas.openxmlformats.org/drawingml/2006/main">
            <a:pPr algn="ctr">
              <a:buNone/>
              <a:defRPr sz="1200">
                <a:solidFill>
                  <a:srgbClr val="FFFFFF"/>
                </a:solidFill>
                <a:latin typeface="Manrope"/>
                <a:ea typeface="Manrope"/>
                <a:cs typeface="Manrope"/>
              </a:defRPr>
            </a:pPr>
            <a:r>
              <a:rPr sz="1200">
                <a:solidFill>
                  <a:srgbClr val="FFFFFF"/>
                </a:solidFill>
                <a:latin typeface="Manrope"/>
                <a:ea typeface="Manrope"/>
                <a:cs typeface="Manrope"/>
              </a:rPr>
              <a:t>signature</a:t>
            </a:r>
          </a:p>
          <a:p xmlns:a="http://schemas.openxmlformats.org/drawingml/2006/main">
            <a:pPr algn="ctr">
              <a:buNone/>
              <a:defRPr sz="1200">
                <a:solidFill>
                  <a:srgbClr val="FFFFFF"/>
                </a:solidFill>
                <a:latin typeface="Manrope"/>
                <a:ea typeface="Manrope"/>
                <a:cs typeface="Manrope"/>
              </a:defRPr>
            </a:pPr>
            <a:r>
              <a:rPr sz="1200">
                <a:solidFill>
                  <a:srgbClr val="FFFFFF"/>
                </a:solidFill>
                <a:latin typeface="Manrope"/>
                <a:ea typeface="Manrope"/>
                <a:cs typeface="Manrope"/>
              </a:rPr>
              <a:t>prompt version</a:t>
            </a:r>
          </a:p>
          <a:p xmlns:a="http://schemas.openxmlformats.org/drawingml/2006/main">
            <a:pPr algn="ctr">
              <a:buNone/>
              <a:defRPr sz="1200">
                <a:solidFill>
                  <a:srgbClr val="FFFFFF"/>
                </a:solidFill>
                <a:latin typeface="Manrope"/>
                <a:ea typeface="Manrope"/>
                <a:cs typeface="Manrope"/>
              </a:defRPr>
            </a:pPr>
            <a:r>
              <a:rPr sz="1200">
                <a:solidFill>
                  <a:srgbClr val="FFFFFF"/>
                </a:solidFill>
                <a:latin typeface="Manrope"/>
                <a:ea typeface="Manrope"/>
                <a:cs typeface="Manrope"/>
              </a:rPr>
              <a:t>model</a:t>
            </a:r>
          </a:p>
        </p:txBody>
      </p:sp>
      <p:sp>
        <p:nvSpPr>
          <p:cNvPr id="108" name="fingerprint-arrow-1">
            <a:extLst xmlns:a="http://schemas.openxmlformats.org/drawingml/2006/main">
              <a:ext uri="{FF2B5EF4-FFF2-40B4-BE49-F238E27FC236}">
                <a16:creationId xmlns:a16="http://schemas.microsoft.com/office/drawing/2014/main" id="{73AEAF86-C874-4E98-9288-05AC8FE490E4}"/>
              </a:ext>
            </a:extLst>
          </p:cNvPr>
          <p:cNvSpPr>
            <a:spLocks xmlns:a="http://schemas.openxmlformats.org/drawingml/2006/main" noGrp="1"/>
          </p:cNvSpPr>
          <p:nvPr/>
        </p:nvSpPr>
        <p:spPr>
          <a:xfrm xmlns:a="http://schemas.openxmlformats.org/drawingml/2006/main">
            <a:off x="2247900" y="2724150"/>
            <a:ext cx="190500" cy="171450"/>
          </a:xfrm>
          <a:prstGeom xmlns:a="http://schemas.openxmlformats.org/drawingml/2006/main" prst="rightArrow">
            <a:avLst/>
          </a:prstGeom>
          <a:solidFill xmlns:a="http://schemas.openxmlformats.org/drawingml/2006/main">
            <a:srgbClr val="E83831"/>
          </a:solidFill>
          <a:ln xmlns:a="http://schemas.openxmlformats.org/drawingml/2006/main" w="0">
            <a:solidFill>
              <a:srgbClr val="E83831"/>
            </a:solidFill>
            <a:prstDash val="solid"/>
          </a:ln>
        </p:spPr>
      </p:sp>
      <p:sp>
        <p:nvSpPr>
          <p:cNvPr id="109" name="fingerprint-hash">
            <a:extLst xmlns:a="http://schemas.openxmlformats.org/drawingml/2006/main">
              <a:ext uri="{FF2B5EF4-FFF2-40B4-BE49-F238E27FC236}">
                <a16:creationId xmlns:a16="http://schemas.microsoft.com/office/drawing/2014/main" id="{9D552513-B90B-4ABD-A87D-AA92CA65F5FF}"/>
              </a:ext>
            </a:extLst>
          </p:cNvPr>
          <p:cNvSpPr>
            <a:spLocks xmlns:a="http://schemas.openxmlformats.org/drawingml/2006/main" noGrp="1"/>
          </p:cNvSpPr>
          <p:nvPr/>
        </p:nvSpPr>
        <p:spPr>
          <a:xfrm xmlns:a="http://schemas.openxmlformats.org/drawingml/2006/main">
            <a:off x="2476500" y="2324100"/>
            <a:ext cx="1095375" cy="971550"/>
          </a:xfrm>
          <a:prstGeom xmlns:a="http://schemas.openxmlformats.org/drawingml/2006/main" prst="roundRect">
            <a:avLst>
              <a:gd name="adj" fmla="val 11765"/>
            </a:avLst>
          </a:prstGeom>
          <a:solidFill xmlns:a="http://schemas.openxmlformats.org/drawingml/2006/main">
            <a:srgbClr val="E83831"/>
          </a:solidFill>
          <a:ln xmlns:a="http://schemas.openxmlformats.org/drawingml/2006/main" w="9525">
            <a:solidFill>
              <a:srgbClr val="4F7185"/>
            </a:solidFill>
            <a:prstDash val="solid"/>
          </a:ln>
        </p:spPr>
      </p:sp>
      <p:sp>
        <p:nvSpPr>
          <p:cNvPr id="110" name="fingerprint-hash-title">
            <a:extLst xmlns:a="http://schemas.openxmlformats.org/drawingml/2006/main">
              <a:ext uri="{FF2B5EF4-FFF2-40B4-BE49-F238E27FC236}">
                <a16:creationId xmlns:a16="http://schemas.microsoft.com/office/drawing/2014/main" id="{8069F636-076A-491A-89C2-F206F83E3F08}"/>
              </a:ext>
            </a:extLst>
          </p:cNvPr>
          <p:cNvSpPr>
            <a:spLocks xmlns:a="http://schemas.openxmlformats.org/drawingml/2006/main" noGrp="1"/>
          </p:cNvSpPr>
          <p:nvPr/>
        </p:nvSpPr>
        <p:spPr>
          <a:xfrm xmlns:a="http://schemas.openxmlformats.org/drawingml/2006/main">
            <a:off x="2552700" y="2409825"/>
            <a:ext cx="9429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1">
                <a:solidFill>
                  <a:srgbClr val="FFFFFF"/>
                </a:solidFill>
                <a:latin typeface="Manrope"/>
                <a:ea typeface="Manrope"/>
                <a:cs typeface="Manrope"/>
              </a:defRPr>
            </a:pPr>
            <a:r>
              <a:rPr sz="1350" b="1">
                <a:solidFill>
                  <a:srgbClr val="FFFFFF"/>
                </a:solidFill>
                <a:latin typeface="Manrope"/>
                <a:ea typeface="Manrope"/>
                <a:cs typeface="Manrope"/>
              </a:rPr>
              <a:t>SHA-256</a:t>
            </a:r>
          </a:p>
        </p:txBody>
      </p:sp>
      <p:sp>
        <p:nvSpPr>
          <p:cNvPr id="111" name="fingerprint-hash-body">
            <a:extLst xmlns:a="http://schemas.openxmlformats.org/drawingml/2006/main">
              <a:ext uri="{FF2B5EF4-FFF2-40B4-BE49-F238E27FC236}">
                <a16:creationId xmlns:a16="http://schemas.microsoft.com/office/drawing/2014/main" id="{26122F61-FA9C-4C75-9B28-C6C57493BDA2}"/>
              </a:ext>
            </a:extLst>
          </p:cNvPr>
          <p:cNvSpPr>
            <a:spLocks xmlns:a="http://schemas.openxmlformats.org/drawingml/2006/main" noGrp="1"/>
          </p:cNvSpPr>
          <p:nvPr/>
        </p:nvSpPr>
        <p:spPr>
          <a:xfrm xmlns:a="http://schemas.openxmlformats.org/drawingml/2006/main">
            <a:off x="2552700" y="2667000"/>
            <a:ext cx="942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100000"/>
          </a:bodyPr>
          <a:lstStyle xmlns:a="http://schemas.openxmlformats.org/drawingml/2006/main"/>
          <a:p xmlns:a="http://schemas.openxmlformats.org/drawingml/2006/main">
            <a:pPr algn="ctr">
              <a:buNone/>
              <a:defRPr sz="1200">
                <a:solidFill>
                  <a:srgbClr val="FFFFFF"/>
                </a:solidFill>
                <a:latin typeface="Manrope"/>
                <a:ea typeface="Manrope"/>
                <a:cs typeface="Manrope"/>
              </a:defRPr>
            </a:pPr>
            <a:r>
              <a:rPr sz="1200">
                <a:solidFill>
                  <a:srgbClr val="FFFFFF"/>
                </a:solidFill>
                <a:latin typeface="Manrope"/>
                <a:ea typeface="Manrope"/>
                <a:cs typeface="Manrope"/>
              </a:rPr>
              <a:t>bind context</a:t>
            </a:r>
          </a:p>
        </p:txBody>
      </p:sp>
      <p:sp>
        <p:nvSpPr>
          <p:cNvPr id="112" name="fingerprint-arrow-2">
            <a:extLst xmlns:a="http://schemas.openxmlformats.org/drawingml/2006/main">
              <a:ext uri="{FF2B5EF4-FFF2-40B4-BE49-F238E27FC236}">
                <a16:creationId xmlns:a16="http://schemas.microsoft.com/office/drawing/2014/main" id="{D03DF14B-974A-4A4B-B995-824ABE45C302}"/>
              </a:ext>
            </a:extLst>
          </p:cNvPr>
          <p:cNvSpPr>
            <a:spLocks xmlns:a="http://schemas.openxmlformats.org/drawingml/2006/main" noGrp="1"/>
          </p:cNvSpPr>
          <p:nvPr/>
        </p:nvSpPr>
        <p:spPr>
          <a:xfrm xmlns:a="http://schemas.openxmlformats.org/drawingml/2006/main">
            <a:off x="3676650" y="2724150"/>
            <a:ext cx="190500" cy="171450"/>
          </a:xfrm>
          <a:prstGeom xmlns:a="http://schemas.openxmlformats.org/drawingml/2006/main" prst="rightArrow">
            <a:avLst/>
          </a:prstGeom>
          <a:solidFill xmlns:a="http://schemas.openxmlformats.org/drawingml/2006/main">
            <a:srgbClr val="E83831"/>
          </a:solidFill>
          <a:ln xmlns:a="http://schemas.openxmlformats.org/drawingml/2006/main" w="0">
            <a:solidFill>
              <a:srgbClr val="E83831"/>
            </a:solidFill>
            <a:prstDash val="solid"/>
          </a:ln>
        </p:spPr>
      </p:sp>
      <p:sp>
        <p:nvSpPr>
          <p:cNvPr id="113" name="fingerprint-fingerprint">
            <a:extLst xmlns:a="http://schemas.openxmlformats.org/drawingml/2006/main">
              <a:ext uri="{FF2B5EF4-FFF2-40B4-BE49-F238E27FC236}">
                <a16:creationId xmlns:a16="http://schemas.microsoft.com/office/drawing/2014/main" id="{202FA2F1-81A7-4E91-A874-18ED99DE4838}"/>
              </a:ext>
            </a:extLst>
          </p:cNvPr>
          <p:cNvSpPr>
            <a:spLocks xmlns:a="http://schemas.openxmlformats.org/drawingml/2006/main" noGrp="1"/>
          </p:cNvSpPr>
          <p:nvPr/>
        </p:nvSpPr>
        <p:spPr>
          <a:xfrm xmlns:a="http://schemas.openxmlformats.org/drawingml/2006/main">
            <a:off x="3905250" y="2324100"/>
            <a:ext cx="1333500" cy="971550"/>
          </a:xfrm>
          <a:prstGeom xmlns:a="http://schemas.openxmlformats.org/drawingml/2006/main" prst="roundRect">
            <a:avLst>
              <a:gd name="adj" fmla="val 11765"/>
            </a:avLst>
          </a:prstGeom>
          <a:solidFill xmlns:a="http://schemas.openxmlformats.org/drawingml/2006/main">
            <a:srgbClr val="C0A282"/>
          </a:solidFill>
          <a:ln xmlns:a="http://schemas.openxmlformats.org/drawingml/2006/main" w="9525">
            <a:solidFill>
              <a:srgbClr val="4F7185"/>
            </a:solidFill>
            <a:prstDash val="solid"/>
          </a:ln>
        </p:spPr>
      </p:sp>
      <p:sp>
        <p:nvSpPr>
          <p:cNvPr id="114" name="fingerprint-fingerprint-title">
            <a:extLst xmlns:a="http://schemas.openxmlformats.org/drawingml/2006/main">
              <a:ext uri="{FF2B5EF4-FFF2-40B4-BE49-F238E27FC236}">
                <a16:creationId xmlns:a16="http://schemas.microsoft.com/office/drawing/2014/main" id="{53AFC738-EB27-4821-980A-6B412A68AE67}"/>
              </a:ext>
            </a:extLst>
          </p:cNvPr>
          <p:cNvSpPr>
            <a:spLocks xmlns:a="http://schemas.openxmlformats.org/drawingml/2006/main" noGrp="1"/>
          </p:cNvSpPr>
          <p:nvPr/>
        </p:nvSpPr>
        <p:spPr>
          <a:xfrm xmlns:a="http://schemas.openxmlformats.org/drawingml/2006/main">
            <a:off x="3981450" y="240982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FINGERPRINT</a:t>
            </a:r>
          </a:p>
        </p:txBody>
      </p:sp>
      <p:sp>
        <p:nvSpPr>
          <p:cNvPr id="115" name="fingerprint-fingerprint-body">
            <a:extLst xmlns:a="http://schemas.openxmlformats.org/drawingml/2006/main">
              <a:ext uri="{FF2B5EF4-FFF2-40B4-BE49-F238E27FC236}">
                <a16:creationId xmlns:a16="http://schemas.microsoft.com/office/drawing/2014/main" id="{D74A856A-5664-43BC-A224-1FA93372DD77}"/>
              </a:ext>
            </a:extLst>
          </p:cNvPr>
          <p:cNvSpPr>
            <a:spLocks xmlns:a="http://schemas.openxmlformats.org/drawingml/2006/main" noGrp="1"/>
          </p:cNvSpPr>
          <p:nvPr/>
        </p:nvSpPr>
        <p:spPr>
          <a:xfrm xmlns:a="http://schemas.openxmlformats.org/drawingml/2006/main">
            <a:off x="3981450" y="2667000"/>
            <a:ext cx="1181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100000"/>
          </a:bodyPr>
          <a:lstStyle xmlns:a="http://schemas.openxmlformats.org/drawingml/2006/main"/>
          <a:p xmlns:a="http://schemas.openxmlformats.org/drawingml/2006/main">
            <a:pPr algn="ctr">
              <a:buNone/>
              <a:defRPr sz="1200">
                <a:solidFill>
                  <a:srgbClr val="0B314F"/>
                </a:solidFill>
                <a:latin typeface="Manrope"/>
                <a:ea typeface="Manrope"/>
                <a:cs typeface="Manrope"/>
              </a:defRPr>
            </a:pPr>
            <a:r>
              <a:rPr sz="1200">
                <a:solidFill>
                  <a:srgbClr val="0B314F"/>
                </a:solidFill>
                <a:latin typeface="Manrope"/>
                <a:ea typeface="Manrope"/>
                <a:cs typeface="Manrope"/>
              </a:rPr>
              <a:t>stored with review</a:t>
            </a:r>
          </a:p>
        </p:txBody>
      </p:sp>
      <p:sp>
        <p:nvSpPr>
          <p:cNvPr id="116" name="fingerprint-match-decision">
            <a:extLst xmlns:a="http://schemas.openxmlformats.org/drawingml/2006/main">
              <a:ext uri="{FF2B5EF4-FFF2-40B4-BE49-F238E27FC236}">
                <a16:creationId xmlns:a16="http://schemas.microsoft.com/office/drawing/2014/main" id="{E93A1501-748F-468D-8FD5-8DAB4B3ADBF6}"/>
              </a:ext>
            </a:extLst>
          </p:cNvPr>
          <p:cNvSpPr>
            <a:spLocks xmlns:a="http://schemas.openxmlformats.org/drawingml/2006/main" noGrp="1"/>
          </p:cNvSpPr>
          <p:nvPr/>
        </p:nvSpPr>
        <p:spPr>
          <a:xfrm xmlns:a="http://schemas.openxmlformats.org/drawingml/2006/main">
            <a:off x="5524500" y="2409825"/>
            <a:ext cx="952500" cy="781050"/>
          </a:xfrm>
          <a:prstGeom xmlns:a="http://schemas.openxmlformats.org/drawingml/2006/main" prst="diamond">
            <a:avLst/>
          </a:prstGeom>
          <a:solidFill xmlns:a="http://schemas.openxmlformats.org/drawingml/2006/main">
            <a:srgbClr val="15465F"/>
          </a:solidFill>
          <a:ln xmlns:a="http://schemas.openxmlformats.org/drawingml/2006/main" w="19050">
            <a:solidFill>
              <a:srgbClr val="C0A282"/>
            </a:solidFill>
            <a:prstDash val="solid"/>
          </a:ln>
        </p:spPr>
        <p:txBody>
          <a:bodyPr xmlns:a="http://schemas.openxmlformats.org/drawingml/2006/main" lIns="19050" tIns="19050" rIns="19050" bIns="19050" anchor="ctr">
            <a:normAutofit fontScale="85648"/>
          </a:bodyPr>
          <a:lstStyle xmlns:a="http://schemas.openxmlformats.org/drawingml/2006/main"/>
          <a:p xmlns:a="http://schemas.openxmlformats.org/drawingml/2006/main">
            <a:pPr algn="ctr">
              <a:buNone/>
              <a:defRPr sz="1350" b="1">
                <a:solidFill>
                  <a:srgbClr val="FFFFFF"/>
                </a:solidFill>
                <a:latin typeface="Manrope"/>
                <a:ea typeface="Manrope"/>
                <a:cs typeface="Manrope"/>
              </a:defRPr>
            </a:pPr>
            <a:r>
              <a:rPr sz="1350" b="1">
                <a:solidFill>
                  <a:srgbClr val="FFFFFF"/>
                </a:solidFill>
                <a:latin typeface="Manrope"/>
                <a:ea typeface="Manrope"/>
                <a:cs typeface="Manrope"/>
              </a:rPr>
              <a:t>MATCH</a:t>
            </a:r>
          </a:p>
        </p:txBody>
      </p:sp>
      <p:sp>
        <p:nvSpPr>
          <p:cNvPr id="117" name="fingerprint-decision-arrow">
            <a:extLst xmlns:a="http://schemas.openxmlformats.org/drawingml/2006/main">
              <a:ext uri="{FF2B5EF4-FFF2-40B4-BE49-F238E27FC236}">
                <a16:creationId xmlns:a16="http://schemas.microsoft.com/office/drawing/2014/main" id="{A3279C36-C7CD-480C-B30C-E116B9831DF4}"/>
              </a:ext>
            </a:extLst>
          </p:cNvPr>
          <p:cNvSpPr>
            <a:spLocks xmlns:a="http://schemas.openxmlformats.org/drawingml/2006/main" noGrp="1"/>
          </p:cNvSpPr>
          <p:nvPr/>
        </p:nvSpPr>
        <p:spPr>
          <a:xfrm xmlns:a="http://schemas.openxmlformats.org/drawingml/2006/main">
            <a:off x="5334000" y="2724150"/>
            <a:ext cx="190500" cy="171450"/>
          </a:xfrm>
          <a:prstGeom xmlns:a="http://schemas.openxmlformats.org/drawingml/2006/main" prst="rightArrow">
            <a:avLst/>
          </a:prstGeom>
          <a:solidFill xmlns:a="http://schemas.openxmlformats.org/drawingml/2006/main">
            <a:srgbClr val="E83831"/>
          </a:solidFill>
          <a:ln xmlns:a="http://schemas.openxmlformats.org/drawingml/2006/main" w="0">
            <a:solidFill>
              <a:srgbClr val="E83831"/>
            </a:solidFill>
            <a:prstDash val="solid"/>
          </a:ln>
        </p:spPr>
      </p:sp>
      <p:sp>
        <p:nvSpPr>
          <p:cNvPr id="118" name="fingerprint-match-yes">
            <a:extLst xmlns:a="http://schemas.openxmlformats.org/drawingml/2006/main">
              <a:ext uri="{FF2B5EF4-FFF2-40B4-BE49-F238E27FC236}">
                <a16:creationId xmlns:a16="http://schemas.microsoft.com/office/drawing/2014/main" id="{74D5E6B8-6839-45E9-9D66-035CB540D642}"/>
              </a:ext>
            </a:extLst>
          </p:cNvPr>
          <p:cNvSpPr>
            <a:spLocks xmlns:a="http://schemas.openxmlformats.org/drawingml/2006/main" noGrp="1"/>
          </p:cNvSpPr>
          <p:nvPr/>
        </p:nvSpPr>
        <p:spPr>
          <a:xfrm xmlns:a="http://schemas.openxmlformats.org/drawingml/2006/main">
            <a:off x="6762750" y="2152650"/>
            <a:ext cx="1714500" cy="742950"/>
          </a:xfrm>
          <a:prstGeom xmlns:a="http://schemas.openxmlformats.org/drawingml/2006/main" prst="roundRect">
            <a:avLst>
              <a:gd name="adj" fmla="val 15385"/>
            </a:avLst>
          </a:prstGeom>
          <a:solidFill xmlns:a="http://schemas.openxmlformats.org/drawingml/2006/main">
            <a:srgbClr val="15465F"/>
          </a:solidFill>
          <a:ln xmlns:a="http://schemas.openxmlformats.org/drawingml/2006/main" w="9525">
            <a:solidFill>
              <a:srgbClr val="C0A282"/>
            </a:solidFill>
            <a:prstDash val="solid"/>
          </a:ln>
        </p:spPr>
      </p:sp>
      <p:sp>
        <p:nvSpPr>
          <p:cNvPr id="119" name="fingerprint-match-yes-text">
            <a:extLst xmlns:a="http://schemas.openxmlformats.org/drawingml/2006/main">
              <a:ext uri="{FF2B5EF4-FFF2-40B4-BE49-F238E27FC236}">
                <a16:creationId xmlns:a16="http://schemas.microsoft.com/office/drawing/2014/main" id="{4EE5A589-5A98-448E-97D4-D6291ABABDF5}"/>
              </a:ext>
            </a:extLst>
          </p:cNvPr>
          <p:cNvSpPr>
            <a:spLocks xmlns:a="http://schemas.openxmlformats.org/drawingml/2006/main" noGrp="1"/>
          </p:cNvSpPr>
          <p:nvPr/>
        </p:nvSpPr>
        <p:spPr>
          <a:xfrm xmlns:a="http://schemas.openxmlformats.org/drawingml/2006/main">
            <a:off x="6858000" y="2238375"/>
            <a:ext cx="152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78662"/>
          </a:bodyPr>
          <a:lstStyle xmlns:a="http://schemas.openxmlformats.org/drawingml/2006/main"/>
          <a:p xmlns:a="http://schemas.openxmlformats.org/drawingml/2006/main">
            <a:pPr algn="ctr">
              <a:buNone/>
              <a:defRPr sz="1275" b="1">
                <a:solidFill>
                  <a:srgbClr val="FFFFFF"/>
                </a:solidFill>
                <a:latin typeface="Manrope"/>
                <a:ea typeface="Manrope"/>
                <a:cs typeface="Manrope"/>
              </a:defRPr>
            </a:pPr>
            <a:r>
              <a:rPr sz="1275" b="1">
                <a:solidFill>
                  <a:srgbClr val="FFFFFF"/>
                </a:solidFill>
                <a:latin typeface="Manrope"/>
                <a:ea typeface="Manrope"/>
                <a:cs typeface="Manrope"/>
              </a:rPr>
              <a:t>YES • default-view mask</a:t>
            </a:r>
          </a:p>
          <a:p xmlns:a="http://schemas.openxmlformats.org/drawingml/2006/main">
            <a:pPr algn="ctr">
              <a:buNone/>
              <a:defRPr sz="1275" b="1">
                <a:solidFill>
                  <a:srgbClr val="FFFFFF"/>
                </a:solidFill>
                <a:latin typeface="Manrope"/>
                <a:ea typeface="Manrope"/>
                <a:cs typeface="Manrope"/>
              </a:defRPr>
            </a:pPr>
            <a:r>
              <a:rPr sz="1275" b="1">
                <a:solidFill>
                  <a:srgbClr val="FFFFFF"/>
                </a:solidFill>
                <a:latin typeface="Manrope"/>
                <a:ea typeface="Manrope"/>
                <a:cs typeface="Manrope"/>
              </a:rPr>
              <a:t>calls + records continue</a:t>
            </a:r>
          </a:p>
        </p:txBody>
      </p:sp>
      <p:sp>
        <p:nvSpPr>
          <p:cNvPr id="120" name="fingerprint-match-no">
            <a:extLst xmlns:a="http://schemas.openxmlformats.org/drawingml/2006/main">
              <a:ext uri="{FF2B5EF4-FFF2-40B4-BE49-F238E27FC236}">
                <a16:creationId xmlns:a16="http://schemas.microsoft.com/office/drawing/2014/main" id="{5351B488-83F2-43BD-9785-BABCA0ADAD0F}"/>
              </a:ext>
            </a:extLst>
          </p:cNvPr>
          <p:cNvSpPr>
            <a:spLocks xmlns:a="http://schemas.openxmlformats.org/drawingml/2006/main" noGrp="1"/>
          </p:cNvSpPr>
          <p:nvPr/>
        </p:nvSpPr>
        <p:spPr>
          <a:xfrm xmlns:a="http://schemas.openxmlformats.org/drawingml/2006/main">
            <a:off x="6762750" y="3009900"/>
            <a:ext cx="1714500" cy="590550"/>
          </a:xfrm>
          <a:prstGeom xmlns:a="http://schemas.openxmlformats.org/drawingml/2006/main" prst="roundRect">
            <a:avLst>
              <a:gd name="adj" fmla="val 19355"/>
            </a:avLst>
          </a:prstGeom>
          <a:solidFill xmlns:a="http://schemas.openxmlformats.org/drawingml/2006/main">
            <a:srgbClr val="E83831"/>
          </a:solidFill>
          <a:ln xmlns:a="http://schemas.openxmlformats.org/drawingml/2006/main" w="9525">
            <a:solidFill>
              <a:srgbClr val="F7A6A1"/>
            </a:solidFill>
            <a:prstDash val="solid"/>
          </a:ln>
        </p:spPr>
      </p:sp>
      <p:sp>
        <p:nvSpPr>
          <p:cNvPr id="121" name="fingerprint-match-no-text">
            <a:extLst xmlns:a="http://schemas.openxmlformats.org/drawingml/2006/main">
              <a:ext uri="{FF2B5EF4-FFF2-40B4-BE49-F238E27FC236}">
                <a16:creationId xmlns:a16="http://schemas.microsoft.com/office/drawing/2014/main" id="{76D8290F-26F4-4A1F-8ECD-F2C9C9515013}"/>
              </a:ext>
            </a:extLst>
          </p:cNvPr>
          <p:cNvSpPr>
            <a:spLocks xmlns:a="http://schemas.openxmlformats.org/drawingml/2006/main" noGrp="1"/>
          </p:cNvSpPr>
          <p:nvPr/>
        </p:nvSpPr>
        <p:spPr>
          <a:xfrm xmlns:a="http://schemas.openxmlformats.org/drawingml/2006/main">
            <a:off x="6858000" y="3057525"/>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75163"/>
          </a:bodyPr>
          <a:lstStyle xmlns:a="http://schemas.openxmlformats.org/drawingml/2006/main"/>
          <a:p xmlns:a="http://schemas.openxmlformats.org/drawingml/2006/main">
            <a:pPr algn="ctr">
              <a:buNone/>
              <a:defRPr sz="1275" b="1">
                <a:solidFill>
                  <a:srgbClr val="FFFFFF"/>
                </a:solidFill>
                <a:latin typeface="Manrope"/>
                <a:ea typeface="Manrope"/>
                <a:cs typeface="Manrope"/>
              </a:defRPr>
            </a:pPr>
            <a:r>
              <a:rPr sz="1275" b="1">
                <a:solidFill>
                  <a:srgbClr val="FFFFFF"/>
                </a:solidFill>
                <a:latin typeface="Manrope"/>
                <a:ea typeface="Manrope"/>
                <a:cs typeface="Manrope"/>
              </a:rPr>
              <a:t>NO • fresh review</a:t>
            </a:r>
          </a:p>
          <a:p xmlns:a="http://schemas.openxmlformats.org/drawingml/2006/main">
            <a:pPr algn="ctr">
              <a:buNone/>
              <a:defRPr sz="1275" b="1">
                <a:solidFill>
                  <a:srgbClr val="FFFFFF"/>
                </a:solidFill>
                <a:latin typeface="Manrope"/>
                <a:ea typeface="Manrope"/>
                <a:cs typeface="Manrope"/>
              </a:defRPr>
            </a:pPr>
            <a:r>
              <a:rPr sz="1275" b="1">
                <a:solidFill>
                  <a:srgbClr val="FFFFFF"/>
                </a:solidFill>
                <a:latin typeface="Manrope"/>
                <a:ea typeface="Manrope"/>
                <a:cs typeface="Manrope"/>
              </a:rPr>
              <a:t>model/prompt change resets</a:t>
            </a:r>
          </a:p>
        </p:txBody>
      </p:sp>
      <p:sp>
        <p:nvSpPr>
          <p:cNvPr id="122" name="fingerprint-yes-branch">
            <a:extLst xmlns:a="http://schemas.openxmlformats.org/drawingml/2006/main">
              <a:ext uri="{FF2B5EF4-FFF2-40B4-BE49-F238E27FC236}">
                <a16:creationId xmlns:a16="http://schemas.microsoft.com/office/drawing/2014/main" id="{BE2E684A-FB6D-47E8-B1E8-DBB2675282D7}"/>
              </a:ext>
            </a:extLst>
          </p:cNvPr>
          <p:cNvSpPr>
            <a:spLocks xmlns:a="http://schemas.openxmlformats.org/drawingml/2006/main" noGrp="1"/>
          </p:cNvSpPr>
          <p:nvPr/>
        </p:nvSpPr>
        <p:spPr>
          <a:xfrm xmlns:a="http://schemas.openxmlformats.org/drawingml/2006/main">
            <a:off x="6477000" y="2600325"/>
            <a:ext cx="285750" cy="0"/>
          </a:xfrm>
          <a:prstGeom xmlns:a="http://schemas.openxmlformats.org/drawingml/2006/main" prst="line">
            <a:avLst/>
          </a:prstGeom>
          <a:noFill xmlns:a="http://schemas.openxmlformats.org/drawingml/2006/main"/>
          <a:ln xmlns:a="http://schemas.openxmlformats.org/drawingml/2006/main" w="19050">
            <a:solidFill>
              <a:srgbClr val="C0A282"/>
            </a:solidFill>
            <a:prstDash val="solid"/>
          </a:ln>
        </p:spPr>
      </p:sp>
      <p:sp>
        <p:nvSpPr>
          <p:cNvPr id="123" name="fingerprint-no-branch">
            <a:extLst xmlns:a="http://schemas.openxmlformats.org/drawingml/2006/main">
              <a:ext uri="{FF2B5EF4-FFF2-40B4-BE49-F238E27FC236}">
                <a16:creationId xmlns:a16="http://schemas.microsoft.com/office/drawing/2014/main" id="{99C81341-C49D-4D9D-95A3-FF937B9BAE1C}"/>
              </a:ext>
            </a:extLst>
          </p:cNvPr>
          <p:cNvSpPr>
            <a:spLocks xmlns:a="http://schemas.openxmlformats.org/drawingml/2006/main" noGrp="1"/>
          </p:cNvSpPr>
          <p:nvPr/>
        </p:nvSpPr>
        <p:spPr>
          <a:xfrm xmlns:a="http://schemas.openxmlformats.org/drawingml/2006/main">
            <a:off x="6200775" y="3190875"/>
            <a:ext cx="561975" cy="133350"/>
          </a:xfrm>
          <a:prstGeom xmlns:a="http://schemas.openxmlformats.org/drawingml/2006/main" prst="line">
            <a:avLst/>
          </a:prstGeom>
          <a:noFill xmlns:a="http://schemas.openxmlformats.org/drawingml/2006/main"/>
          <a:ln xmlns:a="http://schemas.openxmlformats.org/drawingml/2006/main" w="19050">
            <a:solidFill>
              <a:srgbClr val="E83831"/>
            </a:solidFill>
            <a:prstDash val="solid"/>
          </a:ln>
        </p:spPr>
      </p:sp>
      <p:sp>
        <p:nvSpPr>
          <p:cNvPr id="124" name="fingerprint-chip-1">
            <a:extLst xmlns:a="http://schemas.openxmlformats.org/drawingml/2006/main">
              <a:ext uri="{FF2B5EF4-FFF2-40B4-BE49-F238E27FC236}">
                <a16:creationId xmlns:a16="http://schemas.microsoft.com/office/drawing/2014/main" id="{CCAD2EF5-1ACC-41F3-ABAB-9C501ADEC311}"/>
              </a:ext>
            </a:extLst>
          </p:cNvPr>
          <p:cNvSpPr>
            <a:spLocks xmlns:a="http://schemas.openxmlformats.org/drawingml/2006/main" noGrp="1"/>
          </p:cNvSpPr>
          <p:nvPr/>
        </p:nvSpPr>
        <p:spPr>
          <a:xfrm xmlns:a="http://schemas.openxmlformats.org/drawingml/2006/main">
            <a:off x="714375" y="3657600"/>
            <a:ext cx="2333625" cy="323850"/>
          </a:xfrm>
          <a:prstGeom xmlns:a="http://schemas.openxmlformats.org/drawingml/2006/main" prst="roundRect">
            <a:avLst>
              <a:gd name="adj" fmla="val 50000"/>
            </a:avLst>
          </a:prstGeom>
          <a:solidFill xmlns:a="http://schemas.openxmlformats.org/drawingml/2006/main">
            <a:srgbClr val="0B344F"/>
          </a:solidFill>
          <a:ln xmlns:a="http://schemas.openxmlformats.org/drawingml/2006/main" w="9525">
            <a:solidFill>
              <a:srgbClr val="4F7185"/>
            </a:solidFill>
            <a:prstDash val="solid"/>
          </a:ln>
        </p:spPr>
      </p:sp>
      <p:sp>
        <p:nvSpPr>
          <p:cNvPr id="125" name="fingerprint-chip-text-1">
            <a:extLst xmlns:a="http://schemas.openxmlformats.org/drawingml/2006/main">
              <a:ext uri="{FF2B5EF4-FFF2-40B4-BE49-F238E27FC236}">
                <a16:creationId xmlns:a16="http://schemas.microsoft.com/office/drawing/2014/main" id="{940C7AF5-189C-4C27-A1B7-0B3649544CF2}"/>
              </a:ext>
            </a:extLst>
          </p:cNvPr>
          <p:cNvSpPr>
            <a:spLocks xmlns:a="http://schemas.openxmlformats.org/drawingml/2006/main" noGrp="1"/>
          </p:cNvSpPr>
          <p:nvPr/>
        </p:nvSpPr>
        <p:spPr>
          <a:xfrm xmlns:a="http://schemas.openxmlformats.org/drawingml/2006/main">
            <a:off x="771525" y="3676650"/>
            <a:ext cx="22193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100000"/>
          </a:bodyPr>
          <a:lstStyle xmlns:a="http://schemas.openxmlformats.org/drawingml/2006/main"/>
          <a:p xmlns:a="http://schemas.openxmlformats.org/drawingml/2006/main">
            <a:pPr algn="ctr">
              <a:buNone/>
              <a:defRPr sz="1275" b="1">
                <a:solidFill>
                  <a:srgbClr val="FFFFFF"/>
                </a:solidFill>
                <a:latin typeface="Manrope"/>
                <a:ea typeface="Manrope"/>
                <a:cs typeface="Manrope"/>
              </a:defRPr>
            </a:pPr>
            <a:r>
              <a:rPr sz="1275" b="1">
                <a:solidFill>
                  <a:srgbClr val="FFFFFF"/>
                </a:solidFill>
                <a:latin typeface="Manrope"/>
                <a:ea typeface="Manrope"/>
                <a:cs typeface="Manrope"/>
              </a:rPr>
              <a:t>27/30 later rows masked</a:t>
            </a:r>
          </a:p>
        </p:txBody>
      </p:sp>
      <p:sp>
        <p:nvSpPr>
          <p:cNvPr id="126" name="fingerprint-chip-2">
            <a:extLst xmlns:a="http://schemas.openxmlformats.org/drawingml/2006/main">
              <a:ext uri="{FF2B5EF4-FFF2-40B4-BE49-F238E27FC236}">
                <a16:creationId xmlns:a16="http://schemas.microsoft.com/office/drawing/2014/main" id="{F08215B5-D213-4287-BFA3-A1EEB73CEE82}"/>
              </a:ext>
            </a:extLst>
          </p:cNvPr>
          <p:cNvSpPr>
            <a:spLocks xmlns:a="http://schemas.openxmlformats.org/drawingml/2006/main" noGrp="1"/>
          </p:cNvSpPr>
          <p:nvPr/>
        </p:nvSpPr>
        <p:spPr>
          <a:xfrm xmlns:a="http://schemas.openxmlformats.org/drawingml/2006/main">
            <a:off x="3190875" y="3657600"/>
            <a:ext cx="2428875" cy="323850"/>
          </a:xfrm>
          <a:prstGeom xmlns:a="http://schemas.openxmlformats.org/drawingml/2006/main" prst="roundRect">
            <a:avLst>
              <a:gd name="adj" fmla="val 50000"/>
            </a:avLst>
          </a:prstGeom>
          <a:solidFill xmlns:a="http://schemas.openxmlformats.org/drawingml/2006/main">
            <a:srgbClr val="0B344F"/>
          </a:solidFill>
          <a:ln xmlns:a="http://schemas.openxmlformats.org/drawingml/2006/main" w="9525">
            <a:solidFill>
              <a:srgbClr val="4F7185"/>
            </a:solidFill>
            <a:prstDash val="solid"/>
          </a:ln>
        </p:spPr>
      </p:sp>
      <p:sp>
        <p:nvSpPr>
          <p:cNvPr id="127" name="fingerprint-chip-text-2">
            <a:extLst xmlns:a="http://schemas.openxmlformats.org/drawingml/2006/main">
              <a:ext uri="{FF2B5EF4-FFF2-40B4-BE49-F238E27FC236}">
                <a16:creationId xmlns:a16="http://schemas.microsoft.com/office/drawing/2014/main" id="{EDA70C94-6AAA-4E44-A761-FD3005417DD7}"/>
              </a:ext>
            </a:extLst>
          </p:cNvPr>
          <p:cNvSpPr>
            <a:spLocks xmlns:a="http://schemas.openxmlformats.org/drawingml/2006/main" noGrp="1"/>
          </p:cNvSpPr>
          <p:nvPr/>
        </p:nvSpPr>
        <p:spPr>
          <a:xfrm xmlns:a="http://schemas.openxmlformats.org/drawingml/2006/main">
            <a:off x="3248025" y="3676650"/>
            <a:ext cx="2314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89432"/>
          </a:bodyPr>
          <a:lstStyle xmlns:a="http://schemas.openxmlformats.org/drawingml/2006/main"/>
          <a:p xmlns:a="http://schemas.openxmlformats.org/drawingml/2006/main">
            <a:pPr algn="ctr">
              <a:buNone/>
              <a:defRPr sz="1275" b="1">
                <a:solidFill>
                  <a:srgbClr val="FFFFFF"/>
                </a:solidFill>
                <a:latin typeface="Manrope"/>
                <a:ea typeface="Manrope"/>
                <a:cs typeface="Manrope"/>
              </a:defRPr>
            </a:pPr>
            <a:r>
              <a:rPr sz="1275" b="1">
                <a:solidFill>
                  <a:srgbClr val="FFFFFF"/>
                </a:solidFill>
                <a:latin typeface="Manrope"/>
                <a:ea typeface="Manrope"/>
                <a:cs typeface="Manrope"/>
              </a:rPr>
              <a:t>30/30 calls and records retained</a:t>
            </a:r>
          </a:p>
        </p:txBody>
      </p:sp>
      <p:sp>
        <p:nvSpPr>
          <p:cNvPr id="128" name="fingerprint-chip-3">
            <a:extLst xmlns:a="http://schemas.openxmlformats.org/drawingml/2006/main">
              <a:ext uri="{FF2B5EF4-FFF2-40B4-BE49-F238E27FC236}">
                <a16:creationId xmlns:a16="http://schemas.microsoft.com/office/drawing/2014/main" id="{76496840-63B8-4891-B6E5-FA4173AF41B3}"/>
              </a:ext>
            </a:extLst>
          </p:cNvPr>
          <p:cNvSpPr>
            <a:spLocks xmlns:a="http://schemas.openxmlformats.org/drawingml/2006/main" noGrp="1"/>
          </p:cNvSpPr>
          <p:nvPr/>
        </p:nvSpPr>
        <p:spPr>
          <a:xfrm xmlns:a="http://schemas.openxmlformats.org/drawingml/2006/main">
            <a:off x="5762625" y="3657600"/>
            <a:ext cx="2714625" cy="323850"/>
          </a:xfrm>
          <a:prstGeom xmlns:a="http://schemas.openxmlformats.org/drawingml/2006/main" prst="roundRect">
            <a:avLst>
              <a:gd name="adj" fmla="val 50000"/>
            </a:avLst>
          </a:prstGeom>
          <a:solidFill xmlns:a="http://schemas.openxmlformats.org/drawingml/2006/main">
            <a:srgbClr val="0B344F"/>
          </a:solidFill>
          <a:ln xmlns:a="http://schemas.openxmlformats.org/drawingml/2006/main" w="9525">
            <a:solidFill>
              <a:srgbClr val="4F7185"/>
            </a:solidFill>
            <a:prstDash val="solid"/>
          </a:ln>
        </p:spPr>
      </p:sp>
      <p:sp>
        <p:nvSpPr>
          <p:cNvPr id="129" name="fingerprint-chip-text-3">
            <a:extLst xmlns:a="http://schemas.openxmlformats.org/drawingml/2006/main">
              <a:ext uri="{FF2B5EF4-FFF2-40B4-BE49-F238E27FC236}">
                <a16:creationId xmlns:a16="http://schemas.microsoft.com/office/drawing/2014/main" id="{09DB5C57-3845-482C-833E-3C375EDB0D84}"/>
              </a:ext>
            </a:extLst>
          </p:cNvPr>
          <p:cNvSpPr>
            <a:spLocks xmlns:a="http://schemas.openxmlformats.org/drawingml/2006/main" noGrp="1"/>
          </p:cNvSpPr>
          <p:nvPr/>
        </p:nvSpPr>
        <p:spPr>
          <a:xfrm xmlns:a="http://schemas.openxmlformats.org/drawingml/2006/main">
            <a:off x="5819775" y="3676650"/>
            <a:ext cx="26003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100000"/>
          </a:bodyPr>
          <a:lstStyle xmlns:a="http://schemas.openxmlformats.org/drawingml/2006/main"/>
          <a:p xmlns:a="http://schemas.openxmlformats.org/drawingml/2006/main">
            <a:pPr algn="ctr">
              <a:buNone/>
              <a:defRPr sz="1275" b="1">
                <a:solidFill>
                  <a:srgbClr val="FFFFFF"/>
                </a:solidFill>
                <a:latin typeface="Manrope"/>
                <a:ea typeface="Manrope"/>
                <a:cs typeface="Manrope"/>
              </a:defRPr>
            </a:pPr>
            <a:r>
              <a:rPr sz="1275" b="1">
                <a:solidFill>
                  <a:srgbClr val="FFFFFF"/>
                </a:solidFill>
                <a:latin typeface="Manrope"/>
                <a:ea typeface="Manrope"/>
                <a:cs typeface="Manrope"/>
              </a:rPr>
              <a:t>high + critical always visible</a:t>
            </a:r>
          </a:p>
        </p:txBody>
      </p:sp>
    </p:spTree>
    <p:extLst>
      <p:ext uri="{BB962C8B-B14F-4D97-AF65-F5344CB8AC3E}">
        <p14:creationId xmlns:p14="http://schemas.microsoft.com/office/powerpoint/2010/main" val="202713632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7" name="Google Shape;77;g3ba14ccda94_0_19">
            <a:extLst xmlns:a="http://schemas.openxmlformats.org/drawingml/2006/main">
              <a:ext uri="{FF2B5EF4-FFF2-40B4-BE49-F238E27FC236}">
                <a16:creationId xmlns:a16="http://schemas.microsoft.com/office/drawing/2014/main" id="{5BB0AB44-08D6-1BF3-91CA-740D156963FF}"/>
              </a:ext>
            </a:extLst>
          </p:cNvPr>
          <p:cNvSpPr>
            <a:spLocks xmlns:a="http://schemas.openxmlformats.org/drawingml/2006/main" noGrp="1"/>
          </p:cNvSpPr>
          <p:nvPr>
            <p:ph type="title" idx="0"/>
          </p:nvPr>
        </p:nvSpPr>
        <p:spPr>
          <a:xfrm xmlns:a="http://schemas.openxmlformats.org/drawingml/2006/main">
            <a:off x="612375" y="965400"/>
            <a:ext cx="6572250" cy="47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66957"/>
          </a:bodyPr>
          <a:lstStyle xmlns:a="http://schemas.openxmlformats.org/drawingml/2006/main"/>
          <a:p xmlns:a="http://schemas.openxmlformats.org/drawingml/2006/main">
            <a:pPr marL="0" lvl="0" indent="0" algn="l">
              <a:lnSpc>
                <a:spcPct val="100000"/>
              </a:lnSpc>
              <a:spcBef>
                <a:spcPts val="0"/>
              </a:spcBef>
              <a:spcAft>
                <a:spcPts val="0"/>
              </a:spcAft>
              <a:buSzPts val="2800"/>
              <a:buNone/>
              <a:defRPr sz="2850" b="1">
                <a:solidFill>
                  <a:srgbClr val="E83831"/>
                </a:solidFill>
                <a:latin typeface="Afacad Flux"/>
                <a:ea typeface="Afacad Flux"/>
                <a:cs typeface="Afacad Flux"/>
              </a:defRPr>
            </a:pPr>
            <a:r>
              <a:rPr sz="2850" b="1">
                <a:solidFill>
                  <a:srgbClr val="E83831"/>
                </a:solidFill>
                <a:latin typeface="Afacad Flux"/>
                <a:ea typeface="Afacad Flux"/>
                <a:cs typeface="Afacad Flux"/>
              </a:rPr>
              <a:t>Evaluation keeps evidence claims separate</a:t>
            </a:r>
            <a:endParaRPr sz="2300" b="1">
              <a:solidFill>
                <a:srgbClr val="E83831"/>
              </a:solidFill>
              <a:latin typeface="Afacad Flux"/>
              <a:ea typeface="Afacad Flux"/>
              <a:cs typeface="Afacad Flux"/>
            </a:endParaRPr>
          </a:p>
        </p:txBody>
      </p:sp>
      <p:sp>
        <p:nvSpPr>
          <p:cNvPr id="78" name="Google Shape;78;g3ba14ccda94_0_19">
            <a:extLst xmlns:a="http://schemas.openxmlformats.org/drawingml/2006/main">
              <a:ext uri="{FF2B5EF4-FFF2-40B4-BE49-F238E27FC236}">
                <a16:creationId xmlns:a16="http://schemas.microsoft.com/office/drawing/2014/main" id="{97D9ADB7-0603-2DBC-A1B2-213E59870FF7}"/>
              </a:ext>
            </a:extLst>
          </p:cNvPr>
          <p:cNvSpPr>
            <a:spLocks xmlns:a="http://schemas.openxmlformats.org/drawingml/2006/main" noGrp="1"/>
          </p:cNvSpPr>
          <p:nvPr>
            <p:ph type="body" idx="1"/>
          </p:nvPr>
        </p:nvSpPr>
        <p:spPr>
          <a:xfrm xmlns:a="http://schemas.openxmlformats.org/drawingml/2006/main">
            <a:off x="617696" y="4114800"/>
            <a:ext cx="8214836"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94332"/>
          </a:bodyPr>
          <a:lstStyle xmlns:a="http://schemas.openxmlformats.org/drawingml/2006/main"/>
          <a:p xmlns:a="http://schemas.openxmlformats.org/drawingml/2006/main">
            <a:pPr marL="152400" lvl="0" indent="0" algn="ctr">
              <a:lnSpc>
                <a:spcPct val="100000"/>
              </a:lnSpc>
              <a:spcBef>
                <a:spcPts val="0"/>
              </a:spcBef>
              <a:spcAft>
                <a:spcPts val="0"/>
              </a:spcAft>
              <a:buClr>
                <a:srgbClr val="E83831"/>
              </a:buClr>
              <a:buSzPts val="1200"/>
              <a:buNone/>
              <a:defRPr sz="1275" b="1">
                <a:solidFill>
                  <a:srgbClr val="09314F"/>
                </a:solidFill>
                <a:latin typeface="Manrope"/>
                <a:ea typeface="Manrope"/>
                <a:cs typeface="Manrope"/>
              </a:defRPr>
            </a:pPr>
            <a:r>
              <a:rPr sz="1275" b="1">
                <a:solidFill>
                  <a:srgbClr val="09314F"/>
                </a:solidFill>
                <a:latin typeface="Manrope"/>
                <a:ea typeface="Manrope"/>
                <a:cs typeface="Manrope"/>
              </a:rPr>
              <a:t>Design Science • controlled and researcher-observed evidence • operational field effectiveness not tested</a:t>
            </a:r>
          </a:p>
        </p:txBody>
      </p:sp>
      <p:cxnSp>
        <p:nvCxnSpPr>
          <p:cNvPr id="110" name="Google Shape;80;g3ba14ccda94_0_19"/>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B6997F"/>
            </a:solidFill>
            <a:prstDash val="solid"/>
            <a:round/>
            <a:headEnd type="none" w="med" len="med"/>
            <a:tailEnd type="none" w="med" len="med"/>
          </a:ln>
        </p:spPr>
      </p:cxnSp>
      <p:sp>
        <p:nvSpPr>
          <p:cNvPr id="81" name="Google Shape;81;g3ba14ccda94_0_19">
            <a:extLst xmlns:a="http://schemas.openxmlformats.org/drawingml/2006/main">
              <a:ext uri="{FF2B5EF4-FFF2-40B4-BE49-F238E27FC236}">
                <a16:creationId xmlns:a16="http://schemas.microsoft.com/office/drawing/2014/main" id="{79DBF484-7568-C63F-3A19-08308D7B586B}"/>
              </a:ext>
            </a:extLst>
          </p:cNvPr>
          <p:cNvSpPr>
            <a:spLocks xmlns:a="http://schemas.openxmlformats.org/drawingml/2006/main" noGrp="1"/>
          </p:cNvSpPr>
          <p:nvPr/>
        </p:nvSpPr>
        <p:spPr>
          <a:xfrm xmlns:a="http://schemas.openxmlformats.org/drawingml/2006/main">
            <a:off x="594524" y="349855"/>
            <a:ext cx="1073501"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0B314F"/>
                </a:solidFill>
                <a:latin typeface="Afacad Flux"/>
                <a:ea typeface="Afacad Flux"/>
                <a:cs typeface="Afacad Flux"/>
              </a:defRPr>
            </a:pPr>
            <a:r>
              <a:rPr sz="1200" b="1" i="0" u="none" cap="none">
                <a:solidFill>
                  <a:srgbClr val="0B314F"/>
                </a:solidFill>
                <a:latin typeface="Afacad Flux"/>
                <a:ea typeface="Afacad Flux"/>
                <a:cs typeface="Afacad Flux"/>
              </a:rPr>
              <a:t>Project Defence</a:t>
            </a:r>
            <a:endParaRPr sz="1000" b="1" i="0" u="none" cap="none">
              <a:solidFill>
                <a:srgbClr val="0B314F"/>
              </a:solidFill>
              <a:latin typeface="Afacad Flux"/>
              <a:ea typeface="Afacad Flux"/>
              <a:cs typeface="Afacad Flux"/>
            </a:endParaRPr>
          </a:p>
        </p:txBody>
      </p:sp>
      <p:pic>
        <p:nvPicPr>
          <p:cNvPr id="112" name="Picture 1"/>
          <p:cNvPicPr>
            <a:picLocks xmlns:a="http://schemas.openxmlformats.org/drawingml/2006/main" noChangeAspect="1"/>
          </p:cNvPicPr>
          <p:nvPr/>
        </p:nvPicPr>
        <p:blipFill>
          <a:blip xmlns:r="http://schemas.openxmlformats.org/officeDocument/2006/relationships" xmlns:a="http://schemas.openxmlformats.org/drawingml/2006/main" r:embed="R61f756ee2db0457e"/>
          <a:stretch xmlns:a="http://schemas.openxmlformats.org/drawingml/2006/main">
            <a:fillRect l="0" t="0" r="0" b="0"/>
          </a:stretch>
        </p:blipFill>
        <p:spPr>
          <a:xfrm xmlns:a="http://schemas.openxmlformats.org/drawingml/2006/main">
            <a:off x="7125672" y="239527"/>
            <a:ext cx="1591055" cy="559355"/>
          </a:xfrm>
          <a:prstGeom xmlns:a="http://schemas.openxmlformats.org/drawingml/2006/main" prst="rect">
            <a:avLst/>
          </a:prstGeom>
        </p:spPr>
      </p:pic>
      <p:sp>
        <p:nvSpPr>
          <p:cNvPr id="91" name="evidence-card-1">
            <a:extLst xmlns:a="http://schemas.openxmlformats.org/drawingml/2006/main">
              <a:ext uri="{FF2B5EF4-FFF2-40B4-BE49-F238E27FC236}">
                <a16:creationId xmlns:a16="http://schemas.microsoft.com/office/drawing/2014/main" id="{4FDABFCC-5C62-4F14-9B8D-46418E3272FE}"/>
              </a:ext>
            </a:extLst>
          </p:cNvPr>
          <p:cNvSpPr>
            <a:spLocks xmlns:a="http://schemas.openxmlformats.org/drawingml/2006/main" noGrp="1"/>
          </p:cNvSpPr>
          <p:nvPr/>
        </p:nvSpPr>
        <p:spPr>
          <a:xfrm xmlns:a="http://schemas.openxmlformats.org/drawingml/2006/main">
            <a:off x="714375" y="1981200"/>
            <a:ext cx="2286000" cy="1885950"/>
          </a:xfrm>
          <a:prstGeom xmlns:a="http://schemas.openxmlformats.org/drawingml/2006/main" prst="roundRect">
            <a:avLst>
              <a:gd name="adj" fmla="val 6061"/>
            </a:avLst>
          </a:prstGeom>
          <a:solidFill xmlns:a="http://schemas.openxmlformats.org/drawingml/2006/main">
            <a:srgbClr val="F5F7F8"/>
          </a:solidFill>
          <a:ln xmlns:a="http://schemas.openxmlformats.org/drawingml/2006/main" w="9525">
            <a:solidFill>
              <a:srgbClr val="C8D2D8"/>
            </a:solidFill>
            <a:prstDash val="solid"/>
          </a:ln>
        </p:spPr>
        <p:txBody>
          <a:bodyPr xmlns:a="http://schemas.openxmlformats.org/drawingml/2006/main" wrap="square" lIns="114300" tIns="114300" rIns="114300" bIns="95250" anchor="ctr">
            <a:normAutofit fontScale="100000"/>
          </a:bodyPr>
          <a:lstStyle xmlns:a="http://schemas.openxmlformats.org/drawingml/2006/main"/>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SOFTWARE</a:t>
            </a:r>
          </a:p>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148</a:t>
            </a:r>
          </a:p>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tests passed</a:t>
            </a:r>
          </a:p>
          <a:p xmlns:a="http://schemas.openxmlformats.org/drawingml/2006/main">
            <a:pPr algn="ctr">
              <a:buNone/>
              <a:defRPr sz="825">
                <a:solidFill>
                  <a:srgbClr val="0B314F"/>
                </a:solidFill>
                <a:latin typeface="Manrope"/>
                <a:ea typeface="Manrope"/>
                <a:cs typeface="Manrope"/>
              </a:defRPr>
            </a:pPr>
            <a:r>
              <a:rPr sz="825">
                <a:solidFill>
                  <a:srgbClr val="0B314F"/>
                </a:solidFill>
                <a:latin typeface="Manrope"/>
                <a:ea typeface="Manrope"/>
                <a:cs typeface="Manrope"/>
              </a:rPr>
              <a:t>87% line coverage
five targeted modules at 100%</a:t>
            </a:r>
          </a:p>
        </p:txBody>
      </p:sp>
      <p:sp>
        <p:nvSpPr>
          <p:cNvPr id="92" name="evidence-card-accent-1">
            <a:extLst xmlns:a="http://schemas.openxmlformats.org/drawingml/2006/main">
              <a:ext uri="{FF2B5EF4-FFF2-40B4-BE49-F238E27FC236}">
                <a16:creationId xmlns:a16="http://schemas.microsoft.com/office/drawing/2014/main" id="{D010B48C-36CF-4B1B-8378-E56E9ECF8849}"/>
              </a:ext>
            </a:extLst>
          </p:cNvPr>
          <p:cNvSpPr>
            <a:spLocks xmlns:a="http://schemas.openxmlformats.org/drawingml/2006/main" noGrp="1"/>
          </p:cNvSpPr>
          <p:nvPr/>
        </p:nvSpPr>
        <p:spPr>
          <a:xfrm xmlns:a="http://schemas.openxmlformats.org/drawingml/2006/main">
            <a:off x="714375" y="1981200"/>
            <a:ext cx="2286000" cy="66675"/>
          </a:xfrm>
          <a:prstGeom xmlns:a="http://schemas.openxmlformats.org/drawingml/2006/main" prst="rect">
            <a:avLst/>
          </a:prstGeom>
          <a:solidFill xmlns:a="http://schemas.openxmlformats.org/drawingml/2006/main">
            <a:srgbClr val="0B314F"/>
          </a:solidFill>
          <a:ln xmlns:a="http://schemas.openxmlformats.org/drawingml/2006/main" w="0">
            <a:solidFill>
              <a:srgbClr val="0B314F"/>
            </a:solidFill>
            <a:prstDash val="solid"/>
          </a:ln>
        </p:spPr>
      </p:sp>
      <p:sp>
        <p:nvSpPr>
          <p:cNvPr id="93" name="evidence-divider-1">
            <a:extLst xmlns:a="http://schemas.openxmlformats.org/drawingml/2006/main">
              <a:ext uri="{FF2B5EF4-FFF2-40B4-BE49-F238E27FC236}">
                <a16:creationId xmlns:a16="http://schemas.microsoft.com/office/drawing/2014/main" id="{BEE53D62-3712-4CE2-A53B-DEE2F62F5ED1}"/>
              </a:ext>
            </a:extLst>
          </p:cNvPr>
          <p:cNvSpPr>
            <a:spLocks xmlns:a="http://schemas.openxmlformats.org/drawingml/2006/main" noGrp="1"/>
          </p:cNvSpPr>
          <p:nvPr/>
        </p:nvSpPr>
        <p:spPr>
          <a:xfrm xmlns:a="http://schemas.openxmlformats.org/drawingml/2006/main">
            <a:off x="981075" y="3276600"/>
            <a:ext cx="1752600" cy="0"/>
          </a:xfrm>
          <a:prstGeom xmlns:a="http://schemas.openxmlformats.org/drawingml/2006/main" prst="line">
            <a:avLst/>
          </a:prstGeom>
          <a:noFill xmlns:a="http://schemas.openxmlformats.org/drawingml/2006/main"/>
          <a:ln xmlns:a="http://schemas.openxmlformats.org/drawingml/2006/main" w="9525">
            <a:solidFill>
              <a:srgbClr val="D7DEE2"/>
            </a:solidFill>
            <a:prstDash val="solid"/>
          </a:ln>
        </p:spPr>
      </p:sp>
      <p:sp>
        <p:nvSpPr>
          <p:cNvPr id="94" name="evidence-card-2">
            <a:extLst xmlns:a="http://schemas.openxmlformats.org/drawingml/2006/main">
              <a:ext uri="{FF2B5EF4-FFF2-40B4-BE49-F238E27FC236}">
                <a16:creationId xmlns:a16="http://schemas.microsoft.com/office/drawing/2014/main" id="{E4526492-C9AB-4B65-B03F-179A4EAFE897}"/>
              </a:ext>
            </a:extLst>
          </p:cNvPr>
          <p:cNvSpPr>
            <a:spLocks xmlns:a="http://schemas.openxmlformats.org/drawingml/2006/main" noGrp="1"/>
          </p:cNvSpPr>
          <p:nvPr/>
        </p:nvSpPr>
        <p:spPr>
          <a:xfrm xmlns:a="http://schemas.openxmlformats.org/drawingml/2006/main">
            <a:off x="3333750" y="1981200"/>
            <a:ext cx="2286000" cy="1885950"/>
          </a:xfrm>
          <a:prstGeom xmlns:a="http://schemas.openxmlformats.org/drawingml/2006/main" prst="roundRect">
            <a:avLst>
              <a:gd name="adj" fmla="val 6061"/>
            </a:avLst>
          </a:prstGeom>
          <a:solidFill xmlns:a="http://schemas.openxmlformats.org/drawingml/2006/main">
            <a:srgbClr val="F5F7F8"/>
          </a:solidFill>
          <a:ln xmlns:a="http://schemas.openxmlformats.org/drawingml/2006/main" w="9525">
            <a:solidFill>
              <a:srgbClr val="C8D2D8"/>
            </a:solidFill>
            <a:prstDash val="solid"/>
          </a:ln>
        </p:spPr>
        <p:txBody>
          <a:bodyPr xmlns:a="http://schemas.openxmlformats.org/drawingml/2006/main" wrap="square" lIns="114300" tIns="114300" rIns="114300" bIns="95250" anchor="ctr">
            <a:normAutofit fontScale="100000"/>
          </a:bodyPr>
          <a:lstStyle xmlns:a="http://schemas.openxmlformats.org/drawingml/2006/main"/>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MODEL + RETRIEVAL</a:t>
            </a:r>
          </a:p>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72</a:t>
            </a:r>
          </a:p>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incident responses</a:t>
            </a:r>
          </a:p>
          <a:p xmlns:a="http://schemas.openxmlformats.org/drawingml/2006/main">
            <a:pPr algn="ctr">
              <a:buNone/>
              <a:defRPr sz="825">
                <a:solidFill>
                  <a:srgbClr val="0B314F"/>
                </a:solidFill>
                <a:latin typeface="Manrope"/>
                <a:ea typeface="Manrope"/>
                <a:cs typeface="Manrope"/>
              </a:defRPr>
            </a:pPr>
            <a:r>
              <a:rPr sz="825">
                <a:solidFill>
                  <a:srgbClr val="0B314F"/>
                </a:solidFill>
                <a:latin typeface="Manrope"/>
                <a:ea typeface="Manrope"/>
                <a:cs typeface="Manrope"/>
              </a:rPr>
              <a:t>24 fixtures × 3
12/12 labelled questions
relevant runbook in top four</a:t>
            </a:r>
          </a:p>
        </p:txBody>
      </p:sp>
      <p:sp>
        <p:nvSpPr>
          <p:cNvPr id="95" name="evidence-card-accent-2">
            <a:extLst xmlns:a="http://schemas.openxmlformats.org/drawingml/2006/main">
              <a:ext uri="{FF2B5EF4-FFF2-40B4-BE49-F238E27FC236}">
                <a16:creationId xmlns:a16="http://schemas.microsoft.com/office/drawing/2014/main" id="{064B9A8C-2463-47DE-A2C0-3EF57CA0F95E}"/>
              </a:ext>
            </a:extLst>
          </p:cNvPr>
          <p:cNvSpPr>
            <a:spLocks xmlns:a="http://schemas.openxmlformats.org/drawingml/2006/main" noGrp="1"/>
          </p:cNvSpPr>
          <p:nvPr/>
        </p:nvSpPr>
        <p:spPr>
          <a:xfrm xmlns:a="http://schemas.openxmlformats.org/drawingml/2006/main">
            <a:off x="3333750" y="1981200"/>
            <a:ext cx="2286000" cy="66675"/>
          </a:xfrm>
          <a:prstGeom xmlns:a="http://schemas.openxmlformats.org/drawingml/2006/main" prst="rect">
            <a:avLst/>
          </a:prstGeom>
          <a:solidFill xmlns:a="http://schemas.openxmlformats.org/drawingml/2006/main">
            <a:srgbClr val="E83831"/>
          </a:solidFill>
          <a:ln xmlns:a="http://schemas.openxmlformats.org/drawingml/2006/main" w="0">
            <a:solidFill>
              <a:srgbClr val="E83831"/>
            </a:solidFill>
            <a:prstDash val="solid"/>
          </a:ln>
        </p:spPr>
      </p:sp>
      <p:sp>
        <p:nvSpPr>
          <p:cNvPr id="96" name="evidence-divider-2">
            <a:extLst xmlns:a="http://schemas.openxmlformats.org/drawingml/2006/main">
              <a:ext uri="{FF2B5EF4-FFF2-40B4-BE49-F238E27FC236}">
                <a16:creationId xmlns:a16="http://schemas.microsoft.com/office/drawing/2014/main" id="{AE400F5B-239B-4CC6-98D3-8CC0DCF42BA6}"/>
              </a:ext>
            </a:extLst>
          </p:cNvPr>
          <p:cNvSpPr>
            <a:spLocks xmlns:a="http://schemas.openxmlformats.org/drawingml/2006/main" noGrp="1"/>
          </p:cNvSpPr>
          <p:nvPr/>
        </p:nvSpPr>
        <p:spPr>
          <a:xfrm xmlns:a="http://schemas.openxmlformats.org/drawingml/2006/main">
            <a:off x="3600450" y="3276600"/>
            <a:ext cx="1752600" cy="0"/>
          </a:xfrm>
          <a:prstGeom xmlns:a="http://schemas.openxmlformats.org/drawingml/2006/main" prst="line">
            <a:avLst/>
          </a:prstGeom>
          <a:noFill xmlns:a="http://schemas.openxmlformats.org/drawingml/2006/main"/>
          <a:ln xmlns:a="http://schemas.openxmlformats.org/drawingml/2006/main" w="9525">
            <a:solidFill>
              <a:srgbClr val="D7DEE2"/>
            </a:solidFill>
            <a:prstDash val="solid"/>
          </a:ln>
        </p:spPr>
      </p:sp>
      <p:sp>
        <p:nvSpPr>
          <p:cNvPr id="97" name="evidence-card-3">
            <a:extLst xmlns:a="http://schemas.openxmlformats.org/drawingml/2006/main">
              <a:ext uri="{FF2B5EF4-FFF2-40B4-BE49-F238E27FC236}">
                <a16:creationId xmlns:a16="http://schemas.microsoft.com/office/drawing/2014/main" id="{DE4D534C-29DD-4CD9-8EF9-CC6EB8118CA9}"/>
              </a:ext>
            </a:extLst>
          </p:cNvPr>
          <p:cNvSpPr>
            <a:spLocks xmlns:a="http://schemas.openxmlformats.org/drawingml/2006/main" noGrp="1"/>
          </p:cNvSpPr>
          <p:nvPr/>
        </p:nvSpPr>
        <p:spPr>
          <a:xfrm xmlns:a="http://schemas.openxmlformats.org/drawingml/2006/main">
            <a:off x="5953125" y="1981200"/>
            <a:ext cx="2286000" cy="1885950"/>
          </a:xfrm>
          <a:prstGeom xmlns:a="http://schemas.openxmlformats.org/drawingml/2006/main" prst="roundRect">
            <a:avLst>
              <a:gd name="adj" fmla="val 6061"/>
            </a:avLst>
          </a:prstGeom>
          <a:solidFill xmlns:a="http://schemas.openxmlformats.org/drawingml/2006/main">
            <a:srgbClr val="F5F7F8"/>
          </a:solidFill>
          <a:ln xmlns:a="http://schemas.openxmlformats.org/drawingml/2006/main" w="9525">
            <a:solidFill>
              <a:srgbClr val="C8D2D8"/>
            </a:solidFill>
            <a:prstDash val="solid"/>
          </a:ln>
        </p:spPr>
        <p:txBody>
          <a:bodyPr xmlns:a="http://schemas.openxmlformats.org/drawingml/2006/main" wrap="square" lIns="114300" tIns="114300" rIns="114300" bIns="95250" anchor="ctr">
            <a:normAutofit fontScale="100000"/>
          </a:bodyPr>
          <a:lstStyle xmlns:a="http://schemas.openxmlformats.org/drawingml/2006/main"/>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HUMAN EVIDENCE</a:t>
            </a:r>
          </a:p>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2 + 10</a:t>
            </a:r>
          </a:p>
          <a:p xmlns:a="http://schemas.openxmlformats.org/drawingml/2006/main">
            <a:pPr algn="ctr">
              <a:buNone/>
              <a:defRPr sz="825">
                <a:solidFill>
                  <a:srgbClr val="0B314F"/>
                </a:solidFill>
                <a:latin typeface="Manrope"/>
                <a:ea typeface="Manrope"/>
                <a:cs typeface="Manrope"/>
              </a:defRPr>
            </a:pPr>
            <a:r>
              <a:rPr sz="825" b="1">
                <a:solidFill>
                  <a:srgbClr val="0B314F"/>
                </a:solidFill>
                <a:latin typeface="Manrope"/>
                <a:ea typeface="Manrope"/>
                <a:cs typeface="Manrope"/>
              </a:rPr>
              <a:t>role reports + SUS</a:t>
            </a:r>
          </a:p>
          <a:p xmlns:a="http://schemas.openxmlformats.org/drawingml/2006/main">
            <a:pPr algn="ctr">
              <a:buNone/>
              <a:defRPr sz="825">
                <a:solidFill>
                  <a:srgbClr val="0B314F"/>
                </a:solidFill>
                <a:latin typeface="Manrope"/>
                <a:ea typeface="Manrope"/>
                <a:cs typeface="Manrope"/>
              </a:defRPr>
            </a:pPr>
            <a:r>
              <a:rPr sz="825">
                <a:solidFill>
                  <a:srgbClr val="0B314F"/>
                </a:solidFill>
                <a:latin typeface="Manrope"/>
                <a:ea typeface="Manrope"/>
                <a:cs typeface="Manrope"/>
              </a:rPr>
              <a:t>exploratory assessment
descriptive usability</a:t>
            </a:r>
          </a:p>
        </p:txBody>
      </p:sp>
      <p:sp>
        <p:nvSpPr>
          <p:cNvPr id="98" name="evidence-card-accent-3">
            <a:extLst xmlns:a="http://schemas.openxmlformats.org/drawingml/2006/main">
              <a:ext uri="{FF2B5EF4-FFF2-40B4-BE49-F238E27FC236}">
                <a16:creationId xmlns:a16="http://schemas.microsoft.com/office/drawing/2014/main" id="{B8661ECE-614A-4330-972F-01FF62F7C531}"/>
              </a:ext>
            </a:extLst>
          </p:cNvPr>
          <p:cNvSpPr>
            <a:spLocks xmlns:a="http://schemas.openxmlformats.org/drawingml/2006/main" noGrp="1"/>
          </p:cNvSpPr>
          <p:nvPr/>
        </p:nvSpPr>
        <p:spPr>
          <a:xfrm xmlns:a="http://schemas.openxmlformats.org/drawingml/2006/main">
            <a:off x="5953125" y="1981200"/>
            <a:ext cx="2286000" cy="66675"/>
          </a:xfrm>
          <a:prstGeom xmlns:a="http://schemas.openxmlformats.org/drawingml/2006/main" prst="rect">
            <a:avLst/>
          </a:prstGeom>
          <a:solidFill xmlns:a="http://schemas.openxmlformats.org/drawingml/2006/main">
            <a:srgbClr val="C0A282"/>
          </a:solidFill>
          <a:ln xmlns:a="http://schemas.openxmlformats.org/drawingml/2006/main" w="0">
            <a:solidFill>
              <a:srgbClr val="C0A282"/>
            </a:solidFill>
            <a:prstDash val="solid"/>
          </a:ln>
        </p:spPr>
      </p:sp>
      <p:sp>
        <p:nvSpPr>
          <p:cNvPr id="99" name="evidence-divider-3">
            <a:extLst xmlns:a="http://schemas.openxmlformats.org/drawingml/2006/main">
              <a:ext uri="{FF2B5EF4-FFF2-40B4-BE49-F238E27FC236}">
                <a16:creationId xmlns:a16="http://schemas.microsoft.com/office/drawing/2014/main" id="{1ADF6BDB-E5C2-4605-9ED7-98C18D603C4A}"/>
              </a:ext>
            </a:extLst>
          </p:cNvPr>
          <p:cNvSpPr>
            <a:spLocks xmlns:a="http://schemas.openxmlformats.org/drawingml/2006/main" noGrp="1"/>
          </p:cNvSpPr>
          <p:nvPr/>
        </p:nvSpPr>
        <p:spPr>
          <a:xfrm xmlns:a="http://schemas.openxmlformats.org/drawingml/2006/main">
            <a:off x="6219825" y="3276600"/>
            <a:ext cx="1752600" cy="0"/>
          </a:xfrm>
          <a:prstGeom xmlns:a="http://schemas.openxmlformats.org/drawingml/2006/main" prst="line">
            <a:avLst/>
          </a:prstGeom>
          <a:noFill xmlns:a="http://schemas.openxmlformats.org/drawingml/2006/main"/>
          <a:ln xmlns:a="http://schemas.openxmlformats.org/drawingml/2006/main" w="9525">
            <a:solidFill>
              <a:srgbClr val="D7DEE2"/>
            </a:solidFill>
            <a:prstDash val="solid"/>
          </a:ln>
        </p:spPr>
      </p:sp>
    </p:spTree>
    <p:extLst>
      <p:ext uri="{BB962C8B-B14F-4D97-AF65-F5344CB8AC3E}">
        <p14:creationId xmlns:p14="http://schemas.microsoft.com/office/powerpoint/2010/main" val="96040228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g3ba14ccda94_0_28">
            <a:extLst xmlns:a="http://schemas.openxmlformats.org/drawingml/2006/main">
              <a:ext uri="{FF2B5EF4-FFF2-40B4-BE49-F238E27FC236}">
                <a16:creationId xmlns:a16="http://schemas.microsoft.com/office/drawing/2014/main" id="{B59DA8BC-98DD-0625-DE1C-8EE11BC28C9A}"/>
              </a:ext>
            </a:extLst>
          </p:cNvPr>
          <p:cNvSpPr>
            <a:spLocks xmlns:a="http://schemas.openxmlformats.org/drawingml/2006/main" noGrp="1"/>
          </p:cNvSpPr>
          <p:nvPr/>
        </p:nvSpPr>
        <p:spPr>
          <a:xfrm xmlns:a="http://schemas.openxmlformats.org/drawingml/2006/main">
            <a:off x="-38100" y="-5196"/>
            <a:ext cx="9288450" cy="5320146"/>
          </a:xfrm>
          <a:prstGeom xmlns:a="http://schemas.openxmlformats.org/drawingml/2006/main" prst="rect">
            <a:avLst/>
          </a:prstGeom>
          <a:solidFill xmlns:a="http://schemas.openxmlformats.org/drawingml/2006/main">
            <a:srgbClr val="09314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endParaRPr/>
          </a:p>
        </p:txBody>
      </p:sp>
      <p:sp>
        <p:nvSpPr>
          <p:cNvPr id="88" name="Google Shape;88;g3ba14ccda94_0_28">
            <a:extLst xmlns:a="http://schemas.openxmlformats.org/drawingml/2006/main">
              <a:ext uri="{FF2B5EF4-FFF2-40B4-BE49-F238E27FC236}">
                <a16:creationId xmlns:a16="http://schemas.microsoft.com/office/drawing/2014/main" id="{34468AB8-7B5E-EFB9-0516-3F92B69506DE}"/>
              </a:ext>
            </a:extLst>
          </p:cNvPr>
          <p:cNvSpPr>
            <a:spLocks xmlns:a="http://schemas.openxmlformats.org/drawingml/2006/main" noGrp="1"/>
          </p:cNvSpPr>
          <p:nvPr/>
        </p:nvSpPr>
        <p:spPr>
          <a:xfrm xmlns:a="http://schemas.openxmlformats.org/drawingml/2006/main">
            <a:off x="585574" y="942125"/>
            <a:ext cx="6572250" cy="5385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79964"/>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00"/>
              <a:buFont typeface="Arial"/>
              <a:buNone/>
              <a:defRPr sz="2850" b="1">
                <a:solidFill>
                  <a:srgbClr val="C0A282"/>
                </a:solidFill>
                <a:latin typeface="Afacad Flux"/>
                <a:ea typeface="Afacad Flux"/>
                <a:cs typeface="Afacad Flux"/>
              </a:defRPr>
            </a:pPr>
            <a:r>
              <a:rPr sz="2850" b="1" i="0" u="none" cap="none">
                <a:solidFill>
                  <a:srgbClr val="C0A282"/>
                </a:solidFill>
                <a:latin typeface="Afacad Flux"/>
                <a:ea typeface="Afacad Flux"/>
                <a:cs typeface="Afacad Flux"/>
              </a:rPr>
              <a:t>What was demonstrated: software and retrieval support</a:t>
            </a:r>
          </a:p>
        </p:txBody>
      </p:sp>
      <p:sp>
        <p:nvSpPr>
          <p:cNvPr id="89" name="Google Shape;89;g3ba14ccda94_0_28">
            <a:extLst xmlns:a="http://schemas.openxmlformats.org/drawingml/2006/main">
              <a:ext uri="{FF2B5EF4-FFF2-40B4-BE49-F238E27FC236}">
                <a16:creationId xmlns:a16="http://schemas.microsoft.com/office/drawing/2014/main" id="{3353B898-44C9-9A9C-80E1-2B91EB5C59B6}"/>
              </a:ext>
            </a:extLst>
          </p:cNvPr>
          <p:cNvSpPr>
            <a:spLocks xmlns:a="http://schemas.openxmlformats.org/drawingml/2006/main" noGrp="1"/>
          </p:cNvSpPr>
          <p:nvPr/>
        </p:nvSpPr>
        <p:spPr>
          <a:xfrm xmlns:a="http://schemas.openxmlformats.org/drawingml/2006/main">
            <a:off x="617696" y="4038600"/>
            <a:ext cx="8214836"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88500"/>
          </a:bodyPr>
          <a:lstStyle xmlns:a="http://schemas.openxmlformats.org/drawingml/2006/main"/>
          <a:p xmlns:a="http://schemas.openxmlformats.org/drawingml/2006/main">
            <a:pPr lvl="0" algn="l">
              <a:lnSpc>
                <a:spcPct val="115000"/>
              </a:lnSpc>
              <a:buSzPts val="1200"/>
              <a:buNone/>
              <a:defRPr sz="1388" b="1">
                <a:solidFill>
                  <a:srgbClr val="FFFFFF"/>
                </a:solidFill>
                <a:latin typeface="Manrope"/>
                <a:ea typeface="Manrope"/>
                <a:cs typeface="Manrope"/>
              </a:defRPr>
            </a:pPr>
            <a:r>
              <a:rPr sz="1388" b="1" i="0" u="none" cap="none">
                <a:solidFill>
                  <a:srgbClr val="FFFFFF"/>
                </a:solidFill>
                <a:latin typeface="Manrope"/>
                <a:ea typeface="Manrope"/>
                <a:cs typeface="Manrope"/>
              </a:rPr>
              <a:t>Strong implementation and retrieval evidence; usability is descriptive—not diagnostic or production proof.</a:t>
            </a:r>
          </a:p>
        </p:txBody>
      </p:sp>
      <p:cxnSp>
        <p:nvCxnSpPr>
          <p:cNvPr id="123" name="Google Shape;91;g3ba14ccda94_0_28"/>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E83831"/>
            </a:solidFill>
            <a:prstDash val="solid"/>
            <a:round/>
            <a:headEnd type="none" w="med" len="med"/>
            <a:tailEnd type="none" w="med" len="med"/>
          </a:ln>
        </p:spPr>
      </p:cxnSp>
      <p:sp>
        <p:nvSpPr>
          <p:cNvPr id="92" name="Google Shape;92;g3ba14ccda94_0_28">
            <a:extLst xmlns:a="http://schemas.openxmlformats.org/drawingml/2006/main">
              <a:ext uri="{FF2B5EF4-FFF2-40B4-BE49-F238E27FC236}">
                <a16:creationId xmlns:a16="http://schemas.microsoft.com/office/drawing/2014/main" id="{B0DDA3CF-EF31-AC2E-EDFA-78ECF9371A52}"/>
              </a:ext>
            </a:extLst>
          </p:cNvPr>
          <p:cNvSpPr>
            <a:spLocks xmlns:a="http://schemas.openxmlformats.org/drawingml/2006/main" noGrp="1"/>
          </p:cNvSpPr>
          <p:nvPr/>
        </p:nvSpPr>
        <p:spPr>
          <a:xfrm xmlns:a="http://schemas.openxmlformats.org/drawingml/2006/main">
            <a:off x="594524" y="349855"/>
            <a:ext cx="1254373"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FFFFFF"/>
                </a:solidFill>
                <a:latin typeface="Afacad Flux"/>
                <a:ea typeface="Afacad Flux"/>
                <a:cs typeface="Afacad Flux"/>
              </a:defRPr>
            </a:pPr>
            <a:r>
              <a:rPr sz="1200" b="1">
                <a:solidFill>
                  <a:srgbClr val="FFFFFF"/>
                </a:solidFill>
                <a:latin typeface="Afacad Flux"/>
                <a:ea typeface="Afacad Flux"/>
                <a:cs typeface="Afacad Flux"/>
              </a:rPr>
              <a:t>Project Defence</a:t>
            </a:r>
            <a:endParaRPr sz="1000" b="1" i="0" u="none" cap="none">
              <a:solidFill>
                <a:schemeClr val="lt1"/>
              </a:solidFill>
              <a:latin typeface="Afacad Flux"/>
              <a:ea typeface="Afacad Flux"/>
              <a:cs typeface="Afacad Flux"/>
            </a:endParaRPr>
          </a:p>
        </p:txBody>
      </p:sp>
      <p:pic>
        <p:nvPicPr>
          <p:cNvPr id="125" name="Picture 1"/>
          <p:cNvPicPr>
            <a:picLocks xmlns:a="http://schemas.openxmlformats.org/drawingml/2006/main" noChangeAspect="1"/>
          </p:cNvPicPr>
          <p:nvPr/>
        </p:nvPicPr>
        <p:blipFill>
          <a:blip xmlns:r="http://schemas.openxmlformats.org/officeDocument/2006/relationships" xmlns:a="http://schemas.openxmlformats.org/drawingml/2006/main" r:embed="R7f2e17eac2bb41be"/>
          <a:stretch xmlns:a="http://schemas.openxmlformats.org/drawingml/2006/main">
            <a:fillRect l="0" t="0" r="0" b="0"/>
          </a:stretch>
        </p:blipFill>
        <p:spPr>
          <a:xfrm xmlns:a="http://schemas.openxmlformats.org/drawingml/2006/main">
            <a:off x="7127814" y="239115"/>
            <a:ext cx="1593400" cy="560179"/>
          </a:xfrm>
          <a:prstGeom xmlns:a="http://schemas.openxmlformats.org/drawingml/2006/main" prst="rect">
            <a:avLst/>
          </a:prstGeom>
        </p:spPr>
      </p:pic>
      <p:sp>
        <p:nvSpPr>
          <p:cNvPr id="104" name="severity-metric-1">
            <a:extLst xmlns:a="http://schemas.openxmlformats.org/drawingml/2006/main">
              <a:ext uri="{FF2B5EF4-FFF2-40B4-BE49-F238E27FC236}">
                <a16:creationId xmlns:a16="http://schemas.microsoft.com/office/drawing/2014/main" id="{A75326DC-0480-4901-8B89-22E420070673}"/>
              </a:ext>
            </a:extLst>
          </p:cNvPr>
          <p:cNvSpPr>
            <a:spLocks xmlns:a="http://schemas.openxmlformats.org/drawingml/2006/main" noGrp="1"/>
          </p:cNvSpPr>
          <p:nvPr/>
        </p:nvSpPr>
        <p:spPr>
          <a:xfrm xmlns:a="http://schemas.openxmlformats.org/drawingml/2006/main">
            <a:off x="714375" y="1981200"/>
            <a:ext cx="1714500" cy="990600"/>
          </a:xfrm>
          <a:prstGeom xmlns:a="http://schemas.openxmlformats.org/drawingml/2006/main" prst="roundRect">
            <a:avLst>
              <a:gd name="adj" fmla="val 11538"/>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148</a:t>
            </a:r>
          </a:p>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TESTS PASSED</a:t>
            </a:r>
          </a:p>
        </p:txBody>
      </p:sp>
      <p:sp>
        <p:nvSpPr>
          <p:cNvPr id="105" name="severity-metric-2">
            <a:extLst xmlns:a="http://schemas.openxmlformats.org/drawingml/2006/main">
              <a:ext uri="{FF2B5EF4-FFF2-40B4-BE49-F238E27FC236}">
                <a16:creationId xmlns:a16="http://schemas.microsoft.com/office/drawing/2014/main" id="{A0D465CB-0A95-437F-95DA-B4A4D7C1D099}"/>
              </a:ext>
            </a:extLst>
          </p:cNvPr>
          <p:cNvSpPr>
            <a:spLocks xmlns:a="http://schemas.openxmlformats.org/drawingml/2006/main" noGrp="1"/>
          </p:cNvSpPr>
          <p:nvPr/>
        </p:nvSpPr>
        <p:spPr>
          <a:xfrm xmlns:a="http://schemas.openxmlformats.org/drawingml/2006/main">
            <a:off x="2638425" y="1981200"/>
            <a:ext cx="1714500" cy="990600"/>
          </a:xfrm>
          <a:prstGeom xmlns:a="http://schemas.openxmlformats.org/drawingml/2006/main" prst="roundRect">
            <a:avLst>
              <a:gd name="adj" fmla="val 11538"/>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87%</a:t>
            </a:r>
          </a:p>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LINE COVERAGE</a:t>
            </a:r>
          </a:p>
        </p:txBody>
      </p:sp>
      <p:sp>
        <p:nvSpPr>
          <p:cNvPr id="106" name="severity-metric-3">
            <a:extLst xmlns:a="http://schemas.openxmlformats.org/drawingml/2006/main">
              <a:ext uri="{FF2B5EF4-FFF2-40B4-BE49-F238E27FC236}">
                <a16:creationId xmlns:a16="http://schemas.microsoft.com/office/drawing/2014/main" id="{F095F75F-86A4-44AF-BF41-ABD0CDD49445}"/>
              </a:ext>
            </a:extLst>
          </p:cNvPr>
          <p:cNvSpPr>
            <a:spLocks xmlns:a="http://schemas.openxmlformats.org/drawingml/2006/main" noGrp="1"/>
          </p:cNvSpPr>
          <p:nvPr/>
        </p:nvSpPr>
        <p:spPr>
          <a:xfrm xmlns:a="http://schemas.openxmlformats.org/drawingml/2006/main">
            <a:off x="4562475" y="1981200"/>
            <a:ext cx="1714500" cy="990600"/>
          </a:xfrm>
          <a:prstGeom xmlns:a="http://schemas.openxmlformats.org/drawingml/2006/main" prst="roundRect">
            <a:avLst>
              <a:gd name="adj" fmla="val 11538"/>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12/12</a:t>
            </a:r>
          </a:p>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QUESTIONS
RELEVANT RUNBOOK TOP-FOUR</a:t>
            </a:r>
          </a:p>
        </p:txBody>
      </p:sp>
      <p:sp>
        <p:nvSpPr>
          <p:cNvPr id="107" name="severity-metric-4">
            <a:extLst xmlns:a="http://schemas.openxmlformats.org/drawingml/2006/main">
              <a:ext uri="{FF2B5EF4-FFF2-40B4-BE49-F238E27FC236}">
                <a16:creationId xmlns:a16="http://schemas.microsoft.com/office/drawing/2014/main" id="{5C76C4F5-0256-4005-8F46-94F3BC8CBC0E}"/>
              </a:ext>
            </a:extLst>
          </p:cNvPr>
          <p:cNvSpPr>
            <a:spLocks xmlns:a="http://schemas.openxmlformats.org/drawingml/2006/main" noGrp="1"/>
          </p:cNvSpPr>
          <p:nvPr/>
        </p:nvSpPr>
        <p:spPr>
          <a:xfrm xmlns:a="http://schemas.openxmlformats.org/drawingml/2006/main">
            <a:off x="6486525" y="1981200"/>
            <a:ext cx="1714500" cy="990600"/>
          </a:xfrm>
          <a:prstGeom xmlns:a="http://schemas.openxmlformats.org/drawingml/2006/main" prst="roundRect">
            <a:avLst>
              <a:gd name="adj" fmla="val 11538"/>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79.25</a:t>
            </a:r>
          </a:p>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DESCRIPTIVE SUS MEAN</a:t>
            </a:r>
          </a:p>
        </p:txBody>
      </p:sp>
      <p:sp>
        <p:nvSpPr>
          <p:cNvPr id="108" name="severity-undercall">
            <a:extLst xmlns:a="http://schemas.openxmlformats.org/drawingml/2006/main">
              <a:ext uri="{FF2B5EF4-FFF2-40B4-BE49-F238E27FC236}">
                <a16:creationId xmlns:a16="http://schemas.microsoft.com/office/drawing/2014/main" id="{44B31D9C-8F1F-4112-A1D7-5F97A504320D}"/>
              </a:ext>
            </a:extLst>
          </p:cNvPr>
          <p:cNvSpPr>
            <a:spLocks xmlns:a="http://schemas.openxmlformats.org/drawingml/2006/main" noGrp="1"/>
          </p:cNvSpPr>
          <p:nvPr/>
        </p:nvSpPr>
        <p:spPr>
          <a:xfrm xmlns:a="http://schemas.openxmlformats.org/drawingml/2006/main">
            <a:off x="714375" y="3181350"/>
            <a:ext cx="3619500" cy="666750"/>
          </a:xfrm>
          <a:prstGeom xmlns:a="http://schemas.openxmlformats.org/drawingml/2006/main" prst="roundRect">
            <a:avLst>
              <a:gd name="adj" fmla="val 17143"/>
            </a:avLst>
          </a:prstGeom>
          <a:solidFill xmlns:a="http://schemas.openxmlformats.org/drawingml/2006/main">
            <a:srgbClr val="3C2F3B"/>
          </a:solidFill>
          <a:ln xmlns:a="http://schemas.openxmlformats.org/drawingml/2006/main" w="9525">
            <a:solidFill>
              <a:srgbClr val="E83831"/>
            </a:solidFill>
            <a:prstDash val="solid"/>
          </a:ln>
        </p:spPr>
        <p:txBody>
          <a:bodyPr xmlns:a="http://schemas.openxmlformats.org/drawingml/2006/main" wrap="square" lIns="95250" tIns="66675" rIns="95250" bIns="66675" anchor="ctr">
            <a:normAutofit fontScale="100000"/>
          </a:bodyPr>
          <a:lstStyle xmlns:a="http://schemas.openxmlformats.org/drawingml/2006/main"/>
          <a:p xmlns:a="http://schemas.openxmlformats.org/drawingml/2006/main">
            <a:pPr algn="ctr">
              <a:buNone/>
              <a:defRPr sz="900">
                <a:solidFill>
                  <a:srgbClr val="FFFFFF"/>
                </a:solidFill>
                <a:latin typeface="Manrope"/>
                <a:ea typeface="Manrope"/>
                <a:cs typeface="Manrope"/>
              </a:defRPr>
            </a:pPr>
            <a:r>
              <a:rPr sz="900" b="1">
                <a:solidFill>
                  <a:srgbClr val="FFFFFF"/>
                </a:solidFill>
                <a:latin typeface="Manrope"/>
                <a:ea typeface="Manrope"/>
                <a:cs typeface="Manrope"/>
              </a:rPr>
              <a:t>72/72 STRUCTURE VALID</a:t>
            </a:r>
          </a:p>
          <a:p xmlns:a="http://schemas.openxmlformats.org/drawingml/2006/main">
            <a:pPr algn="ctr">
              <a:buNone/>
              <a:defRPr sz="900">
                <a:solidFill>
                  <a:srgbClr val="FFFFFF"/>
                </a:solidFill>
                <a:latin typeface="Manrope"/>
                <a:ea typeface="Manrope"/>
                <a:cs typeface="Manrope"/>
              </a:defRPr>
            </a:pPr>
            <a:r>
              <a:rPr sz="900" b="1">
                <a:solidFill>
                  <a:srgbClr val="FFFFFF"/>
                </a:solidFill>
                <a:latin typeface="Manrope"/>
                <a:ea typeface="Manrope"/>
                <a:cs typeface="Manrope"/>
              </a:rPr>
              <a:t>required verdict parser checks passed</a:t>
            </a:r>
          </a:p>
        </p:txBody>
      </p:sp>
      <p:sp>
        <p:nvSpPr>
          <p:cNvPr id="109" name="severity-critical-precision">
            <a:extLst xmlns:a="http://schemas.openxmlformats.org/drawingml/2006/main">
              <a:ext uri="{FF2B5EF4-FFF2-40B4-BE49-F238E27FC236}">
                <a16:creationId xmlns:a16="http://schemas.microsoft.com/office/drawing/2014/main" id="{0590E5DE-3EA6-48E9-A391-B9B208AD3219}"/>
              </a:ext>
            </a:extLst>
          </p:cNvPr>
          <p:cNvSpPr>
            <a:spLocks xmlns:a="http://schemas.openxmlformats.org/drawingml/2006/main" noGrp="1"/>
          </p:cNvSpPr>
          <p:nvPr/>
        </p:nvSpPr>
        <p:spPr>
          <a:xfrm xmlns:a="http://schemas.openxmlformats.org/drawingml/2006/main">
            <a:off x="4619625" y="3181350"/>
            <a:ext cx="3619500" cy="666750"/>
          </a:xfrm>
          <a:prstGeom xmlns:a="http://schemas.openxmlformats.org/drawingml/2006/main" prst="roundRect">
            <a:avLst>
              <a:gd name="adj" fmla="val 17143"/>
            </a:avLst>
          </a:prstGeom>
          <a:solidFill xmlns:a="http://schemas.openxmlformats.org/drawingml/2006/main">
            <a:srgbClr val="15465F"/>
          </a:solidFill>
          <a:ln xmlns:a="http://schemas.openxmlformats.org/drawingml/2006/main" w="9525">
            <a:solidFill>
              <a:srgbClr val="C0A282"/>
            </a:solidFill>
            <a:prstDash val="solid"/>
          </a:ln>
        </p:spPr>
        <p:txBody>
          <a:bodyPr xmlns:a="http://schemas.openxmlformats.org/drawingml/2006/main" wrap="square" lIns="95250" tIns="66675" rIns="95250" bIns="66675" anchor="ctr">
            <a:normAutofit fontScale="100000"/>
          </a:bodyPr>
          <a:lstStyle xmlns:a="http://schemas.openxmlformats.org/drawingml/2006/main"/>
          <a:p xmlns:a="http://schemas.openxmlformats.org/drawingml/2006/main">
            <a:pPr algn="ctr">
              <a:buNone/>
              <a:defRPr sz="900">
                <a:solidFill>
                  <a:srgbClr val="FFFFFF"/>
                </a:solidFill>
                <a:latin typeface="Manrope"/>
                <a:ea typeface="Manrope"/>
                <a:cs typeface="Manrope"/>
              </a:defRPr>
            </a:pPr>
            <a:r>
              <a:rPr sz="900" b="1">
                <a:solidFill>
                  <a:srgbClr val="FFFFFF"/>
                </a:solidFill>
                <a:latin typeface="Manrope"/>
                <a:ea typeface="Manrope"/>
                <a:cs typeface="Manrope"/>
              </a:rPr>
              <a:t>RAG MEANS HIGHER</a:t>
            </a:r>
          </a:p>
          <a:p xmlns:a="http://schemas.openxmlformats.org/drawingml/2006/main">
            <a:pPr algn="ctr">
              <a:buNone/>
              <a:defRPr sz="900">
                <a:solidFill>
                  <a:srgbClr val="FFFFFF"/>
                </a:solidFill>
                <a:latin typeface="Manrope"/>
                <a:ea typeface="Manrope"/>
                <a:cs typeface="Manrope"/>
              </a:defRPr>
            </a:pPr>
            <a:r>
              <a:rPr sz="900" b="1">
                <a:solidFill>
                  <a:srgbClr val="FFFFFF"/>
                </a:solidFill>
                <a:latin typeface="Manrope"/>
                <a:ea typeface="Manrope"/>
                <a:cs typeface="Manrope"/>
              </a:rPr>
              <a:t>exploratory two-assessor frozen study</a:t>
            </a:r>
          </a:p>
        </p:txBody>
      </p:sp>
    </p:spTree>
    <p:extLst>
      <p:ext uri="{BB962C8B-B14F-4D97-AF65-F5344CB8AC3E}">
        <p14:creationId xmlns:p14="http://schemas.microsoft.com/office/powerpoint/2010/main" val="76611002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g3ba14ccda94_0_28">
            <a:extLst xmlns:a="http://schemas.openxmlformats.org/drawingml/2006/main">
              <a:ext uri="{FF2B5EF4-FFF2-40B4-BE49-F238E27FC236}">
                <a16:creationId xmlns:a16="http://schemas.microsoft.com/office/drawing/2014/main" id="{B59DA8BC-98DD-0625-DE1C-8EE11BC28C9A}"/>
              </a:ext>
            </a:extLst>
          </p:cNvPr>
          <p:cNvSpPr>
            <a:spLocks xmlns:a="http://schemas.openxmlformats.org/drawingml/2006/main" noGrp="1"/>
          </p:cNvSpPr>
          <p:nvPr/>
        </p:nvSpPr>
        <p:spPr>
          <a:xfrm xmlns:a="http://schemas.openxmlformats.org/drawingml/2006/main">
            <a:off x="-38100" y="-5196"/>
            <a:ext cx="9288450" cy="5320146"/>
          </a:xfrm>
          <a:prstGeom xmlns:a="http://schemas.openxmlformats.org/drawingml/2006/main" prst="rect">
            <a:avLst/>
          </a:prstGeom>
          <a:solidFill xmlns:a="http://schemas.openxmlformats.org/drawingml/2006/main">
            <a:srgbClr val="09314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endParaRPr/>
          </a:p>
        </p:txBody>
      </p:sp>
      <p:sp>
        <p:nvSpPr>
          <p:cNvPr id="88" name="Google Shape;88;g3ba14ccda94_0_28">
            <a:extLst xmlns:a="http://schemas.openxmlformats.org/drawingml/2006/main">
              <a:ext uri="{FF2B5EF4-FFF2-40B4-BE49-F238E27FC236}">
                <a16:creationId xmlns:a16="http://schemas.microsoft.com/office/drawing/2014/main" id="{34468AB8-7B5E-EFB9-0516-3F92B69506DE}"/>
              </a:ext>
            </a:extLst>
          </p:cNvPr>
          <p:cNvSpPr>
            <a:spLocks xmlns:a="http://schemas.openxmlformats.org/drawingml/2006/main" noGrp="1"/>
          </p:cNvSpPr>
          <p:nvPr/>
        </p:nvSpPr>
        <p:spPr>
          <a:xfrm xmlns:a="http://schemas.openxmlformats.org/drawingml/2006/main">
            <a:off x="585574" y="942125"/>
            <a:ext cx="6572250" cy="5385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81894"/>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00"/>
              <a:buFont typeface="Arial"/>
              <a:buNone/>
              <a:defRPr sz="2850" b="1">
                <a:solidFill>
                  <a:srgbClr val="C0A282"/>
                </a:solidFill>
                <a:latin typeface="Afacad Flux"/>
                <a:ea typeface="Afacad Flux"/>
                <a:cs typeface="Afacad Flux"/>
              </a:defRPr>
            </a:pPr>
            <a:r>
              <a:rPr sz="2850" b="1" i="0" u="none" cap="none">
                <a:solidFill>
                  <a:srgbClr val="C0A282"/>
                </a:solidFill>
                <a:latin typeface="Afacad Flux"/>
                <a:ea typeface="Afacad Flux"/>
                <a:cs typeface="Afacad Flux"/>
              </a:rPr>
              <a:t>Valid output ≠ calibrated severity judgement</a:t>
            </a:r>
          </a:p>
        </p:txBody>
      </p:sp>
      <p:sp>
        <p:nvSpPr>
          <p:cNvPr id="89" name="Google Shape;89;g3ba14ccda94_0_28">
            <a:extLst xmlns:a="http://schemas.openxmlformats.org/drawingml/2006/main">
              <a:ext uri="{FF2B5EF4-FFF2-40B4-BE49-F238E27FC236}">
                <a16:creationId xmlns:a16="http://schemas.microsoft.com/office/drawing/2014/main" id="{3353B898-44C9-9A9C-80E1-2B91EB5C59B6}"/>
              </a:ext>
            </a:extLst>
          </p:cNvPr>
          <p:cNvSpPr>
            <a:spLocks xmlns:a="http://schemas.openxmlformats.org/drawingml/2006/main" noGrp="1"/>
          </p:cNvSpPr>
          <p:nvPr/>
        </p:nvSpPr>
        <p:spPr>
          <a:xfrm xmlns:a="http://schemas.openxmlformats.org/drawingml/2006/main">
            <a:off x="617696" y="4038600"/>
            <a:ext cx="8214836"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98287"/>
          </a:bodyPr>
          <a:lstStyle xmlns:a="http://schemas.openxmlformats.org/drawingml/2006/main"/>
          <a:p xmlns:a="http://schemas.openxmlformats.org/drawingml/2006/main">
            <a:pPr lvl="0" algn="l">
              <a:lnSpc>
                <a:spcPct val="115000"/>
              </a:lnSpc>
              <a:buSzPts val="1200"/>
              <a:buNone/>
              <a:defRPr sz="1425" b="1">
                <a:solidFill>
                  <a:srgbClr val="FFFFFF"/>
                </a:solidFill>
                <a:latin typeface="Manrope"/>
                <a:ea typeface="Manrope"/>
                <a:cs typeface="Manrope"/>
              </a:defRPr>
            </a:pPr>
            <a:r>
              <a:rPr sz="1425" b="1" i="0" u="none" cap="none">
                <a:solidFill>
                  <a:srgbClr val="FFFFFF"/>
                </a:solidFill>
                <a:latin typeface="Manrope"/>
                <a:ea typeface="Manrope"/>
                <a:cs typeface="Manrope"/>
              </a:rPr>
              <a:t>The strongest result is a warning: well-formed output cannot be trusted as unattended triage.</a:t>
            </a:r>
          </a:p>
        </p:txBody>
      </p:sp>
      <p:cxnSp>
        <p:nvCxnSpPr>
          <p:cNvPr id="123" name="Google Shape;91;g3ba14ccda94_0_28"/>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E83831"/>
            </a:solidFill>
            <a:prstDash val="solid"/>
            <a:round/>
            <a:headEnd type="none" w="med" len="med"/>
            <a:tailEnd type="none" w="med" len="med"/>
          </a:ln>
        </p:spPr>
      </p:cxnSp>
      <p:sp>
        <p:nvSpPr>
          <p:cNvPr id="92" name="Google Shape;92;g3ba14ccda94_0_28">
            <a:extLst xmlns:a="http://schemas.openxmlformats.org/drawingml/2006/main">
              <a:ext uri="{FF2B5EF4-FFF2-40B4-BE49-F238E27FC236}">
                <a16:creationId xmlns:a16="http://schemas.microsoft.com/office/drawing/2014/main" id="{B0DDA3CF-EF31-AC2E-EDFA-78ECF9371A52}"/>
              </a:ext>
            </a:extLst>
          </p:cNvPr>
          <p:cNvSpPr>
            <a:spLocks xmlns:a="http://schemas.openxmlformats.org/drawingml/2006/main" noGrp="1"/>
          </p:cNvSpPr>
          <p:nvPr/>
        </p:nvSpPr>
        <p:spPr>
          <a:xfrm xmlns:a="http://schemas.openxmlformats.org/drawingml/2006/main">
            <a:off x="594524" y="349855"/>
            <a:ext cx="1254373"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FFFFFF"/>
                </a:solidFill>
                <a:latin typeface="Afacad Flux"/>
                <a:ea typeface="Afacad Flux"/>
                <a:cs typeface="Afacad Flux"/>
              </a:defRPr>
            </a:pPr>
            <a:r>
              <a:rPr sz="1200" b="1">
                <a:solidFill>
                  <a:srgbClr val="FFFFFF"/>
                </a:solidFill>
                <a:latin typeface="Afacad Flux"/>
                <a:ea typeface="Afacad Flux"/>
                <a:cs typeface="Afacad Flux"/>
              </a:rPr>
              <a:t>Project Defence</a:t>
            </a:r>
            <a:endParaRPr sz="1000" b="1" i="0" u="none" cap="none">
              <a:solidFill>
                <a:schemeClr val="lt1"/>
              </a:solidFill>
              <a:latin typeface="Afacad Flux"/>
              <a:ea typeface="Afacad Flux"/>
              <a:cs typeface="Afacad Flux"/>
            </a:endParaRPr>
          </a:p>
        </p:txBody>
      </p:sp>
      <p:pic>
        <p:nvPicPr>
          <p:cNvPr id="125" name="Picture 1"/>
          <p:cNvPicPr>
            <a:picLocks xmlns:a="http://schemas.openxmlformats.org/drawingml/2006/main" noChangeAspect="1"/>
          </p:cNvPicPr>
          <p:nvPr/>
        </p:nvPicPr>
        <p:blipFill>
          <a:blip xmlns:r="http://schemas.openxmlformats.org/officeDocument/2006/relationships" xmlns:a="http://schemas.openxmlformats.org/drawingml/2006/main" r:embed="R22af8a33bf0a4a10"/>
          <a:stretch xmlns:a="http://schemas.openxmlformats.org/drawingml/2006/main">
            <a:fillRect l="0" t="0" r="0" b="0"/>
          </a:stretch>
        </p:blipFill>
        <p:spPr>
          <a:xfrm xmlns:a="http://schemas.openxmlformats.org/drawingml/2006/main">
            <a:off x="7127814" y="239115"/>
            <a:ext cx="1593400" cy="560179"/>
          </a:xfrm>
          <a:prstGeom xmlns:a="http://schemas.openxmlformats.org/drawingml/2006/main" prst="rect">
            <a:avLst/>
          </a:prstGeom>
        </p:spPr>
      </p:pic>
      <p:sp>
        <p:nvSpPr>
          <p:cNvPr id="104" name="severity-metric-1">
            <a:extLst xmlns:a="http://schemas.openxmlformats.org/drawingml/2006/main">
              <a:ext uri="{FF2B5EF4-FFF2-40B4-BE49-F238E27FC236}">
                <a16:creationId xmlns:a16="http://schemas.microsoft.com/office/drawing/2014/main" id="{A75326DC-0480-4901-8B89-22E420070673}"/>
              </a:ext>
            </a:extLst>
          </p:cNvPr>
          <p:cNvSpPr>
            <a:spLocks xmlns:a="http://schemas.openxmlformats.org/drawingml/2006/main" noGrp="1"/>
          </p:cNvSpPr>
          <p:nvPr/>
        </p:nvSpPr>
        <p:spPr>
          <a:xfrm xmlns:a="http://schemas.openxmlformats.org/drawingml/2006/main">
            <a:off x="714375" y="1981200"/>
            <a:ext cx="1714500" cy="990600"/>
          </a:xfrm>
          <a:prstGeom xmlns:a="http://schemas.openxmlformats.org/drawingml/2006/main" prst="roundRect">
            <a:avLst>
              <a:gd name="adj" fmla="val 11538"/>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40.3%</a:t>
            </a:r>
          </a:p>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EXACT SEVERITY ACCURACY</a:t>
            </a:r>
          </a:p>
        </p:txBody>
      </p:sp>
      <p:sp>
        <p:nvSpPr>
          <p:cNvPr id="105" name="severity-metric-2">
            <a:extLst xmlns:a="http://schemas.openxmlformats.org/drawingml/2006/main">
              <a:ext uri="{FF2B5EF4-FFF2-40B4-BE49-F238E27FC236}">
                <a16:creationId xmlns:a16="http://schemas.microsoft.com/office/drawing/2014/main" id="{A0D465CB-0A95-437F-95DA-B4A4D7C1D099}"/>
              </a:ext>
            </a:extLst>
          </p:cNvPr>
          <p:cNvSpPr>
            <a:spLocks xmlns:a="http://schemas.openxmlformats.org/drawingml/2006/main" noGrp="1"/>
          </p:cNvSpPr>
          <p:nvPr/>
        </p:nvSpPr>
        <p:spPr>
          <a:xfrm xmlns:a="http://schemas.openxmlformats.org/drawingml/2006/main">
            <a:off x="2638425" y="1981200"/>
            <a:ext cx="1714500" cy="990600"/>
          </a:xfrm>
          <a:prstGeom xmlns:a="http://schemas.openxmlformats.org/drawingml/2006/main" prst="roundRect">
            <a:avLst>
              <a:gd name="adj" fmla="val 11538"/>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0.383</a:t>
            </a:r>
          </a:p>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MACRO-F1</a:t>
            </a:r>
          </a:p>
        </p:txBody>
      </p:sp>
      <p:sp>
        <p:nvSpPr>
          <p:cNvPr id="106" name="severity-metric-3">
            <a:extLst xmlns:a="http://schemas.openxmlformats.org/drawingml/2006/main">
              <a:ext uri="{FF2B5EF4-FFF2-40B4-BE49-F238E27FC236}">
                <a16:creationId xmlns:a16="http://schemas.microsoft.com/office/drawing/2014/main" id="{F095F75F-86A4-44AF-BF41-ABD0CDD49445}"/>
              </a:ext>
            </a:extLst>
          </p:cNvPr>
          <p:cNvSpPr>
            <a:spLocks xmlns:a="http://schemas.openxmlformats.org/drawingml/2006/main" noGrp="1"/>
          </p:cNvSpPr>
          <p:nvPr/>
        </p:nvSpPr>
        <p:spPr>
          <a:xfrm xmlns:a="http://schemas.openxmlformats.org/drawingml/2006/main">
            <a:off x="4562475" y="1981200"/>
            <a:ext cx="1714500" cy="990600"/>
          </a:xfrm>
          <a:prstGeom xmlns:a="http://schemas.openxmlformats.org/drawingml/2006/main" prst="roundRect">
            <a:avLst>
              <a:gd name="adj" fmla="val 11538"/>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10/24</a:t>
            </a:r>
          </a:p>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REPEAT-STABLE
SIGNATURE SCENARIOS</a:t>
            </a:r>
          </a:p>
        </p:txBody>
      </p:sp>
      <p:sp>
        <p:nvSpPr>
          <p:cNvPr id="107" name="severity-metric-4">
            <a:extLst xmlns:a="http://schemas.openxmlformats.org/drawingml/2006/main">
              <a:ext uri="{FF2B5EF4-FFF2-40B4-BE49-F238E27FC236}">
                <a16:creationId xmlns:a16="http://schemas.microsoft.com/office/drawing/2014/main" id="{5C76C4F5-0256-4005-8F46-94F3BC8CBC0E}"/>
              </a:ext>
            </a:extLst>
          </p:cNvPr>
          <p:cNvSpPr>
            <a:spLocks xmlns:a="http://schemas.openxmlformats.org/drawingml/2006/main" noGrp="1"/>
          </p:cNvSpPr>
          <p:nvPr/>
        </p:nvSpPr>
        <p:spPr>
          <a:xfrm xmlns:a="http://schemas.openxmlformats.org/drawingml/2006/main">
            <a:off x="6486525" y="1981200"/>
            <a:ext cx="1714500" cy="990600"/>
          </a:xfrm>
          <a:prstGeom xmlns:a="http://schemas.openxmlformats.org/drawingml/2006/main" prst="roundRect">
            <a:avLst>
              <a:gd name="adj" fmla="val 11538"/>
            </a:avLst>
          </a:prstGeom>
          <a:solidFill xmlns:a="http://schemas.openxmlformats.org/drawingml/2006/main">
            <a:srgbClr val="15465F"/>
          </a:solidFill>
          <a:ln xmlns:a="http://schemas.openxmlformats.org/drawingml/2006/main" w="9525">
            <a:solidFill>
              <a:srgbClr val="4F7185"/>
            </a:solidFill>
            <a:prstDash val="solid"/>
          </a:ln>
        </p:spPr>
        <p:txBody>
          <a:bodyPr xmlns:a="http://schemas.openxmlformats.org/drawingml/2006/main" wrap="square" lIns="76200" tIns="76200" rIns="76200" bIns="76200" anchor="ctr">
            <a:normAutofit fontScale="100000"/>
          </a:bodyPr>
          <a:lstStyle xmlns:a="http://schemas.openxmlformats.org/drawingml/2006/main"/>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6</a:t>
            </a:r>
          </a:p>
          <a:p xmlns:a="http://schemas.openxmlformats.org/drawingml/2006/main">
            <a:pPr algn="ctr">
              <a:buNone/>
              <a:defRPr sz="825">
                <a:solidFill>
                  <a:srgbClr val="FFFFFF"/>
                </a:solidFill>
                <a:latin typeface="Manrope"/>
                <a:ea typeface="Manrope"/>
                <a:cs typeface="Manrope"/>
              </a:defRPr>
            </a:pPr>
            <a:r>
              <a:rPr sz="825" b="1">
                <a:solidFill>
                  <a:srgbClr val="FFFFFF"/>
                </a:solidFill>
                <a:latin typeface="Manrope"/>
                <a:ea typeface="Manrope"/>
                <a:cs typeface="Manrope"/>
              </a:rPr>
              <a:t>GOLD-HIGH → WARNING</a:t>
            </a:r>
          </a:p>
        </p:txBody>
      </p:sp>
      <p:sp>
        <p:nvSpPr>
          <p:cNvPr id="108" name="severity-undercall">
            <a:extLst xmlns:a="http://schemas.openxmlformats.org/drawingml/2006/main">
              <a:ext uri="{FF2B5EF4-FFF2-40B4-BE49-F238E27FC236}">
                <a16:creationId xmlns:a16="http://schemas.microsoft.com/office/drawing/2014/main" id="{44B31D9C-8F1F-4112-A1D7-5F97A504320D}"/>
              </a:ext>
            </a:extLst>
          </p:cNvPr>
          <p:cNvSpPr>
            <a:spLocks xmlns:a="http://schemas.openxmlformats.org/drawingml/2006/main" noGrp="1"/>
          </p:cNvSpPr>
          <p:nvPr/>
        </p:nvSpPr>
        <p:spPr>
          <a:xfrm xmlns:a="http://schemas.openxmlformats.org/drawingml/2006/main">
            <a:off x="714375" y="3181350"/>
            <a:ext cx="3619500" cy="666750"/>
          </a:xfrm>
          <a:prstGeom xmlns:a="http://schemas.openxmlformats.org/drawingml/2006/main" prst="roundRect">
            <a:avLst>
              <a:gd name="adj" fmla="val 17143"/>
            </a:avLst>
          </a:prstGeom>
          <a:solidFill xmlns:a="http://schemas.openxmlformats.org/drawingml/2006/main">
            <a:srgbClr val="3C2F3B"/>
          </a:solidFill>
          <a:ln xmlns:a="http://schemas.openxmlformats.org/drawingml/2006/main" w="9525">
            <a:solidFill>
              <a:srgbClr val="E83831"/>
            </a:solidFill>
            <a:prstDash val="solid"/>
          </a:ln>
        </p:spPr>
        <p:txBody>
          <a:bodyPr xmlns:a="http://schemas.openxmlformats.org/drawingml/2006/main" wrap="square" lIns="95250" tIns="66675" rIns="95250" bIns="66675" anchor="ctr">
            <a:normAutofit fontScale="100000"/>
          </a:bodyPr>
          <a:lstStyle xmlns:a="http://schemas.openxmlformats.org/drawingml/2006/main"/>
          <a:p xmlns:a="http://schemas.openxmlformats.org/drawingml/2006/main">
            <a:pPr algn="ctr">
              <a:buNone/>
              <a:defRPr sz="900">
                <a:solidFill>
                  <a:srgbClr val="FFFFFF"/>
                </a:solidFill>
                <a:latin typeface="Manrope"/>
                <a:ea typeface="Manrope"/>
                <a:cs typeface="Manrope"/>
              </a:defRPr>
            </a:pPr>
            <a:r>
              <a:rPr sz="900" b="1">
                <a:solidFill>
                  <a:srgbClr val="FFFFFF"/>
                </a:solidFill>
                <a:latin typeface="Manrope"/>
                <a:ea typeface="Manrope"/>
                <a:cs typeface="Manrope"/>
              </a:rPr>
              <a:t>72/72 STRUCTURE VALID</a:t>
            </a:r>
          </a:p>
          <a:p xmlns:a="http://schemas.openxmlformats.org/drawingml/2006/main">
            <a:pPr algn="ctr">
              <a:buNone/>
              <a:defRPr sz="900">
                <a:solidFill>
                  <a:srgbClr val="FFFFFF"/>
                </a:solidFill>
                <a:latin typeface="Manrope"/>
                <a:ea typeface="Manrope"/>
                <a:cs typeface="Manrope"/>
              </a:defRPr>
            </a:pPr>
            <a:r>
              <a:rPr sz="900" b="1">
                <a:solidFill>
                  <a:srgbClr val="FFFFFF"/>
                </a:solidFill>
                <a:latin typeface="Manrope"/>
                <a:ea typeface="Manrope"/>
                <a:cs typeface="Manrope"/>
              </a:rPr>
              <a:t>form did not imply calibration</a:t>
            </a:r>
          </a:p>
        </p:txBody>
      </p:sp>
      <p:sp>
        <p:nvSpPr>
          <p:cNvPr id="109" name="severity-critical-precision">
            <a:extLst xmlns:a="http://schemas.openxmlformats.org/drawingml/2006/main">
              <a:ext uri="{FF2B5EF4-FFF2-40B4-BE49-F238E27FC236}">
                <a16:creationId xmlns:a16="http://schemas.microsoft.com/office/drawing/2014/main" id="{0590E5DE-3EA6-48E9-A391-B9B208AD3219}"/>
              </a:ext>
            </a:extLst>
          </p:cNvPr>
          <p:cNvSpPr>
            <a:spLocks xmlns:a="http://schemas.openxmlformats.org/drawingml/2006/main" noGrp="1"/>
          </p:cNvSpPr>
          <p:nvPr/>
        </p:nvSpPr>
        <p:spPr>
          <a:xfrm xmlns:a="http://schemas.openxmlformats.org/drawingml/2006/main">
            <a:off x="4619625" y="3181350"/>
            <a:ext cx="3619500" cy="666750"/>
          </a:xfrm>
          <a:prstGeom xmlns:a="http://schemas.openxmlformats.org/drawingml/2006/main" prst="roundRect">
            <a:avLst>
              <a:gd name="adj" fmla="val 17143"/>
            </a:avLst>
          </a:prstGeom>
          <a:solidFill xmlns:a="http://schemas.openxmlformats.org/drawingml/2006/main">
            <a:srgbClr val="15465F"/>
          </a:solidFill>
          <a:ln xmlns:a="http://schemas.openxmlformats.org/drawingml/2006/main" w="9525">
            <a:solidFill>
              <a:srgbClr val="C0A282"/>
            </a:solidFill>
            <a:prstDash val="solid"/>
          </a:ln>
        </p:spPr>
        <p:txBody>
          <a:bodyPr xmlns:a="http://schemas.openxmlformats.org/drawingml/2006/main" wrap="square" lIns="95250" tIns="66675" rIns="95250" bIns="66675" anchor="ctr">
            <a:normAutofit fontScale="100000"/>
          </a:bodyPr>
          <a:lstStyle xmlns:a="http://schemas.openxmlformats.org/drawingml/2006/main"/>
          <a:p xmlns:a="http://schemas.openxmlformats.org/drawingml/2006/main">
            <a:pPr algn="ctr">
              <a:buNone/>
              <a:defRPr sz="900">
                <a:solidFill>
                  <a:srgbClr val="FFFFFF"/>
                </a:solidFill>
                <a:latin typeface="Manrope"/>
                <a:ea typeface="Manrope"/>
                <a:cs typeface="Manrope"/>
              </a:defRPr>
            </a:pPr>
            <a:r>
              <a:rPr sz="900" b="1">
                <a:solidFill>
                  <a:srgbClr val="FFFFFF"/>
                </a:solidFill>
                <a:latin typeface="Manrope"/>
                <a:ea typeface="Manrope"/>
                <a:cs typeface="Manrope"/>
              </a:rPr>
              <a:t>GOVERNANCE CONSEQUENCE</a:t>
            </a:r>
          </a:p>
          <a:p xmlns:a="http://schemas.openxmlformats.org/drawingml/2006/main">
            <a:pPr algn="ctr">
              <a:buNone/>
              <a:defRPr sz="900">
                <a:solidFill>
                  <a:srgbClr val="FFFFFF"/>
                </a:solidFill>
                <a:latin typeface="Manrope"/>
                <a:ea typeface="Manrope"/>
                <a:cs typeface="Manrope"/>
              </a:defRPr>
            </a:pPr>
            <a:r>
              <a:rPr sz="900" b="1">
                <a:solidFill>
                  <a:srgbClr val="FFFFFF"/>
                </a:solidFill>
                <a:latin typeface="Manrope"/>
                <a:ea typeface="Manrope"/>
                <a:cs typeface="Manrope"/>
              </a:rPr>
              <a:t>human review + severity visibility mandatory</a:t>
            </a:r>
          </a:p>
        </p:txBody>
      </p:sp>
    </p:spTree>
    <p:extLst>
      <p:ext uri="{BB962C8B-B14F-4D97-AF65-F5344CB8AC3E}">
        <p14:creationId xmlns:p14="http://schemas.microsoft.com/office/powerpoint/2010/main" val="76611002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g3ba14ccda94_0_28">
            <a:extLst xmlns:a="http://schemas.openxmlformats.org/drawingml/2006/main">
              <a:ext uri="{FF2B5EF4-FFF2-40B4-BE49-F238E27FC236}">
                <a16:creationId xmlns:a16="http://schemas.microsoft.com/office/drawing/2014/main" id="{B59DA8BC-98DD-0625-DE1C-8EE11BC28C9A}"/>
              </a:ext>
            </a:extLst>
          </p:cNvPr>
          <p:cNvSpPr>
            <a:spLocks xmlns:a="http://schemas.openxmlformats.org/drawingml/2006/main" noGrp="1"/>
          </p:cNvSpPr>
          <p:nvPr/>
        </p:nvSpPr>
        <p:spPr>
          <a:xfrm xmlns:a="http://schemas.openxmlformats.org/drawingml/2006/main">
            <a:off x="-38100" y="-5196"/>
            <a:ext cx="9288450" cy="5320146"/>
          </a:xfrm>
          <a:prstGeom xmlns:a="http://schemas.openxmlformats.org/drawingml/2006/main" prst="rect">
            <a:avLst/>
          </a:prstGeom>
          <a:solidFill xmlns:a="http://schemas.openxmlformats.org/drawingml/2006/main">
            <a:srgbClr val="09314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endParaRPr/>
          </a:p>
        </p:txBody>
      </p:sp>
      <p:sp>
        <p:nvSpPr>
          <p:cNvPr id="88" name="Google Shape;88;g3ba14ccda94_0_28">
            <a:extLst xmlns:a="http://schemas.openxmlformats.org/drawingml/2006/main">
              <a:ext uri="{FF2B5EF4-FFF2-40B4-BE49-F238E27FC236}">
                <a16:creationId xmlns:a16="http://schemas.microsoft.com/office/drawing/2014/main" id="{34468AB8-7B5E-EFB9-0516-3F92B69506DE}"/>
              </a:ext>
            </a:extLst>
          </p:cNvPr>
          <p:cNvSpPr>
            <a:spLocks xmlns:a="http://schemas.openxmlformats.org/drawingml/2006/main" noGrp="1"/>
          </p:cNvSpPr>
          <p:nvPr/>
        </p:nvSpPr>
        <p:spPr>
          <a:xfrm xmlns:a="http://schemas.openxmlformats.org/drawingml/2006/main">
            <a:off x="585574" y="942125"/>
            <a:ext cx="6572250" cy="5385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81894"/>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00"/>
              <a:buFont typeface="Arial"/>
              <a:buNone/>
              <a:defRPr sz="2850" b="1">
                <a:solidFill>
                  <a:srgbClr val="C0A282"/>
                </a:solidFill>
                <a:latin typeface="Afacad Flux"/>
                <a:ea typeface="Afacad Flux"/>
                <a:cs typeface="Afacad Flux"/>
              </a:defRPr>
            </a:pPr>
            <a:r>
              <a:rPr sz="2850" b="1" i="0" u="none" cap="none">
                <a:solidFill>
                  <a:srgbClr val="C0A282"/>
                </a:solidFill>
                <a:latin typeface="Afacad Flux"/>
                <a:ea typeface="Afacad Flux"/>
                <a:cs typeface="Afacad Flux"/>
              </a:rPr>
              <a:t>Bounded decision support—not autonomous diagnosis</a:t>
            </a:r>
          </a:p>
        </p:txBody>
      </p:sp>
      <p:sp>
        <p:nvSpPr>
          <p:cNvPr id="89" name="Google Shape;89;g3ba14ccda94_0_28">
            <a:extLst xmlns:a="http://schemas.openxmlformats.org/drawingml/2006/main">
              <a:ext uri="{FF2B5EF4-FFF2-40B4-BE49-F238E27FC236}">
                <a16:creationId xmlns:a16="http://schemas.microsoft.com/office/drawing/2014/main" id="{3353B898-44C9-9A9C-80E1-2B91EB5C59B6}"/>
              </a:ext>
            </a:extLst>
          </p:cNvPr>
          <p:cNvSpPr>
            <a:spLocks xmlns:a="http://schemas.openxmlformats.org/drawingml/2006/main" noGrp="1"/>
          </p:cNvSpPr>
          <p:nvPr/>
        </p:nvSpPr>
        <p:spPr>
          <a:xfrm xmlns:a="http://schemas.openxmlformats.org/drawingml/2006/main">
            <a:off x="617675" y="1881275"/>
            <a:ext cx="8214826" cy="2571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74309"/>
          </a:bodyPr>
          <a:lstStyle xmlns:a="http://schemas.openxmlformats.org/drawingml/2006/main"/>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DEMONSTRATED IN THE EVALUATED ARTEFACT</a:t>
            </a:r>
          </a:p>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 Bounded telemetry and runbook context</a:t>
            </a:r>
          </a:p>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 Visible provenance and structured validation</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 Operator approval before a CrowdSec ban</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 Severity-aware fingerprinted acknowledgement</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425">
                <a:solidFill>
                  <a:srgbClr val="FFFFFF"/>
                </a:solidFill>
                <a:latin typeface="Manrope"/>
                <a:ea typeface="Manrope"/>
                <a:cs typeface="Manrope"/>
              </a:defRPr>
            </a:pPr>
            <a:r>
              <a:rPr sz="1425" b="0" i="0" u="none" cap="none">
                <a:solidFill>
                  <a:srgbClr val="FFFFFF"/>
                </a:solidFill>
                <a:latin typeface="Manrope"/>
                <a:ea typeface="Manrope"/>
                <a:cs typeface="Manrope"/>
              </a:rPr>
              <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NOT DEMONSTRATED</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Autonomous diagnosis; workload or alert-fatigue reduction; production effectiveness; population usability; cross-model/provider equivalence</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NEXT EVIDENCE</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538">
                <a:solidFill>
                  <a:srgbClr val="FFFFFF"/>
                </a:solidFill>
                <a:latin typeface="Manrope"/>
                <a:ea typeface="Manrope"/>
                <a:cs typeface="Manrope"/>
              </a:defRPr>
            </a:pPr>
            <a:r>
              <a:rPr sz="1538" b="0" i="0" u="none" cap="none">
                <a:solidFill>
                  <a:srgbClr val="FFFFFF"/>
                </a:solidFill>
                <a:latin typeface="Manrope"/>
                <a:ea typeface="Manrope"/>
                <a:cs typeface="Manrope"/>
              </a:rPr>
              <a:t>Telemetry-derived signatures; comparative models; live field trials; larger panels; task-based usability</a:t>
            </a:r>
            <a:endParaRPr sz="1200" b="0" i="0" u="none" cap="none">
              <a:solidFill>
                <a:schemeClr val="lt1"/>
              </a:solidFill>
              <a:latin typeface="Manrope"/>
              <a:ea typeface="Manrope"/>
              <a:cs typeface="Manrope"/>
            </a:endParaRPr>
          </a:p>
        </p:txBody>
      </p:sp>
      <p:cxnSp>
        <p:nvCxnSpPr>
          <p:cNvPr id="117" name="Google Shape;91;g3ba14ccda94_0_28"/>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E83831"/>
            </a:solidFill>
            <a:prstDash val="solid"/>
            <a:round/>
            <a:headEnd type="none" w="med" len="med"/>
            <a:tailEnd type="none" w="med" len="med"/>
          </a:ln>
        </p:spPr>
      </p:cxnSp>
      <p:sp>
        <p:nvSpPr>
          <p:cNvPr id="92" name="Google Shape;92;g3ba14ccda94_0_28">
            <a:extLst xmlns:a="http://schemas.openxmlformats.org/drawingml/2006/main">
              <a:ext uri="{FF2B5EF4-FFF2-40B4-BE49-F238E27FC236}">
                <a16:creationId xmlns:a16="http://schemas.microsoft.com/office/drawing/2014/main" id="{B0DDA3CF-EF31-AC2E-EDFA-78ECF9371A52}"/>
              </a:ext>
            </a:extLst>
          </p:cNvPr>
          <p:cNvSpPr>
            <a:spLocks xmlns:a="http://schemas.openxmlformats.org/drawingml/2006/main" noGrp="1"/>
          </p:cNvSpPr>
          <p:nvPr/>
        </p:nvSpPr>
        <p:spPr>
          <a:xfrm xmlns:a="http://schemas.openxmlformats.org/drawingml/2006/main">
            <a:off x="594524" y="349855"/>
            <a:ext cx="1254373"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FFFFFF"/>
                </a:solidFill>
                <a:latin typeface="Afacad Flux"/>
                <a:ea typeface="Afacad Flux"/>
                <a:cs typeface="Afacad Flux"/>
              </a:defRPr>
            </a:pPr>
            <a:r>
              <a:rPr sz="1200" b="1">
                <a:solidFill>
                  <a:srgbClr val="FFFFFF"/>
                </a:solidFill>
                <a:latin typeface="Afacad Flux"/>
                <a:ea typeface="Afacad Flux"/>
                <a:cs typeface="Afacad Flux"/>
              </a:rPr>
              <a:t>Project Defence</a:t>
            </a:r>
            <a:endParaRPr sz="1000" b="1" i="0" u="none" cap="none">
              <a:solidFill>
                <a:schemeClr val="lt1"/>
              </a:solidFill>
              <a:latin typeface="Afacad Flux"/>
              <a:ea typeface="Afacad Flux"/>
              <a:cs typeface="Afacad Flux"/>
            </a:endParaRPr>
          </a:p>
        </p:txBody>
      </p:sp>
      <p:pic>
        <p:nvPicPr>
          <p:cNvPr id="119" name="Picture 1"/>
          <p:cNvPicPr>
            <a:picLocks xmlns:a="http://schemas.openxmlformats.org/drawingml/2006/main" noChangeAspect="1"/>
          </p:cNvPicPr>
          <p:nvPr/>
        </p:nvPicPr>
        <p:blipFill>
          <a:blip xmlns:r="http://schemas.openxmlformats.org/officeDocument/2006/relationships" xmlns:a="http://schemas.openxmlformats.org/drawingml/2006/main" r:embed="R974861937e684d9d"/>
          <a:stretch xmlns:a="http://schemas.openxmlformats.org/drawingml/2006/main">
            <a:fillRect l="0" t="0" r="0" b="0"/>
          </a:stretch>
        </p:blipFill>
        <p:spPr>
          <a:xfrm xmlns:a="http://schemas.openxmlformats.org/drawingml/2006/main">
            <a:off x="7127814" y="239115"/>
            <a:ext cx="1593400" cy="560179"/>
          </a:xfrm>
          <a:prstGeom xmlns:a="http://schemas.openxmlformats.org/drawingml/2006/main" prst="rect">
            <a:avLst/>
          </a:prstGeom>
        </p:spPr>
      </p:pic>
    </p:spTree>
    <p:extLst>
      <p:ext uri="{BB962C8B-B14F-4D97-AF65-F5344CB8AC3E}">
        <p14:creationId xmlns:p14="http://schemas.microsoft.com/office/powerpoint/2010/main" val="7661100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g3ba14ccda94_0_28">
            <a:extLst xmlns:a="http://schemas.openxmlformats.org/drawingml/2006/main">
              <a:ext uri="{FF2B5EF4-FFF2-40B4-BE49-F238E27FC236}">
                <a16:creationId xmlns:a16="http://schemas.microsoft.com/office/drawing/2014/main" id="{F6E9DE47-7A89-03FD-8838-AB32C51F16BE}"/>
              </a:ext>
            </a:extLst>
          </p:cNvPr>
          <p:cNvSpPr>
            <a:spLocks xmlns:a="http://schemas.openxmlformats.org/drawingml/2006/main" noGrp="1"/>
          </p:cNvSpPr>
          <p:nvPr/>
        </p:nvSpPr>
        <p:spPr>
          <a:xfrm xmlns:a="http://schemas.openxmlformats.org/drawingml/2006/main">
            <a:off x="-266700" y="-152400"/>
            <a:ext cx="9421800" cy="5305748"/>
          </a:xfrm>
          <a:prstGeom xmlns:a="http://schemas.openxmlformats.org/drawingml/2006/main" prst="rect">
            <a:avLst/>
          </a:prstGeom>
          <a:solidFill xmlns:a="http://schemas.openxmlformats.org/drawingml/2006/main">
            <a:srgbClr val="09314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endParaRPr/>
          </a:p>
        </p:txBody>
      </p:sp>
      <p:sp>
        <p:nvSpPr>
          <p:cNvPr id="88" name="Google Shape;88;g3ba14ccda94_0_28">
            <a:extLst xmlns:a="http://schemas.openxmlformats.org/drawingml/2006/main">
              <a:ext uri="{FF2B5EF4-FFF2-40B4-BE49-F238E27FC236}">
                <a16:creationId xmlns:a16="http://schemas.microsoft.com/office/drawing/2014/main" id="{50CF5E3E-E802-64F5-BC89-2D8335A7B79A}"/>
              </a:ext>
            </a:extLst>
          </p:cNvPr>
          <p:cNvSpPr>
            <a:spLocks xmlns:a="http://schemas.openxmlformats.org/drawingml/2006/main" noGrp="1"/>
          </p:cNvSpPr>
          <p:nvPr/>
        </p:nvSpPr>
        <p:spPr>
          <a:xfrm xmlns:a="http://schemas.openxmlformats.org/drawingml/2006/main">
            <a:off x="585574" y="942125"/>
            <a:ext cx="6572250" cy="5385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00"/>
              <a:buFont typeface="Arial"/>
              <a:buNone/>
              <a:defRPr sz="2850" b="1">
                <a:solidFill>
                  <a:srgbClr val="C0A282"/>
                </a:solidFill>
                <a:latin typeface="Afacad Flux"/>
                <a:ea typeface="Afacad Flux"/>
                <a:cs typeface="Afacad Flux"/>
              </a:defRPr>
            </a:pPr>
            <a:r>
              <a:rPr sz="2850" b="1" i="0" u="none" cap="none">
                <a:solidFill>
                  <a:srgbClr val="C0A282"/>
                </a:solidFill>
                <a:latin typeface="Afacad Flux"/>
                <a:ea typeface="Afacad Flux"/>
                <a:cs typeface="Afacad Flux"/>
              </a:rPr>
              <a:t>Literature review: theory becomes controls</a:t>
            </a:r>
            <a:endParaRPr sz="2300" b="1" i="0" u="none" cap="none">
              <a:solidFill>
                <a:srgbClr val="C0A282"/>
              </a:solidFill>
              <a:latin typeface="Afacad Flux"/>
              <a:ea typeface="Afacad Flux"/>
              <a:cs typeface="Afacad Flux"/>
            </a:endParaRPr>
          </a:p>
        </p:txBody>
      </p:sp>
      <p:sp>
        <p:nvSpPr>
          <p:cNvPr id="89" name="Google Shape;89;g3ba14ccda94_0_28">
            <a:extLst xmlns:a="http://schemas.openxmlformats.org/drawingml/2006/main">
              <a:ext uri="{FF2B5EF4-FFF2-40B4-BE49-F238E27FC236}">
                <a16:creationId xmlns:a16="http://schemas.microsoft.com/office/drawing/2014/main" id="{2BC2C388-10A3-D249-2B73-7D9B289B1AB9}"/>
              </a:ext>
            </a:extLst>
          </p:cNvPr>
          <p:cNvSpPr>
            <a:spLocks xmlns:a="http://schemas.openxmlformats.org/drawingml/2006/main" noGrp="1"/>
          </p:cNvSpPr>
          <p:nvPr/>
        </p:nvSpPr>
        <p:spPr>
          <a:xfrm xmlns:a="http://schemas.openxmlformats.org/drawingml/2006/main">
            <a:off x="617675" y="1881275"/>
            <a:ext cx="8214826" cy="2571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99107"/>
          </a:bodyPr>
          <a:lstStyle xmlns:a="http://schemas.openxmlformats.org/drawingml/2006/main"/>
          <a:p xmlns:a="http://schemas.openxmlformats.org/drawingml/2006/main">
            <a:pPr lvl="0" algn="l">
              <a:lnSpc>
                <a:spcPct val="115000"/>
              </a:lnSpc>
              <a:buSzPts val="1200"/>
              <a:buNone/>
              <a:defRPr sz="1650">
                <a:solidFill>
                  <a:srgbClr val="FFFFFF"/>
                </a:solidFill>
                <a:latin typeface="Manrope"/>
                <a:ea typeface="Manrope"/>
                <a:cs typeface="Manrope"/>
              </a:defRPr>
            </a:pPr>
            <a:r>
              <a:rPr sz="1650" b="0" i="0" u="none" cap="none">
                <a:solidFill>
                  <a:srgbClr val="FFFFFF"/>
                </a:solidFill>
                <a:latin typeface="Manrope"/>
                <a:ea typeface="Manrope"/>
                <a:cs typeface="Manrope"/>
              </a:rPr>
              <a:t>• Automation bias can produce misuse, disuse or complacency</a:t>
            </a:r>
          </a:p>
          <a:p xmlns:a="http://schemas.openxmlformats.org/drawingml/2006/main">
            <a:pPr lvl="0" algn="l">
              <a:lnSpc>
                <a:spcPct val="115000"/>
              </a:lnSpc>
              <a:buSzPts val="1200"/>
              <a:buNone/>
              <a:defRPr sz="1650">
                <a:solidFill>
                  <a:srgbClr val="FFFFFF"/>
                </a:solidFill>
                <a:latin typeface="Manrope"/>
                <a:ea typeface="Manrope"/>
                <a:cs typeface="Manrope"/>
              </a:defRPr>
            </a:pPr>
            <a:r>
              <a:rPr sz="1650" b="0" i="0" u="none" cap="none">
                <a:solidFill>
                  <a:srgbClr val="FFFFFF"/>
                </a:solidFill>
                <a:latin typeface="Manrope"/>
                <a:ea typeface="Manrope"/>
                <a:cs typeface="Manrope"/>
              </a:rPr>
              <a:t>• Trust should be calibrated to demonstrated reliability and visible evidence</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650">
                <a:solidFill>
                  <a:srgbClr val="FFFFFF"/>
                </a:solidFill>
                <a:latin typeface="Manrope"/>
                <a:ea typeface="Manrope"/>
                <a:cs typeface="Manrope"/>
              </a:defRPr>
            </a:pPr>
            <a:r>
              <a:rPr sz="1650" b="0" i="0" u="none" cap="none">
                <a:solidFill>
                  <a:srgbClr val="FFFFFF"/>
                </a:solidFill>
                <a:latin typeface="Manrope"/>
                <a:ea typeface="Manrope"/>
                <a:cs typeface="Manrope"/>
              </a:rPr>
              <a:t>• Alert fatigue makes repeated presentation—not inference—an operational concern</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650">
                <a:solidFill>
                  <a:srgbClr val="FFFFFF"/>
                </a:solidFill>
                <a:latin typeface="Manrope"/>
                <a:ea typeface="Manrope"/>
                <a:cs typeface="Manrope"/>
              </a:defRPr>
            </a:pPr>
            <a:r>
              <a:rPr sz="1650" b="0" i="0" u="none" cap="none">
                <a:solidFill>
                  <a:srgbClr val="FFFFFF"/>
                </a:solidFill>
                <a:latin typeface="Manrope"/>
                <a:ea typeface="Manrope"/>
                <a:cs typeface="Manrope"/>
              </a:rPr>
              <a:t>• Human-AI guidance requires capability disclosure, correction and user control</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650">
                <a:solidFill>
                  <a:srgbClr val="FFFFFF"/>
                </a:solidFill>
                <a:latin typeface="Manrope"/>
                <a:ea typeface="Manrope"/>
                <a:cs typeface="Manrope"/>
              </a:defRPr>
            </a:pPr>
            <a:r>
              <a:rPr sz="1650" b="0" i="0" u="none" cap="none">
                <a:solidFill>
                  <a:srgbClr val="FFFFFF"/>
                </a:solidFill>
                <a:latin typeface="Manrope"/>
                <a:ea typeface="Manrope"/>
                <a:cs typeface="Manrope"/>
              </a:rPr>
              <a:t>• Organisational AI governance requires accountable roles, controls and evidence</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650">
                <a:solidFill>
                  <a:srgbClr val="FFFFFF"/>
                </a:solidFill>
                <a:latin typeface="Manrope"/>
                <a:ea typeface="Manrope"/>
                <a:cs typeface="Manrope"/>
              </a:defRPr>
            </a:pPr>
            <a:r>
              <a:rPr sz="1650" b="0" i="0" u="none" cap="none">
                <a:solidFill>
                  <a:srgbClr val="FFFFFF"/>
                </a:solidFill>
                <a:latin typeface="Manrope"/>
                <a:ea typeface="Manrope"/>
                <a:cs typeface="Manrope"/>
              </a:rPr>
              <a:t>• Trustworthy AI turns principles into continuing risk and monitoring duties</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650">
                <a:solidFill>
                  <a:srgbClr val="FFFFFF"/>
                </a:solidFill>
                <a:latin typeface="Manrope"/>
                <a:ea typeface="Manrope"/>
                <a:cs typeface="Manrope"/>
              </a:defRPr>
            </a:pPr>
            <a:r>
              <a:rPr sz="1650" b="0" i="0" u="none" cap="none">
                <a:solidFill>
                  <a:srgbClr val="FFFFFF"/>
                </a:solidFill>
                <a:latin typeface="Manrope"/>
                <a:ea typeface="Manrope"/>
                <a:cs typeface="Manrope"/>
              </a:rPr>
              <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650">
                <a:solidFill>
                  <a:srgbClr val="FFFFFF"/>
                </a:solidFill>
                <a:latin typeface="Manrope"/>
                <a:ea typeface="Manrope"/>
                <a:cs typeface="Manrope"/>
              </a:defRPr>
            </a:pPr>
            <a:r>
              <a:rPr sz="1650" b="0" i="0" u="none" cap="none">
                <a:solidFill>
                  <a:srgbClr val="FFFFFF"/>
                </a:solidFill>
                <a:latin typeface="Manrope"/>
                <a:ea typeface="Manrope"/>
                <a:cs typeface="Manrope"/>
              </a:rPr>
              <a:t>Design implication — structured output never replaces operator judgement</a:t>
            </a:r>
            <a:endParaRPr sz="1200" b="0" i="0" u="none" cap="none">
              <a:solidFill>
                <a:schemeClr val="lt1"/>
              </a:solidFill>
              <a:latin typeface="Manrope"/>
              <a:ea typeface="Manrope"/>
              <a:cs typeface="Manrope"/>
            </a:endParaRPr>
          </a:p>
        </p:txBody>
      </p:sp>
      <p:cxnSp>
        <p:nvCxnSpPr>
          <p:cNvPr id="117" name="Google Shape;91;g3ba14ccda94_0_28"/>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E83831"/>
            </a:solidFill>
            <a:prstDash val="solid"/>
            <a:round/>
            <a:headEnd type="none" w="med" len="med"/>
            <a:tailEnd type="none" w="med" len="med"/>
          </a:ln>
        </p:spPr>
      </p:cxnSp>
      <p:sp>
        <p:nvSpPr>
          <p:cNvPr id="92" name="Google Shape;92;g3ba14ccda94_0_28">
            <a:extLst xmlns:a="http://schemas.openxmlformats.org/drawingml/2006/main">
              <a:ext uri="{FF2B5EF4-FFF2-40B4-BE49-F238E27FC236}">
                <a16:creationId xmlns:a16="http://schemas.microsoft.com/office/drawing/2014/main" id="{B4430A66-BD6A-1853-78AC-9C8941EC619E}"/>
              </a:ext>
            </a:extLst>
          </p:cNvPr>
          <p:cNvSpPr>
            <a:spLocks xmlns:a="http://schemas.openxmlformats.org/drawingml/2006/main" noGrp="1"/>
          </p:cNvSpPr>
          <p:nvPr/>
        </p:nvSpPr>
        <p:spPr>
          <a:xfrm xmlns:a="http://schemas.openxmlformats.org/drawingml/2006/main">
            <a:off x="594524" y="349855"/>
            <a:ext cx="1254373"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FFFFFF"/>
                </a:solidFill>
                <a:latin typeface="Afacad Flux"/>
                <a:ea typeface="Afacad Flux"/>
                <a:cs typeface="Afacad Flux"/>
              </a:defRPr>
            </a:pPr>
            <a:r>
              <a:rPr sz="1200" b="1">
                <a:solidFill>
                  <a:srgbClr val="FFFFFF"/>
                </a:solidFill>
                <a:latin typeface="Afacad Flux"/>
                <a:ea typeface="Afacad Flux"/>
                <a:cs typeface="Afacad Flux"/>
              </a:rPr>
              <a:t>Project Defence</a:t>
            </a:r>
            <a:endParaRPr sz="1000" b="1" i="0" u="none" cap="none">
              <a:solidFill>
                <a:schemeClr val="lt1"/>
              </a:solidFill>
              <a:latin typeface="Afacad Flux"/>
              <a:ea typeface="Afacad Flux"/>
              <a:cs typeface="Afacad Flux"/>
            </a:endParaRPr>
          </a:p>
        </p:txBody>
      </p:sp>
      <p:pic>
        <p:nvPicPr>
          <p:cNvPr id="119" name="Picture 1"/>
          <p:cNvPicPr>
            <a:picLocks xmlns:a="http://schemas.openxmlformats.org/drawingml/2006/main" noChangeAspect="1"/>
          </p:cNvPicPr>
          <p:nvPr/>
        </p:nvPicPr>
        <p:blipFill>
          <a:blip xmlns:r="http://schemas.openxmlformats.org/officeDocument/2006/relationships" xmlns:a="http://schemas.openxmlformats.org/drawingml/2006/main" r:embed="R94d1f87863d84029"/>
          <a:stretch xmlns:a="http://schemas.openxmlformats.org/drawingml/2006/main">
            <a:fillRect l="0" t="0" r="0" b="0"/>
          </a:stretch>
        </p:blipFill>
        <p:spPr>
          <a:xfrm xmlns:a="http://schemas.openxmlformats.org/drawingml/2006/main">
            <a:off x="7127814" y="239115"/>
            <a:ext cx="1593400" cy="560179"/>
          </a:xfrm>
          <a:prstGeom xmlns:a="http://schemas.openxmlformats.org/drawingml/2006/main" prst="rect">
            <a:avLst/>
          </a:prstGeom>
        </p:spPr>
      </p:pic>
    </p:spTree>
    <p:extLst>
      <p:ext uri="{BB962C8B-B14F-4D97-AF65-F5344CB8AC3E}">
        <p14:creationId xmlns:p14="http://schemas.microsoft.com/office/powerpoint/2010/main" val="202713632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7" name="Google Shape;77;g3ba14ccda94_0_19">
            <a:extLst xmlns:a="http://schemas.openxmlformats.org/drawingml/2006/main">
              <a:ext uri="{FF2B5EF4-FFF2-40B4-BE49-F238E27FC236}">
                <a16:creationId xmlns:a16="http://schemas.microsoft.com/office/drawing/2014/main" id="{8693143F-7EBC-4943-BAE8-6A65A4173982}"/>
              </a:ext>
            </a:extLst>
          </p:cNvPr>
          <p:cNvSpPr>
            <a:spLocks xmlns:a="http://schemas.openxmlformats.org/drawingml/2006/main" noGrp="1"/>
          </p:cNvSpPr>
          <p:nvPr>
            <p:ph type="title" idx="0"/>
          </p:nvPr>
        </p:nvSpPr>
        <p:spPr>
          <a:xfrm xmlns:a="http://schemas.openxmlformats.org/drawingml/2006/main">
            <a:off x="612375" y="965400"/>
            <a:ext cx="6572250" cy="47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lvl="0" indent="0" algn="l">
              <a:lnSpc>
                <a:spcPct val="100000"/>
              </a:lnSpc>
              <a:spcBef>
                <a:spcPts val="0"/>
              </a:spcBef>
              <a:spcAft>
                <a:spcPts val="0"/>
              </a:spcAft>
              <a:buSzPts val="2800"/>
              <a:buNone/>
              <a:defRPr sz="2850" b="1">
                <a:solidFill>
                  <a:srgbClr val="E83831"/>
                </a:solidFill>
                <a:latin typeface="Afacad Flux"/>
                <a:ea typeface="Afacad Flux"/>
                <a:cs typeface="Afacad Flux"/>
              </a:defRPr>
            </a:pPr>
            <a:r>
              <a:rPr sz="2850" b="1">
                <a:solidFill>
                  <a:srgbClr val="E83831"/>
                </a:solidFill>
                <a:latin typeface="Afacad Flux"/>
                <a:ea typeface="Afacad Flux"/>
                <a:cs typeface="Afacad Flux"/>
              </a:rPr>
              <a:t>Five inquiry areas; seven bounded questions</a:t>
            </a:r>
            <a:endParaRPr sz="2300" b="1">
              <a:solidFill>
                <a:srgbClr val="E83831"/>
              </a:solidFill>
              <a:latin typeface="Afacad Flux"/>
              <a:ea typeface="Afacad Flux"/>
              <a:cs typeface="Afacad Flux"/>
            </a:endParaRPr>
          </a:p>
        </p:txBody>
      </p:sp>
      <p:sp>
        <p:nvSpPr>
          <p:cNvPr id="78" name="Google Shape;78;g3ba14ccda94_0_19">
            <a:extLst xmlns:a="http://schemas.openxmlformats.org/drawingml/2006/main">
              <a:ext uri="{FF2B5EF4-FFF2-40B4-BE49-F238E27FC236}">
                <a16:creationId xmlns:a16="http://schemas.microsoft.com/office/drawing/2014/main" id="{EF046507-6A8C-4893-935C-79FC38E87608}"/>
              </a:ext>
            </a:extLst>
          </p:cNvPr>
          <p:cNvSpPr>
            <a:spLocks xmlns:a="http://schemas.openxmlformats.org/drawingml/2006/main" noGrp="1"/>
          </p:cNvSpPr>
          <p:nvPr>
            <p:ph type="body" idx="1"/>
          </p:nvPr>
        </p:nvSpPr>
        <p:spPr>
          <a:xfrm xmlns:a="http://schemas.openxmlformats.org/drawingml/2006/main">
            <a:off x="482074" y="1715950"/>
            <a:ext cx="8149459" cy="266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100000"/>
          </a:bodyPr>
          <a:lstStyle xmlns:a="http://schemas.openxmlformats.org/drawingml/2006/main"/>
          <a:p xmlns:a="http://schemas.openxmlformats.org/drawingml/2006/main">
            <a:pPr marL="152400" lvl="0" indent="0" algn="l">
              <a:lnSpc>
                <a:spcPct val="100000"/>
              </a:lnSpc>
              <a:spcBef>
                <a:spcPts val="0"/>
              </a:spcBef>
              <a:spcAft>
                <a:spcPts val="0"/>
              </a:spcAft>
              <a:buClr>
                <a:srgbClr val="E83831"/>
              </a:buClr>
              <a:buSzPts val="1200"/>
              <a:buNone/>
              <a:defRPr sz="1500">
                <a:solidFill>
                  <a:srgbClr val="09314F"/>
                </a:solidFill>
                <a:latin typeface="Manrope"/>
                <a:ea typeface="Manrope"/>
                <a:cs typeface="Manrope"/>
              </a:defRPr>
            </a:pPr>
            <a:r>
              <a:rPr sz="1500">
                <a:solidFill>
                  <a:srgbClr val="09314F"/>
                </a:solidFill>
                <a:latin typeface="Manrope"/>
                <a:ea typeface="Manrope"/>
                <a:cs typeface="Manrope"/>
              </a:rPr>
              <a:t>Aim — design, implement and verify bounded first-pass incident support</a:t>
            </a:r>
          </a:p>
          <a:p xmlns:a="http://schemas.openxmlformats.org/drawingml/2006/main">
            <a:pPr marL="152400" lvl="0" indent="0" algn="l">
              <a:lnSpc>
                <a:spcPct val="100000"/>
              </a:lnSpc>
              <a:spcBef>
                <a:spcPts val="0"/>
              </a:spcBef>
              <a:spcAft>
                <a:spcPts val="0"/>
              </a:spcAft>
              <a:buClr>
                <a:srgbClr val="E83831"/>
              </a:buClr>
              <a:buSzPts val="1200"/>
              <a:buNone/>
              <a:defRPr sz="1500">
                <a:solidFill>
                  <a:srgbClr val="09314F"/>
                </a:solidFill>
                <a:latin typeface="Manrope"/>
                <a:ea typeface="Manrope"/>
                <a:cs typeface="Manrope"/>
              </a:defRPr>
            </a:pPr>
            <a:r>
              <a:rPr sz="1500">
                <a:solidFill>
                  <a:srgbClr val="09314F"/>
                </a:solidFill>
                <a:latin typeface="Manrope"/>
                <a:ea typeface="Manrope"/>
                <a:cs typeface="Manrope"/>
              </a:rPr>
              <a:t/>
            </a:r>
          </a:p>
          <a:p xmlns:a="http://schemas.openxmlformats.org/drawingml/2006/main">
            <a:pPr marL="152400" lvl="0" indent="0" algn="l">
              <a:lnSpc>
                <a:spcPct val="100000"/>
              </a:lnSpc>
              <a:spcBef>
                <a:spcPts val="0"/>
              </a:spcBef>
              <a:spcAft>
                <a:spcPts val="0"/>
              </a:spcAft>
              <a:buClr>
                <a:srgbClr val="E83831"/>
              </a:buClr>
              <a:buSzPts val="1200"/>
              <a:buNone/>
              <a:defRPr sz="1500">
                <a:solidFill>
                  <a:srgbClr val="09314F"/>
                </a:solidFill>
                <a:latin typeface="Manrope"/>
                <a:ea typeface="Manrope"/>
                <a:cs typeface="Manrope"/>
              </a:defRPr>
            </a:pPr>
            <a:r>
              <a:rPr sz="1500">
                <a:solidFill>
                  <a:srgbClr val="09314F"/>
                </a:solidFill>
                <a:latin typeface="Manrope"/>
                <a:ea typeface="Manrope"/>
                <a:cs typeface="Manrope"/>
              </a:rPr>
              <a:t>• RQ1 — selected telemetry → reviewable verdicts</a:t>
            </a:r>
          </a:p>
          <a:p xmlns:a="http://schemas.openxmlformats.org/drawingml/2006/main">
            <a:pPr marL="152400" lvl="0" indent="0" algn="l">
              <a:lnSpc>
                <a:spcPct val="100000"/>
              </a:lnSpc>
              <a:spcBef>
                <a:spcPts val="0"/>
              </a:spcBef>
              <a:spcAft>
                <a:spcPts val="0"/>
              </a:spcAft>
              <a:buClr>
                <a:srgbClr val="E83831"/>
              </a:buClr>
              <a:buSzPts val="1200"/>
              <a:buNone/>
              <a:defRPr sz="1500">
                <a:solidFill>
                  <a:srgbClr val="09314F"/>
                </a:solidFill>
                <a:latin typeface="Manrope"/>
                <a:ea typeface="Manrope"/>
                <a:cs typeface="Manrope"/>
              </a:defRPr>
            </a:pPr>
            <a:r>
              <a:rPr sz="1500">
                <a:solidFill>
                  <a:srgbClr val="09314F"/>
                </a:solidFill>
                <a:latin typeface="Manrope"/>
                <a:ea typeface="Manrope"/>
                <a:cs typeface="Manrope"/>
              </a:rPr>
              <a:t>• RQ2 — operator-hosted inference, RAG, validation and approval</a:t>
            </a:r>
          </a:p>
          <a:p xmlns:a="http://schemas.openxmlformats.org/drawingml/2006/main">
            <a:pPr marL="152400" lvl="0" indent="0" algn="l">
              <a:lnSpc>
                <a:spcPct val="100000"/>
              </a:lnSpc>
              <a:spcBef>
                <a:spcPts val="0"/>
              </a:spcBef>
              <a:spcAft>
                <a:spcPts val="0"/>
              </a:spcAft>
              <a:buClr>
                <a:srgbClr val="E83831"/>
              </a:buClr>
              <a:buSzPts val="1200"/>
              <a:buNone/>
              <a:defRPr sz="1500">
                <a:solidFill>
                  <a:srgbClr val="09314F"/>
                </a:solidFill>
                <a:latin typeface="Manrope"/>
                <a:ea typeface="Manrope"/>
                <a:cs typeface="Manrope"/>
              </a:defRPr>
            </a:pPr>
            <a:r>
              <a:rPr sz="1500">
                <a:solidFill>
                  <a:srgbClr val="09314F"/>
                </a:solidFill>
                <a:latin typeface="Manrope"/>
                <a:ea typeface="Manrope"/>
                <a:cs typeface="Manrope"/>
              </a:rPr>
              <a:t>• RQ3 — recurrence, expiry, model/prompt change and severity escalation</a:t>
            </a:r>
          </a:p>
          <a:p xmlns:a="http://schemas.openxmlformats.org/drawingml/2006/main">
            <a:pPr marL="152400" lvl="0" indent="0" algn="l">
              <a:lnSpc>
                <a:spcPct val="100000"/>
              </a:lnSpc>
              <a:spcBef>
                <a:spcPts val="0"/>
              </a:spcBef>
              <a:spcAft>
                <a:spcPts val="0"/>
              </a:spcAft>
              <a:buClr>
                <a:srgbClr val="E83831"/>
              </a:buClr>
              <a:buSzPts val="1200"/>
              <a:buNone/>
              <a:defRPr sz="1500">
                <a:solidFill>
                  <a:srgbClr val="09314F"/>
                </a:solidFill>
                <a:latin typeface="Manrope"/>
                <a:ea typeface="Manrope"/>
                <a:cs typeface="Manrope"/>
              </a:defRPr>
            </a:pPr>
            <a:r>
              <a:rPr sz="1500">
                <a:solidFill>
                  <a:srgbClr val="09314F"/>
                </a:solidFill>
                <a:latin typeface="Manrope"/>
                <a:ea typeface="Manrope"/>
                <a:cs typeface="Manrope"/>
              </a:rPr>
              <a:t>• RQ4a — implementation evidence and qwen2.5:3b behaviour</a:t>
            </a:r>
            <a:endParaRPr sz="1200">
              <a:solidFill>
                <a:srgbClr val="09314F"/>
              </a:solidFill>
              <a:latin typeface="Manrope"/>
              <a:ea typeface="Manrope"/>
              <a:cs typeface="Manrope"/>
            </a:endParaRPr>
          </a:p>
          <a:p xmlns:a="http://schemas.openxmlformats.org/drawingml/2006/main">
            <a:pPr marL="152400" lvl="0" indent="0" algn="l">
              <a:lnSpc>
                <a:spcPct val="100000"/>
              </a:lnSpc>
              <a:spcBef>
                <a:spcPts val="0"/>
              </a:spcBef>
              <a:spcAft>
                <a:spcPts val="0"/>
              </a:spcAft>
              <a:buClr>
                <a:srgbClr val="E83831"/>
              </a:buClr>
              <a:buSzPts val="1200"/>
              <a:buNone/>
              <a:defRPr sz="1500">
                <a:solidFill>
                  <a:srgbClr val="09314F"/>
                </a:solidFill>
                <a:latin typeface="Manrope"/>
                <a:ea typeface="Manrope"/>
                <a:cs typeface="Manrope"/>
              </a:defRPr>
            </a:pPr>
            <a:r>
              <a:rPr sz="1500">
                <a:solidFill>
                  <a:srgbClr val="09314F"/>
                </a:solidFill>
                <a:latin typeface="Manrope"/>
                <a:ea typeface="Manrope"/>
                <a:cs typeface="Manrope"/>
              </a:rPr>
              <a:t>• RQ4b — descriptive perceived usability in the evaluated group</a:t>
            </a:r>
            <a:endParaRPr sz="1200">
              <a:solidFill>
                <a:srgbClr val="09314F"/>
              </a:solidFill>
              <a:latin typeface="Manrope"/>
              <a:ea typeface="Manrope"/>
              <a:cs typeface="Manrope"/>
            </a:endParaRPr>
          </a:p>
          <a:p xmlns:a="http://schemas.openxmlformats.org/drawingml/2006/main">
            <a:pPr marL="152400" lvl="0" indent="0" algn="l">
              <a:lnSpc>
                <a:spcPct val="100000"/>
              </a:lnSpc>
              <a:spcBef>
                <a:spcPts val="0"/>
              </a:spcBef>
              <a:spcAft>
                <a:spcPts val="0"/>
              </a:spcAft>
              <a:buClr>
                <a:srgbClr val="E83831"/>
              </a:buClr>
              <a:buSzPts val="1200"/>
              <a:buNone/>
              <a:defRPr sz="1500">
                <a:solidFill>
                  <a:srgbClr val="09314F"/>
                </a:solidFill>
                <a:latin typeface="Manrope"/>
                <a:ea typeface="Manrope"/>
                <a:cs typeface="Manrope"/>
              </a:defRPr>
            </a:pPr>
            <a:r>
              <a:rPr sz="1500">
                <a:solidFill>
                  <a:srgbClr val="09314F"/>
                </a:solidFill>
                <a:latin typeface="Manrope"/>
                <a:ea typeface="Manrope"/>
                <a:cs typeface="Manrope"/>
              </a:rPr>
              <a:t>• RQ4c — unresolved diagnostic, cross-model, cost, workload and field claims</a:t>
            </a:r>
            <a:endParaRPr sz="1200">
              <a:solidFill>
                <a:srgbClr val="09314F"/>
              </a:solidFill>
              <a:latin typeface="Manrope"/>
              <a:ea typeface="Manrope"/>
              <a:cs typeface="Manrope"/>
            </a:endParaRPr>
          </a:p>
          <a:p xmlns:a="http://schemas.openxmlformats.org/drawingml/2006/main">
            <a:pPr marL="152400" lvl="0" indent="0" algn="l">
              <a:lnSpc>
                <a:spcPct val="100000"/>
              </a:lnSpc>
              <a:spcBef>
                <a:spcPts val="0"/>
              </a:spcBef>
              <a:spcAft>
                <a:spcPts val="0"/>
              </a:spcAft>
              <a:buClr>
                <a:srgbClr val="E83831"/>
              </a:buClr>
              <a:buSzPts val="1200"/>
              <a:buNone/>
              <a:defRPr sz="1500">
                <a:solidFill>
                  <a:srgbClr val="09314F"/>
                </a:solidFill>
                <a:latin typeface="Manrope"/>
                <a:ea typeface="Manrope"/>
                <a:cs typeface="Manrope"/>
              </a:defRPr>
            </a:pPr>
            <a:r>
              <a:rPr sz="1500">
                <a:solidFill>
                  <a:srgbClr val="09314F"/>
                </a:solidFill>
                <a:latin typeface="Manrope"/>
                <a:ea typeface="Manrope"/>
                <a:cs typeface="Manrope"/>
              </a:rPr>
              <a:t>• RQ5 — security, deployment and data-governance constraints</a:t>
            </a:r>
            <a:endParaRPr sz="1200">
              <a:solidFill>
                <a:srgbClr val="09314F"/>
              </a:solidFill>
              <a:latin typeface="Manrope"/>
              <a:ea typeface="Manrope"/>
              <a:cs typeface="Manrope"/>
            </a:endParaRPr>
          </a:p>
        </p:txBody>
      </p:sp>
      <p:cxnSp>
        <p:nvCxnSpPr>
          <p:cNvPr id="101" name="Google Shape;80;g3ba14ccda94_0_19"/>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B6997F"/>
            </a:solidFill>
            <a:prstDash val="solid"/>
            <a:round/>
            <a:headEnd type="none" w="med" len="med"/>
            <a:tailEnd type="none" w="med" len="med"/>
          </a:ln>
        </p:spPr>
      </p:cxnSp>
      <p:sp>
        <p:nvSpPr>
          <p:cNvPr id="81" name="Google Shape;81;g3ba14ccda94_0_19">
            <a:extLst xmlns:a="http://schemas.openxmlformats.org/drawingml/2006/main">
              <a:ext uri="{FF2B5EF4-FFF2-40B4-BE49-F238E27FC236}">
                <a16:creationId xmlns:a16="http://schemas.microsoft.com/office/drawing/2014/main" id="{07CBB763-C78F-4971-8762-54C0B685C62D}"/>
              </a:ext>
            </a:extLst>
          </p:cNvPr>
          <p:cNvSpPr>
            <a:spLocks xmlns:a="http://schemas.openxmlformats.org/drawingml/2006/main" noGrp="1"/>
          </p:cNvSpPr>
          <p:nvPr/>
        </p:nvSpPr>
        <p:spPr>
          <a:xfrm xmlns:a="http://schemas.openxmlformats.org/drawingml/2006/main">
            <a:off x="594524" y="349855"/>
            <a:ext cx="1073501"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0B314F"/>
                </a:solidFill>
                <a:latin typeface="Afacad Flux"/>
                <a:ea typeface="Afacad Flux"/>
                <a:cs typeface="Afacad Flux"/>
              </a:defRPr>
            </a:pPr>
            <a:r>
              <a:rPr sz="1200" b="1" i="0" u="none" cap="none">
                <a:solidFill>
                  <a:srgbClr val="0B314F"/>
                </a:solidFill>
                <a:latin typeface="Afacad Flux"/>
                <a:ea typeface="Afacad Flux"/>
                <a:cs typeface="Afacad Flux"/>
              </a:rPr>
              <a:t>Project Defence</a:t>
            </a:r>
            <a:endParaRPr sz="1000" b="1" i="0" u="none" cap="none">
              <a:solidFill>
                <a:srgbClr val="0B314F"/>
              </a:solidFill>
              <a:latin typeface="Afacad Flux"/>
              <a:ea typeface="Afacad Flux"/>
              <a:cs typeface="Afacad Flux"/>
            </a:endParaRPr>
          </a:p>
        </p:txBody>
      </p:sp>
      <p:pic>
        <p:nvPicPr>
          <p:cNvPr id="103" name="Picture 1"/>
          <p:cNvPicPr>
            <a:picLocks xmlns:a="http://schemas.openxmlformats.org/drawingml/2006/main" noChangeAspect="1"/>
          </p:cNvPicPr>
          <p:nvPr/>
        </p:nvPicPr>
        <p:blipFill>
          <a:blip xmlns:r="http://schemas.openxmlformats.org/officeDocument/2006/relationships" xmlns:a="http://schemas.openxmlformats.org/drawingml/2006/main" r:embed="Rf55c2f8cddfb4ce1"/>
          <a:stretch xmlns:a="http://schemas.openxmlformats.org/drawingml/2006/main">
            <a:fillRect l="0" t="0" r="0" b="0"/>
          </a:stretch>
        </p:blipFill>
        <p:spPr>
          <a:xfrm xmlns:a="http://schemas.openxmlformats.org/drawingml/2006/main">
            <a:off x="7125672" y="239527"/>
            <a:ext cx="1591055" cy="559355"/>
          </a:xfrm>
          <a:prstGeom xmlns:a="http://schemas.openxmlformats.org/drawingml/2006/main" prst="rect">
            <a:avLst/>
          </a:prstGeom>
        </p:spPr>
      </p:pic>
    </p:spTree>
    <p:extLst>
      <p:ext uri="{BB962C8B-B14F-4D97-AF65-F5344CB8AC3E}">
        <p14:creationId xmlns:p14="http://schemas.microsoft.com/office/powerpoint/2010/main" val="40503250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7" name="Google Shape;77;g3ba14ccda94_0_19">
            <a:extLst xmlns:a="http://schemas.openxmlformats.org/drawingml/2006/main">
              <a:ext uri="{FF2B5EF4-FFF2-40B4-BE49-F238E27FC236}">
                <a16:creationId xmlns:a16="http://schemas.microsoft.com/office/drawing/2014/main" id="{A27235BD-4E5E-342A-510C-825F9EA13E53}"/>
              </a:ext>
            </a:extLst>
          </p:cNvPr>
          <p:cNvSpPr>
            <a:spLocks xmlns:a="http://schemas.openxmlformats.org/drawingml/2006/main" noGrp="1"/>
          </p:cNvSpPr>
          <p:nvPr>
            <p:ph type="title" idx="0"/>
          </p:nvPr>
        </p:nvSpPr>
        <p:spPr>
          <a:xfrm xmlns:a="http://schemas.openxmlformats.org/drawingml/2006/main">
            <a:off x="612375" y="965400"/>
            <a:ext cx="6572250" cy="47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lvl="0" indent="0" algn="l">
              <a:lnSpc>
                <a:spcPct val="100000"/>
              </a:lnSpc>
              <a:spcBef>
                <a:spcPts val="0"/>
              </a:spcBef>
              <a:spcAft>
                <a:spcPts val="0"/>
              </a:spcAft>
              <a:buSzPts val="2800"/>
              <a:buNone/>
              <a:defRPr sz="2850" b="1">
                <a:solidFill>
                  <a:srgbClr val="E83831"/>
                </a:solidFill>
                <a:latin typeface="Afacad Flux"/>
                <a:ea typeface="Afacad Flux"/>
                <a:cs typeface="Afacad Flux"/>
              </a:defRPr>
            </a:pPr>
            <a:r>
              <a:rPr sz="2850" b="1">
                <a:solidFill>
                  <a:srgbClr val="E83831"/>
                </a:solidFill>
                <a:latin typeface="Afacad Flux"/>
                <a:ea typeface="Afacad Flux"/>
                <a:cs typeface="Afacad Flux"/>
              </a:rPr>
              <a:t>Timeline and resources</a:t>
            </a:r>
            <a:endParaRPr sz="2300" b="1">
              <a:solidFill>
                <a:srgbClr val="E83831"/>
              </a:solidFill>
              <a:latin typeface="Afacad Flux"/>
              <a:ea typeface="Afacad Flux"/>
              <a:cs typeface="Afacad Flux"/>
            </a:endParaRPr>
          </a:p>
        </p:txBody>
      </p:sp>
      <p:sp>
        <p:nvSpPr>
          <p:cNvPr id="78" name="Google Shape;78;g3ba14ccda94_0_19">
            <a:extLst xmlns:a="http://schemas.openxmlformats.org/drawingml/2006/main">
              <a:ext uri="{FF2B5EF4-FFF2-40B4-BE49-F238E27FC236}">
                <a16:creationId xmlns:a16="http://schemas.microsoft.com/office/drawing/2014/main" id="{170A701B-5D26-E08C-A235-506D2768F58F}"/>
              </a:ext>
            </a:extLst>
          </p:cNvPr>
          <p:cNvSpPr>
            <a:spLocks xmlns:a="http://schemas.openxmlformats.org/drawingml/2006/main" noGrp="1"/>
          </p:cNvSpPr>
          <p:nvPr>
            <p:ph type="body" idx="1"/>
          </p:nvPr>
        </p:nvSpPr>
        <p:spPr>
          <a:xfrm xmlns:a="http://schemas.openxmlformats.org/drawingml/2006/main">
            <a:off x="617696" y="3829050"/>
            <a:ext cx="8214836" cy="7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96464"/>
          </a:bodyPr>
          <a:lstStyle xmlns:a="http://schemas.openxmlformats.org/drawingml/2006/main"/>
          <a:p xmlns:a="http://schemas.openxmlformats.org/drawingml/2006/main">
            <a:pPr marL="152400" lvl="0" indent="0" algn="l">
              <a:lnSpc>
                <a:spcPct val="100000"/>
              </a:lnSpc>
              <a:spcBef>
                <a:spcPts val="0"/>
              </a:spcBef>
              <a:spcAft>
                <a:spcPts val="0"/>
              </a:spcAft>
              <a:buClr>
                <a:srgbClr val="E83831"/>
              </a:buClr>
              <a:buSzPts val="1200"/>
              <a:buNone/>
              <a:defRPr sz="1350">
                <a:solidFill>
                  <a:srgbClr val="09314F"/>
                </a:solidFill>
                <a:latin typeface="Manrope"/>
                <a:ea typeface="Manrope"/>
                <a:cs typeface="Manrope"/>
              </a:defRPr>
            </a:pPr>
            <a:r>
              <a:rPr sz="1350">
                <a:solidFill>
                  <a:srgbClr val="09314F"/>
                </a:solidFill>
                <a:latin typeface="Manrope"/>
                <a:ea typeface="Manrope"/>
                <a:cs typeface="Manrope"/>
              </a:rPr>
              <a:t>Resources — Windows/Docker development host; local qwen2.5:3b; FastAPI/LangChain; SQLite/ChromaDB; Loki/Prometheus; 20 runbooks</a:t>
            </a:r>
          </a:p>
          <a:p xmlns:a="http://schemas.openxmlformats.org/drawingml/2006/main">
            <a:pPr marL="152400" lvl="0" indent="0" algn="l">
              <a:lnSpc>
                <a:spcPct val="100000"/>
              </a:lnSpc>
              <a:spcBef>
                <a:spcPts val="0"/>
              </a:spcBef>
              <a:spcAft>
                <a:spcPts val="0"/>
              </a:spcAft>
              <a:buClr>
                <a:srgbClr val="E83831"/>
              </a:buClr>
              <a:buSzPts val="1200"/>
              <a:buNone/>
              <a:defRPr sz="1350">
                <a:solidFill>
                  <a:srgbClr val="09314F"/>
                </a:solidFill>
                <a:latin typeface="Manrope"/>
                <a:ea typeface="Manrope"/>
                <a:cs typeface="Manrope"/>
              </a:defRPr>
            </a:pPr>
            <a:r>
              <a:rPr sz="1350">
                <a:solidFill>
                  <a:srgbClr val="09314F"/>
                </a:solidFill>
                <a:latin typeface="Manrope"/>
                <a:ea typeface="Manrope"/>
                <a:cs typeface="Manrope"/>
              </a:rPr>
              <a:t>Boundary — energy, hardware depreciation, opportunity cost and production scaling were not measured</a:t>
            </a:r>
          </a:p>
        </p:txBody>
      </p:sp>
      <p:cxnSp>
        <p:nvCxnSpPr>
          <p:cNvPr id="118" name="Google Shape;80;g3ba14ccda94_0_19"/>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B6997F"/>
            </a:solidFill>
            <a:prstDash val="solid"/>
            <a:round/>
            <a:headEnd type="none" w="med" len="med"/>
            <a:tailEnd type="none" w="med" len="med"/>
          </a:ln>
        </p:spPr>
      </p:cxnSp>
      <p:sp>
        <p:nvSpPr>
          <p:cNvPr id="81" name="Google Shape;81;g3ba14ccda94_0_19">
            <a:extLst xmlns:a="http://schemas.openxmlformats.org/drawingml/2006/main">
              <a:ext uri="{FF2B5EF4-FFF2-40B4-BE49-F238E27FC236}">
                <a16:creationId xmlns:a16="http://schemas.microsoft.com/office/drawing/2014/main" id="{C336649F-617F-AA44-7F78-3F69969715E9}"/>
              </a:ext>
            </a:extLst>
          </p:cNvPr>
          <p:cNvSpPr>
            <a:spLocks xmlns:a="http://schemas.openxmlformats.org/drawingml/2006/main" noGrp="1"/>
          </p:cNvSpPr>
          <p:nvPr/>
        </p:nvSpPr>
        <p:spPr>
          <a:xfrm xmlns:a="http://schemas.openxmlformats.org/drawingml/2006/main">
            <a:off x="594524" y="349855"/>
            <a:ext cx="1073501"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0B314F"/>
                </a:solidFill>
                <a:latin typeface="Afacad Flux"/>
                <a:ea typeface="Afacad Flux"/>
                <a:cs typeface="Afacad Flux"/>
              </a:defRPr>
            </a:pPr>
            <a:r>
              <a:rPr sz="1200" b="1" i="0" u="none" cap="none">
                <a:solidFill>
                  <a:srgbClr val="0B314F"/>
                </a:solidFill>
                <a:latin typeface="Afacad Flux"/>
                <a:ea typeface="Afacad Flux"/>
                <a:cs typeface="Afacad Flux"/>
              </a:rPr>
              <a:t>Project Defence</a:t>
            </a:r>
            <a:endParaRPr sz="1000" b="1" i="0" u="none" cap="none">
              <a:solidFill>
                <a:srgbClr val="0B314F"/>
              </a:solidFill>
              <a:latin typeface="Afacad Flux"/>
              <a:ea typeface="Afacad Flux"/>
              <a:cs typeface="Afacad Flux"/>
            </a:endParaRPr>
          </a:p>
        </p:txBody>
      </p:sp>
      <p:pic>
        <p:nvPicPr>
          <p:cNvPr id="120" name="Picture 1"/>
          <p:cNvPicPr>
            <a:picLocks xmlns:a="http://schemas.openxmlformats.org/drawingml/2006/main" noChangeAspect="1"/>
          </p:cNvPicPr>
          <p:nvPr/>
        </p:nvPicPr>
        <p:blipFill>
          <a:blip xmlns:r="http://schemas.openxmlformats.org/officeDocument/2006/relationships" xmlns:a="http://schemas.openxmlformats.org/drawingml/2006/main" r:embed="R4d69e8a999c245fe"/>
          <a:stretch xmlns:a="http://schemas.openxmlformats.org/drawingml/2006/main">
            <a:fillRect l="0" t="0" r="0" b="0"/>
          </a:stretch>
        </p:blipFill>
        <p:spPr>
          <a:xfrm xmlns:a="http://schemas.openxmlformats.org/drawingml/2006/main">
            <a:off x="7125672" y="239527"/>
            <a:ext cx="1591055" cy="559355"/>
          </a:xfrm>
          <a:prstGeom xmlns:a="http://schemas.openxmlformats.org/drawingml/2006/main" prst="rect">
            <a:avLst/>
          </a:prstGeom>
        </p:spPr>
      </p:pic>
      <p:sp>
        <p:nvSpPr>
          <p:cNvPr id="91" name="timeline-rail">
            <a:extLst xmlns:a="http://schemas.openxmlformats.org/drawingml/2006/main">
              <a:ext uri="{FF2B5EF4-FFF2-40B4-BE49-F238E27FC236}">
                <a16:creationId xmlns:a16="http://schemas.microsoft.com/office/drawing/2014/main" id="{64C82ECD-063D-4004-A768-654DFED8F9BA}"/>
              </a:ext>
            </a:extLst>
          </p:cNvPr>
          <p:cNvSpPr>
            <a:spLocks xmlns:a="http://schemas.openxmlformats.org/drawingml/2006/main" noGrp="1"/>
          </p:cNvSpPr>
          <p:nvPr/>
        </p:nvSpPr>
        <p:spPr>
          <a:xfrm xmlns:a="http://schemas.openxmlformats.org/drawingml/2006/main">
            <a:off x="1428750" y="2647950"/>
            <a:ext cx="6286500" cy="0"/>
          </a:xfrm>
          <a:prstGeom xmlns:a="http://schemas.openxmlformats.org/drawingml/2006/main" prst="line">
            <a:avLst/>
          </a:prstGeom>
          <a:noFill xmlns:a="http://schemas.openxmlformats.org/drawingml/2006/main"/>
          <a:ln xmlns:a="http://schemas.openxmlformats.org/drawingml/2006/main" w="28575">
            <a:solidFill>
              <a:srgbClr val="C0A282"/>
            </a:solidFill>
            <a:prstDash val="solid"/>
          </a:ln>
        </p:spPr>
      </p:sp>
      <p:sp>
        <p:nvSpPr>
          <p:cNvPr id="92" name="timeline-date-1">
            <a:extLst xmlns:a="http://schemas.openxmlformats.org/drawingml/2006/main">
              <a:ext uri="{FF2B5EF4-FFF2-40B4-BE49-F238E27FC236}">
                <a16:creationId xmlns:a16="http://schemas.microsoft.com/office/drawing/2014/main" id="{D35D1E89-C346-4334-83DC-B1CCDA5BE1A4}"/>
              </a:ext>
            </a:extLst>
          </p:cNvPr>
          <p:cNvSpPr>
            <a:spLocks xmlns:a="http://schemas.openxmlformats.org/drawingml/2006/main" noGrp="1"/>
          </p:cNvSpPr>
          <p:nvPr/>
        </p:nvSpPr>
        <p:spPr>
          <a:xfrm xmlns:a="http://schemas.openxmlformats.org/drawingml/2006/main">
            <a:off x="933450" y="1952625"/>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500" b="1">
                <a:solidFill>
                  <a:srgbClr val="0B314F"/>
                </a:solidFill>
                <a:latin typeface="Manrope"/>
                <a:ea typeface="Manrope"/>
                <a:cs typeface="Manrope"/>
              </a:defRPr>
            </a:pPr>
            <a:r>
              <a:rPr sz="1500" b="1">
                <a:solidFill>
                  <a:srgbClr val="0B314F"/>
                </a:solidFill>
                <a:latin typeface="Manrope"/>
                <a:ea typeface="Manrope"/>
                <a:cs typeface="Manrope"/>
              </a:rPr>
              <a:t>16 AUG</a:t>
            </a:r>
          </a:p>
        </p:txBody>
      </p:sp>
      <p:sp>
        <p:nvSpPr>
          <p:cNvPr id="93" name="timeline-stem-1">
            <a:extLst xmlns:a="http://schemas.openxmlformats.org/drawingml/2006/main">
              <a:ext uri="{FF2B5EF4-FFF2-40B4-BE49-F238E27FC236}">
                <a16:creationId xmlns:a16="http://schemas.microsoft.com/office/drawing/2014/main" id="{F253E95D-8413-4F7D-B16B-D687B8AB4318}"/>
              </a:ext>
            </a:extLst>
          </p:cNvPr>
          <p:cNvSpPr>
            <a:spLocks xmlns:a="http://schemas.openxmlformats.org/drawingml/2006/main" noGrp="1"/>
          </p:cNvSpPr>
          <p:nvPr/>
        </p:nvSpPr>
        <p:spPr>
          <a:xfrm xmlns:a="http://schemas.openxmlformats.org/drawingml/2006/main">
            <a:off x="1428750" y="2286000"/>
            <a:ext cx="0" cy="361950"/>
          </a:xfrm>
          <a:prstGeom xmlns:a="http://schemas.openxmlformats.org/drawingml/2006/main" prst="line">
            <a:avLst/>
          </a:prstGeom>
          <a:noFill xmlns:a="http://schemas.openxmlformats.org/drawingml/2006/main"/>
          <a:ln xmlns:a="http://schemas.openxmlformats.org/drawingml/2006/main" w="14288">
            <a:solidFill>
              <a:srgbClr val="B9C3C9"/>
            </a:solidFill>
            <a:prstDash val="solid"/>
          </a:ln>
        </p:spPr>
      </p:sp>
      <p:sp>
        <p:nvSpPr>
          <p:cNvPr id="94" name="timeline-node-1">
            <a:extLst xmlns:a="http://schemas.openxmlformats.org/drawingml/2006/main">
              <a:ext uri="{FF2B5EF4-FFF2-40B4-BE49-F238E27FC236}">
                <a16:creationId xmlns:a16="http://schemas.microsoft.com/office/drawing/2014/main" id="{368D367A-7648-4467-9A97-872B4AA17218}"/>
              </a:ext>
            </a:extLst>
          </p:cNvPr>
          <p:cNvSpPr>
            <a:spLocks xmlns:a="http://schemas.openxmlformats.org/drawingml/2006/main" noGrp="1"/>
          </p:cNvSpPr>
          <p:nvPr/>
        </p:nvSpPr>
        <p:spPr>
          <a:xfrm xmlns:a="http://schemas.openxmlformats.org/drawingml/2006/main">
            <a:off x="1352550" y="2571750"/>
            <a:ext cx="152400" cy="152400"/>
          </a:xfrm>
          <a:prstGeom xmlns:a="http://schemas.openxmlformats.org/drawingml/2006/main" prst="ellipse">
            <a:avLst/>
          </a:prstGeom>
          <a:solidFill xmlns:a="http://schemas.openxmlformats.org/drawingml/2006/main">
            <a:srgbClr val="C0A282"/>
          </a:solidFill>
          <a:ln xmlns:a="http://schemas.openxmlformats.org/drawingml/2006/main" w="19050">
            <a:solidFill>
              <a:srgbClr val="FFFFFF"/>
            </a:solidFill>
            <a:prstDash val="solid"/>
          </a:ln>
        </p:spPr>
      </p:sp>
      <p:sp>
        <p:nvSpPr>
          <p:cNvPr id="95" name="timeline-event-1">
            <a:extLst xmlns:a="http://schemas.openxmlformats.org/drawingml/2006/main">
              <a:ext uri="{FF2B5EF4-FFF2-40B4-BE49-F238E27FC236}">
                <a16:creationId xmlns:a16="http://schemas.microsoft.com/office/drawing/2014/main" id="{9887055E-F38A-40DA-9909-3CD86F1E6431}"/>
              </a:ext>
            </a:extLst>
          </p:cNvPr>
          <p:cNvSpPr>
            <a:spLocks xmlns:a="http://schemas.openxmlformats.org/drawingml/2006/main" noGrp="1"/>
          </p:cNvSpPr>
          <p:nvPr/>
        </p:nvSpPr>
        <p:spPr>
          <a:xfrm xmlns:a="http://schemas.openxmlformats.org/drawingml/2006/main">
            <a:off x="533400" y="2838450"/>
            <a:ext cx="1790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0">
                <a:solidFill>
                  <a:srgbClr val="09314F"/>
                </a:solidFill>
                <a:latin typeface="Manrope"/>
                <a:ea typeface="Manrope"/>
                <a:cs typeface="Manrope"/>
              </a:defRPr>
            </a:pPr>
            <a:r>
              <a:rPr sz="1350" b="0">
                <a:solidFill>
                  <a:srgbClr val="09314F"/>
                </a:solidFill>
                <a:latin typeface="Manrope"/>
                <a:ea typeface="Manrope"/>
                <a:cs typeface="Manrope"/>
              </a:rPr>
              <a:t>Pilot deployed</a:t>
            </a:r>
          </a:p>
          <a:p xmlns:a="http://schemas.openxmlformats.org/drawingml/2006/main">
            <a:pPr algn="ctr">
              <a:buNone/>
              <a:defRPr sz="1350" b="0">
                <a:solidFill>
                  <a:srgbClr val="09314F"/>
                </a:solidFill>
                <a:latin typeface="Manrope"/>
                <a:ea typeface="Manrope"/>
                <a:cs typeface="Manrope"/>
              </a:defRPr>
            </a:pPr>
            <a:r>
              <a:rPr sz="1350" b="0">
                <a:solidFill>
                  <a:srgbClr val="09314F"/>
                </a:solidFill>
                <a:latin typeface="Manrope"/>
                <a:ea typeface="Manrope"/>
                <a:cs typeface="Manrope"/>
              </a:rPr>
              <a:t>82 tests • 66%</a:t>
            </a:r>
          </a:p>
          <a:p xmlns:a="http://schemas.openxmlformats.org/drawingml/2006/main">
            <a:pPr algn="ctr">
              <a:buNone/>
              <a:defRPr sz="1350" b="0">
                <a:solidFill>
                  <a:srgbClr val="09314F"/>
                </a:solidFill>
                <a:latin typeface="Manrope"/>
                <a:ea typeface="Manrope"/>
                <a:cs typeface="Manrope"/>
              </a:defRPr>
            </a:pPr>
            <a:r>
              <a:rPr sz="1350" b="0">
                <a:solidFill>
                  <a:srgbClr val="09314F"/>
                </a:solidFill>
                <a:latin typeface="Manrope"/>
                <a:ea typeface="Manrope"/>
                <a:cs typeface="Manrope"/>
              </a:rPr>
              <a:t>dated baseline</a:t>
            </a:r>
          </a:p>
        </p:txBody>
      </p:sp>
      <p:sp>
        <p:nvSpPr>
          <p:cNvPr id="96" name="timeline-date-2">
            <a:extLst xmlns:a="http://schemas.openxmlformats.org/drawingml/2006/main">
              <a:ext uri="{FF2B5EF4-FFF2-40B4-BE49-F238E27FC236}">
                <a16:creationId xmlns:a16="http://schemas.microsoft.com/office/drawing/2014/main" id="{D1C86924-B48F-4612-A0D6-80A39F39EBBF}"/>
              </a:ext>
            </a:extLst>
          </p:cNvPr>
          <p:cNvSpPr>
            <a:spLocks xmlns:a="http://schemas.openxmlformats.org/drawingml/2006/main" noGrp="1"/>
          </p:cNvSpPr>
          <p:nvPr/>
        </p:nvSpPr>
        <p:spPr>
          <a:xfrm xmlns:a="http://schemas.openxmlformats.org/drawingml/2006/main">
            <a:off x="3028950" y="1952625"/>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500" b="1">
                <a:solidFill>
                  <a:srgbClr val="0B314F"/>
                </a:solidFill>
                <a:latin typeface="Manrope"/>
                <a:ea typeface="Manrope"/>
                <a:cs typeface="Manrope"/>
              </a:defRPr>
            </a:pPr>
            <a:r>
              <a:rPr sz="1500" b="1">
                <a:solidFill>
                  <a:srgbClr val="0B314F"/>
                </a:solidFill>
                <a:latin typeface="Manrope"/>
                <a:ea typeface="Manrope"/>
                <a:cs typeface="Manrope"/>
              </a:rPr>
              <a:t>18 AUG</a:t>
            </a:r>
          </a:p>
        </p:txBody>
      </p:sp>
      <p:sp>
        <p:nvSpPr>
          <p:cNvPr id="97" name="timeline-stem-2">
            <a:extLst xmlns:a="http://schemas.openxmlformats.org/drawingml/2006/main">
              <a:ext uri="{FF2B5EF4-FFF2-40B4-BE49-F238E27FC236}">
                <a16:creationId xmlns:a16="http://schemas.microsoft.com/office/drawing/2014/main" id="{08519E1D-83A0-4105-BA1C-7673375EB33F}"/>
              </a:ext>
            </a:extLst>
          </p:cNvPr>
          <p:cNvSpPr>
            <a:spLocks xmlns:a="http://schemas.openxmlformats.org/drawingml/2006/main" noGrp="1"/>
          </p:cNvSpPr>
          <p:nvPr/>
        </p:nvSpPr>
        <p:spPr>
          <a:xfrm xmlns:a="http://schemas.openxmlformats.org/drawingml/2006/main">
            <a:off x="3524250" y="2286000"/>
            <a:ext cx="0" cy="361950"/>
          </a:xfrm>
          <a:prstGeom xmlns:a="http://schemas.openxmlformats.org/drawingml/2006/main" prst="line">
            <a:avLst/>
          </a:prstGeom>
          <a:noFill xmlns:a="http://schemas.openxmlformats.org/drawingml/2006/main"/>
          <a:ln xmlns:a="http://schemas.openxmlformats.org/drawingml/2006/main" w="14288">
            <a:solidFill>
              <a:srgbClr val="B9C3C9"/>
            </a:solidFill>
            <a:prstDash val="solid"/>
          </a:ln>
        </p:spPr>
      </p:sp>
      <p:sp>
        <p:nvSpPr>
          <p:cNvPr id="98" name="timeline-node-2">
            <a:extLst xmlns:a="http://schemas.openxmlformats.org/drawingml/2006/main">
              <a:ext uri="{FF2B5EF4-FFF2-40B4-BE49-F238E27FC236}">
                <a16:creationId xmlns:a16="http://schemas.microsoft.com/office/drawing/2014/main" id="{FFDF8CA4-1DB7-4DD5-8CAB-512162594ED6}"/>
              </a:ext>
            </a:extLst>
          </p:cNvPr>
          <p:cNvSpPr>
            <a:spLocks xmlns:a="http://schemas.openxmlformats.org/drawingml/2006/main" noGrp="1"/>
          </p:cNvSpPr>
          <p:nvPr/>
        </p:nvSpPr>
        <p:spPr>
          <a:xfrm xmlns:a="http://schemas.openxmlformats.org/drawingml/2006/main">
            <a:off x="3448050" y="2571750"/>
            <a:ext cx="152400" cy="152400"/>
          </a:xfrm>
          <a:prstGeom xmlns:a="http://schemas.openxmlformats.org/drawingml/2006/main" prst="ellipse">
            <a:avLst/>
          </a:prstGeom>
          <a:solidFill xmlns:a="http://schemas.openxmlformats.org/drawingml/2006/main">
            <a:srgbClr val="0B314F"/>
          </a:solidFill>
          <a:ln xmlns:a="http://schemas.openxmlformats.org/drawingml/2006/main" w="19050">
            <a:solidFill>
              <a:srgbClr val="FFFFFF"/>
            </a:solidFill>
            <a:prstDash val="solid"/>
          </a:ln>
        </p:spPr>
      </p:sp>
      <p:sp>
        <p:nvSpPr>
          <p:cNvPr id="99" name="timeline-event-2">
            <a:extLst xmlns:a="http://schemas.openxmlformats.org/drawingml/2006/main">
              <a:ext uri="{FF2B5EF4-FFF2-40B4-BE49-F238E27FC236}">
                <a16:creationId xmlns:a16="http://schemas.microsoft.com/office/drawing/2014/main" id="{C8349C37-4230-462D-8425-90C423371371}"/>
              </a:ext>
            </a:extLst>
          </p:cNvPr>
          <p:cNvSpPr>
            <a:spLocks xmlns:a="http://schemas.openxmlformats.org/drawingml/2006/main" noGrp="1"/>
          </p:cNvSpPr>
          <p:nvPr/>
        </p:nvSpPr>
        <p:spPr>
          <a:xfrm xmlns:a="http://schemas.openxmlformats.org/drawingml/2006/main">
            <a:off x="2628900" y="2838450"/>
            <a:ext cx="1790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0">
                <a:solidFill>
                  <a:srgbClr val="09314F"/>
                </a:solidFill>
                <a:latin typeface="Manrope"/>
                <a:ea typeface="Manrope"/>
                <a:cs typeface="Manrope"/>
              </a:defRPr>
            </a:pPr>
            <a:r>
              <a:rPr sz="1350" b="0">
                <a:solidFill>
                  <a:srgbClr val="09314F"/>
                </a:solidFill>
                <a:latin typeface="Manrope"/>
                <a:ea typeface="Manrope"/>
                <a:cs typeface="Manrope"/>
              </a:rPr>
              <a:t>81-test regression</a:t>
            </a:r>
          </a:p>
          <a:p xmlns:a="http://schemas.openxmlformats.org/drawingml/2006/main">
            <a:pPr algn="ctr">
              <a:buNone/>
              <a:defRPr sz="1350" b="0">
                <a:solidFill>
                  <a:srgbClr val="09314F"/>
                </a:solidFill>
                <a:latin typeface="Manrope"/>
                <a:ea typeface="Manrope"/>
                <a:cs typeface="Manrope"/>
              </a:defRPr>
            </a:pPr>
            <a:r>
              <a:rPr sz="1350" b="0">
                <a:solidFill>
                  <a:srgbClr val="09314F"/>
                </a:solidFill>
                <a:latin typeface="Manrope"/>
                <a:ea typeface="Manrope"/>
                <a:cs typeface="Manrope"/>
              </a:rPr>
              <a:t>qwen2.5:3b benchmark</a:t>
            </a:r>
          </a:p>
        </p:txBody>
      </p:sp>
      <p:sp>
        <p:nvSpPr>
          <p:cNvPr id="100" name="timeline-date-3">
            <a:extLst xmlns:a="http://schemas.openxmlformats.org/drawingml/2006/main">
              <a:ext uri="{FF2B5EF4-FFF2-40B4-BE49-F238E27FC236}">
                <a16:creationId xmlns:a16="http://schemas.microsoft.com/office/drawing/2014/main" id="{15BC1B89-6035-4A04-BFD5-6F760D74A242}"/>
              </a:ext>
            </a:extLst>
          </p:cNvPr>
          <p:cNvSpPr>
            <a:spLocks xmlns:a="http://schemas.openxmlformats.org/drawingml/2006/main" noGrp="1"/>
          </p:cNvSpPr>
          <p:nvPr/>
        </p:nvSpPr>
        <p:spPr>
          <a:xfrm xmlns:a="http://schemas.openxmlformats.org/drawingml/2006/main">
            <a:off x="5124450" y="1952625"/>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93202"/>
          </a:bodyPr>
          <a:lstStyle xmlns:a="http://schemas.openxmlformats.org/drawingml/2006/main"/>
          <a:p xmlns:a="http://schemas.openxmlformats.org/drawingml/2006/main">
            <a:pPr algn="ctr">
              <a:buNone/>
              <a:defRPr sz="1500" b="1">
                <a:solidFill>
                  <a:srgbClr val="0B314F"/>
                </a:solidFill>
                <a:latin typeface="Manrope"/>
                <a:ea typeface="Manrope"/>
                <a:cs typeface="Manrope"/>
              </a:defRPr>
            </a:pPr>
            <a:r>
              <a:rPr sz="1500" b="1">
                <a:solidFill>
                  <a:srgbClr val="0B314F"/>
                </a:solidFill>
                <a:latin typeface="Manrope"/>
                <a:ea typeface="Manrope"/>
                <a:cs typeface="Manrope"/>
              </a:rPr>
              <a:t>22–26 AUG</a:t>
            </a:r>
          </a:p>
        </p:txBody>
      </p:sp>
      <p:sp>
        <p:nvSpPr>
          <p:cNvPr id="101" name="timeline-stem-3">
            <a:extLst xmlns:a="http://schemas.openxmlformats.org/drawingml/2006/main">
              <a:ext uri="{FF2B5EF4-FFF2-40B4-BE49-F238E27FC236}">
                <a16:creationId xmlns:a16="http://schemas.microsoft.com/office/drawing/2014/main" id="{B177FB11-FBC5-4C02-8CB0-05C36873D50F}"/>
              </a:ext>
            </a:extLst>
          </p:cNvPr>
          <p:cNvSpPr>
            <a:spLocks xmlns:a="http://schemas.openxmlformats.org/drawingml/2006/main" noGrp="1"/>
          </p:cNvSpPr>
          <p:nvPr/>
        </p:nvSpPr>
        <p:spPr>
          <a:xfrm xmlns:a="http://schemas.openxmlformats.org/drawingml/2006/main">
            <a:off x="5619750" y="2286000"/>
            <a:ext cx="0" cy="361950"/>
          </a:xfrm>
          <a:prstGeom xmlns:a="http://schemas.openxmlformats.org/drawingml/2006/main" prst="line">
            <a:avLst/>
          </a:prstGeom>
          <a:noFill xmlns:a="http://schemas.openxmlformats.org/drawingml/2006/main"/>
          <a:ln xmlns:a="http://schemas.openxmlformats.org/drawingml/2006/main" w="14288">
            <a:solidFill>
              <a:srgbClr val="B9C3C9"/>
            </a:solidFill>
            <a:prstDash val="solid"/>
          </a:ln>
        </p:spPr>
      </p:sp>
      <p:sp>
        <p:nvSpPr>
          <p:cNvPr id="102" name="timeline-node-3">
            <a:extLst xmlns:a="http://schemas.openxmlformats.org/drawingml/2006/main">
              <a:ext uri="{FF2B5EF4-FFF2-40B4-BE49-F238E27FC236}">
                <a16:creationId xmlns:a16="http://schemas.microsoft.com/office/drawing/2014/main" id="{F2EDEE50-12F6-4EC0-9256-D3A785443447}"/>
              </a:ext>
            </a:extLst>
          </p:cNvPr>
          <p:cNvSpPr>
            <a:spLocks xmlns:a="http://schemas.openxmlformats.org/drawingml/2006/main" noGrp="1"/>
          </p:cNvSpPr>
          <p:nvPr/>
        </p:nvSpPr>
        <p:spPr>
          <a:xfrm xmlns:a="http://schemas.openxmlformats.org/drawingml/2006/main">
            <a:off x="5543550" y="2571750"/>
            <a:ext cx="152400" cy="152400"/>
          </a:xfrm>
          <a:prstGeom xmlns:a="http://schemas.openxmlformats.org/drawingml/2006/main" prst="ellipse">
            <a:avLst/>
          </a:prstGeom>
          <a:solidFill xmlns:a="http://schemas.openxmlformats.org/drawingml/2006/main">
            <a:srgbClr val="0B314F"/>
          </a:solidFill>
          <a:ln xmlns:a="http://schemas.openxmlformats.org/drawingml/2006/main" w="19050">
            <a:solidFill>
              <a:srgbClr val="FFFFFF"/>
            </a:solidFill>
            <a:prstDash val="solid"/>
          </a:ln>
        </p:spPr>
      </p:sp>
      <p:sp>
        <p:nvSpPr>
          <p:cNvPr id="103" name="timeline-event-3">
            <a:extLst xmlns:a="http://schemas.openxmlformats.org/drawingml/2006/main">
              <a:ext uri="{FF2B5EF4-FFF2-40B4-BE49-F238E27FC236}">
                <a16:creationId xmlns:a16="http://schemas.microsoft.com/office/drawing/2014/main" id="{7DF256DA-281D-4014-91A4-131A3AB6DC5E}"/>
              </a:ext>
            </a:extLst>
          </p:cNvPr>
          <p:cNvSpPr>
            <a:spLocks xmlns:a="http://schemas.openxmlformats.org/drawingml/2006/main" noGrp="1"/>
          </p:cNvSpPr>
          <p:nvPr/>
        </p:nvSpPr>
        <p:spPr>
          <a:xfrm xmlns:a="http://schemas.openxmlformats.org/drawingml/2006/main">
            <a:off x="4724400" y="2838450"/>
            <a:ext cx="1790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0">
                <a:solidFill>
                  <a:srgbClr val="09314F"/>
                </a:solidFill>
                <a:latin typeface="Manrope"/>
                <a:ea typeface="Manrope"/>
                <a:cs typeface="Manrope"/>
              </a:defRPr>
            </a:pPr>
            <a:r>
              <a:rPr sz="1350" b="0">
                <a:solidFill>
                  <a:srgbClr val="09314F"/>
                </a:solidFill>
                <a:latin typeface="Manrope"/>
                <a:ea typeface="Manrope"/>
                <a:cs typeface="Manrope"/>
              </a:rPr>
              <a:t>SUS submissions</a:t>
            </a:r>
          </a:p>
          <a:p xmlns:a="http://schemas.openxmlformats.org/drawingml/2006/main">
            <a:pPr algn="ctr">
              <a:buNone/>
              <a:defRPr sz="1350" b="0">
                <a:solidFill>
                  <a:srgbClr val="09314F"/>
                </a:solidFill>
                <a:latin typeface="Manrope"/>
                <a:ea typeface="Manrope"/>
                <a:cs typeface="Manrope"/>
              </a:defRPr>
            </a:pPr>
            <a:r>
              <a:rPr sz="1350" b="0">
                <a:solidFill>
                  <a:srgbClr val="09314F"/>
                </a:solidFill>
                <a:latin typeface="Manrope"/>
                <a:ea typeface="Manrope"/>
                <a:cs typeface="Manrope"/>
              </a:rPr>
              <a:t>collected</a:t>
            </a:r>
          </a:p>
        </p:txBody>
      </p:sp>
      <p:sp>
        <p:nvSpPr>
          <p:cNvPr id="104" name="timeline-date-4">
            <a:extLst xmlns:a="http://schemas.openxmlformats.org/drawingml/2006/main">
              <a:ext uri="{FF2B5EF4-FFF2-40B4-BE49-F238E27FC236}">
                <a16:creationId xmlns:a16="http://schemas.microsoft.com/office/drawing/2014/main" id="{2A122C62-1FF5-4A02-944E-76C8A1AB9394}"/>
              </a:ext>
            </a:extLst>
          </p:cNvPr>
          <p:cNvSpPr>
            <a:spLocks xmlns:a="http://schemas.openxmlformats.org/drawingml/2006/main" noGrp="1"/>
          </p:cNvSpPr>
          <p:nvPr/>
        </p:nvSpPr>
        <p:spPr>
          <a:xfrm xmlns:a="http://schemas.openxmlformats.org/drawingml/2006/main">
            <a:off x="7219950" y="1952625"/>
            <a:ext cx="99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500" b="1">
                <a:solidFill>
                  <a:srgbClr val="E83831"/>
                </a:solidFill>
                <a:latin typeface="Manrope"/>
                <a:ea typeface="Manrope"/>
                <a:cs typeface="Manrope"/>
              </a:defRPr>
            </a:pPr>
            <a:r>
              <a:rPr sz="1500" b="1">
                <a:solidFill>
                  <a:srgbClr val="E83831"/>
                </a:solidFill>
                <a:latin typeface="Manrope"/>
                <a:ea typeface="Manrope"/>
                <a:cs typeface="Manrope"/>
              </a:rPr>
              <a:t>28 AUG</a:t>
            </a:r>
          </a:p>
        </p:txBody>
      </p:sp>
      <p:sp>
        <p:nvSpPr>
          <p:cNvPr id="105" name="timeline-stem-4">
            <a:extLst xmlns:a="http://schemas.openxmlformats.org/drawingml/2006/main">
              <a:ext uri="{FF2B5EF4-FFF2-40B4-BE49-F238E27FC236}">
                <a16:creationId xmlns:a16="http://schemas.microsoft.com/office/drawing/2014/main" id="{F9204DF4-B6ED-48ED-BB58-6698195AFB46}"/>
              </a:ext>
            </a:extLst>
          </p:cNvPr>
          <p:cNvSpPr>
            <a:spLocks xmlns:a="http://schemas.openxmlformats.org/drawingml/2006/main" noGrp="1"/>
          </p:cNvSpPr>
          <p:nvPr/>
        </p:nvSpPr>
        <p:spPr>
          <a:xfrm xmlns:a="http://schemas.openxmlformats.org/drawingml/2006/main">
            <a:off x="7715250" y="2286000"/>
            <a:ext cx="0" cy="361950"/>
          </a:xfrm>
          <a:prstGeom xmlns:a="http://schemas.openxmlformats.org/drawingml/2006/main" prst="line">
            <a:avLst/>
          </a:prstGeom>
          <a:noFill xmlns:a="http://schemas.openxmlformats.org/drawingml/2006/main"/>
          <a:ln xmlns:a="http://schemas.openxmlformats.org/drawingml/2006/main" w="14288">
            <a:solidFill>
              <a:srgbClr val="B9C3C9"/>
            </a:solidFill>
            <a:prstDash val="solid"/>
          </a:ln>
        </p:spPr>
      </p:sp>
      <p:sp>
        <p:nvSpPr>
          <p:cNvPr id="106" name="timeline-node-4">
            <a:extLst xmlns:a="http://schemas.openxmlformats.org/drawingml/2006/main">
              <a:ext uri="{FF2B5EF4-FFF2-40B4-BE49-F238E27FC236}">
                <a16:creationId xmlns:a16="http://schemas.microsoft.com/office/drawing/2014/main" id="{FF178ADB-B1F7-4C32-B201-13AB12A2C8EE}"/>
              </a:ext>
            </a:extLst>
          </p:cNvPr>
          <p:cNvSpPr>
            <a:spLocks xmlns:a="http://schemas.openxmlformats.org/drawingml/2006/main" noGrp="1"/>
          </p:cNvSpPr>
          <p:nvPr/>
        </p:nvSpPr>
        <p:spPr>
          <a:xfrm xmlns:a="http://schemas.openxmlformats.org/drawingml/2006/main">
            <a:off x="7639050" y="2571750"/>
            <a:ext cx="152400" cy="152400"/>
          </a:xfrm>
          <a:prstGeom xmlns:a="http://schemas.openxmlformats.org/drawingml/2006/main" prst="ellipse">
            <a:avLst/>
          </a:prstGeom>
          <a:solidFill xmlns:a="http://schemas.openxmlformats.org/drawingml/2006/main">
            <a:srgbClr val="E83831"/>
          </a:solidFill>
          <a:ln xmlns:a="http://schemas.openxmlformats.org/drawingml/2006/main" w="19050">
            <a:solidFill>
              <a:srgbClr val="FFFFFF"/>
            </a:solidFill>
            <a:prstDash val="solid"/>
          </a:ln>
        </p:spPr>
      </p:sp>
      <p:sp>
        <p:nvSpPr>
          <p:cNvPr id="107" name="timeline-event-4">
            <a:extLst xmlns:a="http://schemas.openxmlformats.org/drawingml/2006/main">
              <a:ext uri="{FF2B5EF4-FFF2-40B4-BE49-F238E27FC236}">
                <a16:creationId xmlns:a16="http://schemas.microsoft.com/office/drawing/2014/main" id="{814C99E5-1414-4331-AB0B-E5303ED96678}"/>
              </a:ext>
            </a:extLst>
          </p:cNvPr>
          <p:cNvSpPr>
            <a:spLocks xmlns:a="http://schemas.openxmlformats.org/drawingml/2006/main" noGrp="1"/>
          </p:cNvSpPr>
          <p:nvPr/>
        </p:nvSpPr>
        <p:spPr>
          <a:xfrm xmlns:a="http://schemas.openxmlformats.org/drawingml/2006/main">
            <a:off x="6819900" y="2838450"/>
            <a:ext cx="1790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1">
                <a:solidFill>
                  <a:srgbClr val="09314F"/>
                </a:solidFill>
                <a:latin typeface="Manrope"/>
                <a:ea typeface="Manrope"/>
                <a:cs typeface="Manrope"/>
              </a:defRPr>
            </a:pPr>
            <a:r>
              <a:rPr sz="1350" b="1">
                <a:solidFill>
                  <a:srgbClr val="09314F"/>
                </a:solidFill>
                <a:latin typeface="Manrope"/>
                <a:ea typeface="Manrope"/>
                <a:cs typeface="Manrope"/>
              </a:rPr>
              <a:t>148 passed • 87%</a:t>
            </a:r>
          </a:p>
          <a:p xmlns:a="http://schemas.openxmlformats.org/drawingml/2006/main">
            <a:pPr algn="ctr">
              <a:buNone/>
              <a:defRPr sz="1350" b="1">
                <a:solidFill>
                  <a:srgbClr val="09314F"/>
                </a:solidFill>
                <a:latin typeface="Manrope"/>
                <a:ea typeface="Manrope"/>
                <a:cs typeface="Manrope"/>
              </a:defRPr>
            </a:pPr>
            <a:r>
              <a:rPr sz="1350" b="1">
                <a:solidFill>
                  <a:srgbClr val="09314F"/>
                </a:solidFill>
                <a:latin typeface="Manrope"/>
                <a:ea typeface="Manrope"/>
                <a:cs typeface="Manrope"/>
              </a:rPr>
              <a:t>final remediation</a:t>
            </a:r>
          </a:p>
        </p:txBody>
      </p:sp>
    </p:spTree>
    <p:extLst>
      <p:ext uri="{BB962C8B-B14F-4D97-AF65-F5344CB8AC3E}">
        <p14:creationId xmlns:p14="http://schemas.microsoft.com/office/powerpoint/2010/main" val="314515941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7" name="Google Shape;77;g3ba14ccda94_0_19">
            <a:extLst xmlns:a="http://schemas.openxmlformats.org/drawingml/2006/main">
              <a:ext uri="{FF2B5EF4-FFF2-40B4-BE49-F238E27FC236}">
                <a16:creationId xmlns:a16="http://schemas.microsoft.com/office/drawing/2014/main" id="{E7749026-8990-A95E-5684-CF562DB492B7}"/>
              </a:ext>
            </a:extLst>
          </p:cNvPr>
          <p:cNvSpPr>
            <a:spLocks xmlns:a="http://schemas.openxmlformats.org/drawingml/2006/main" noGrp="1"/>
          </p:cNvSpPr>
          <p:nvPr>
            <p:ph type="title" idx="0"/>
          </p:nvPr>
        </p:nvSpPr>
        <p:spPr>
          <a:xfrm xmlns:a="http://schemas.openxmlformats.org/drawingml/2006/main">
            <a:off x="612375" y="965400"/>
            <a:ext cx="6572250" cy="47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lvl="0" indent="0" algn="l">
              <a:lnSpc>
                <a:spcPct val="100000"/>
              </a:lnSpc>
              <a:spcBef>
                <a:spcPts val="0"/>
              </a:spcBef>
              <a:spcAft>
                <a:spcPts val="0"/>
              </a:spcAft>
              <a:buSzPts val="2800"/>
              <a:buNone/>
              <a:defRPr sz="2850" b="1">
                <a:solidFill>
                  <a:srgbClr val="E83831"/>
                </a:solidFill>
                <a:latin typeface="Afacad Flux"/>
                <a:ea typeface="Afacad Flux"/>
                <a:cs typeface="Afacad Flux"/>
              </a:defRPr>
            </a:pPr>
            <a:r>
              <a:rPr sz="2850" b="1">
                <a:solidFill>
                  <a:srgbClr val="E83831"/>
                </a:solidFill>
                <a:latin typeface="Afacad Flux"/>
                <a:ea typeface="Afacad Flux"/>
                <a:cs typeface="Afacad Flux"/>
              </a:rPr>
              <a:t>Five targeted modules reached 100% line coverage</a:t>
            </a:r>
            <a:endParaRPr sz="2300" b="1">
              <a:solidFill>
                <a:srgbClr val="E83831"/>
              </a:solidFill>
              <a:latin typeface="Afacad Flux"/>
              <a:ea typeface="Afacad Flux"/>
              <a:cs typeface="Afacad Flux"/>
            </a:endParaRPr>
          </a:p>
        </p:txBody>
      </p:sp>
      <p:sp>
        <p:nvSpPr>
          <p:cNvPr id="78" name="Google Shape;78;g3ba14ccda94_0_19">
            <a:extLst xmlns:a="http://schemas.openxmlformats.org/drawingml/2006/main">
              <a:ext uri="{FF2B5EF4-FFF2-40B4-BE49-F238E27FC236}">
                <a16:creationId xmlns:a16="http://schemas.microsoft.com/office/drawing/2014/main" id="{4132265A-49C1-EDF3-57A5-1E033FC18F9C}"/>
              </a:ext>
            </a:extLst>
          </p:cNvPr>
          <p:cNvSpPr>
            <a:spLocks xmlns:a="http://schemas.openxmlformats.org/drawingml/2006/main" noGrp="1"/>
          </p:cNvSpPr>
          <p:nvPr>
            <p:ph type="body" idx="1"/>
          </p:nvPr>
        </p:nvSpPr>
        <p:spPr>
          <a:xfrm xmlns:a="http://schemas.openxmlformats.org/drawingml/2006/main">
            <a:off x="617696" y="4114800"/>
            <a:ext cx="8214836"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82625"/>
          </a:bodyPr>
          <a:lstStyle xmlns:a="http://schemas.openxmlformats.org/drawingml/2006/main"/>
          <a:p xmlns:a="http://schemas.openxmlformats.org/drawingml/2006/main">
            <a:pPr marL="152400" lvl="0" indent="0" algn="l">
              <a:lnSpc>
                <a:spcPct val="100000"/>
              </a:lnSpc>
              <a:spcBef>
                <a:spcPts val="0"/>
              </a:spcBef>
              <a:spcAft>
                <a:spcPts val="0"/>
              </a:spcAft>
              <a:buClr>
                <a:srgbClr val="E83831"/>
              </a:buClr>
              <a:buSzPts val="1200"/>
              <a:buNone/>
              <a:defRPr sz="1350" b="1">
                <a:solidFill>
                  <a:srgbClr val="09314F"/>
                </a:solidFill>
                <a:latin typeface="Manrope"/>
                <a:ea typeface="Manrope"/>
                <a:cs typeface="Manrope"/>
              </a:defRPr>
            </a:pPr>
            <a:r>
              <a:rPr sz="1350" b="1">
                <a:solidFill>
                  <a:srgbClr val="09314F"/>
                </a:solidFill>
                <a:latin typeface="Manrope"/>
                <a:ea typeface="Manrope"/>
                <a:cs typeface="Manrope"/>
              </a:rPr>
              <a:t>Boundary — mocked-path coverage is software verification, not live-service, diagnostic or production effectiveness</a:t>
            </a:r>
          </a:p>
        </p:txBody>
      </p:sp>
      <p:cxnSp>
        <p:nvCxnSpPr>
          <p:cNvPr id="137" name="Google Shape;80;g3ba14ccda94_0_19"/>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B6997F"/>
            </a:solidFill>
            <a:prstDash val="solid"/>
            <a:round/>
            <a:headEnd type="none" w="med" len="med"/>
            <a:tailEnd type="none" w="med" len="med"/>
          </a:ln>
        </p:spPr>
      </p:cxnSp>
      <p:sp>
        <p:nvSpPr>
          <p:cNvPr id="81" name="Google Shape;81;g3ba14ccda94_0_19">
            <a:extLst xmlns:a="http://schemas.openxmlformats.org/drawingml/2006/main">
              <a:ext uri="{FF2B5EF4-FFF2-40B4-BE49-F238E27FC236}">
                <a16:creationId xmlns:a16="http://schemas.microsoft.com/office/drawing/2014/main" id="{0EA5BED6-F809-286E-6B52-29C8DAF2BC8F}"/>
              </a:ext>
            </a:extLst>
          </p:cNvPr>
          <p:cNvSpPr>
            <a:spLocks xmlns:a="http://schemas.openxmlformats.org/drawingml/2006/main" noGrp="1"/>
          </p:cNvSpPr>
          <p:nvPr/>
        </p:nvSpPr>
        <p:spPr>
          <a:xfrm xmlns:a="http://schemas.openxmlformats.org/drawingml/2006/main">
            <a:off x="594524" y="349855"/>
            <a:ext cx="1073501"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0B314F"/>
                </a:solidFill>
                <a:latin typeface="Afacad Flux"/>
                <a:ea typeface="Afacad Flux"/>
                <a:cs typeface="Afacad Flux"/>
              </a:defRPr>
            </a:pPr>
            <a:r>
              <a:rPr sz="1200" b="1" i="0" u="none" cap="none">
                <a:solidFill>
                  <a:srgbClr val="0B314F"/>
                </a:solidFill>
                <a:latin typeface="Afacad Flux"/>
                <a:ea typeface="Afacad Flux"/>
                <a:cs typeface="Afacad Flux"/>
              </a:rPr>
              <a:t>Project Defence</a:t>
            </a:r>
            <a:endParaRPr sz="1000" b="1" i="0" u="none" cap="none">
              <a:solidFill>
                <a:srgbClr val="0B314F"/>
              </a:solidFill>
              <a:latin typeface="Afacad Flux"/>
              <a:ea typeface="Afacad Flux"/>
              <a:cs typeface="Afacad Flux"/>
            </a:endParaRPr>
          </a:p>
        </p:txBody>
      </p:sp>
      <p:pic>
        <p:nvPicPr>
          <p:cNvPr id="139" name="Picture 1"/>
          <p:cNvPicPr>
            <a:picLocks xmlns:a="http://schemas.openxmlformats.org/drawingml/2006/main" noChangeAspect="1"/>
          </p:cNvPicPr>
          <p:nvPr/>
        </p:nvPicPr>
        <p:blipFill>
          <a:blip xmlns:r="http://schemas.openxmlformats.org/officeDocument/2006/relationships" xmlns:a="http://schemas.openxmlformats.org/drawingml/2006/main" r:embed="Rda8b958e72d94cf1"/>
          <a:stretch xmlns:a="http://schemas.openxmlformats.org/drawingml/2006/main">
            <a:fillRect l="0" t="0" r="0" b="0"/>
          </a:stretch>
        </p:blipFill>
        <p:spPr>
          <a:xfrm xmlns:a="http://schemas.openxmlformats.org/drawingml/2006/main">
            <a:off x="7125672" y="239527"/>
            <a:ext cx="1591055" cy="559355"/>
          </a:xfrm>
          <a:prstGeom xmlns:a="http://schemas.openxmlformats.org/drawingml/2006/main" prst="rect">
            <a:avLst/>
          </a:prstGeom>
        </p:spPr>
      </p:pic>
      <p:sp>
        <p:nvSpPr>
          <p:cNvPr id="91" name="tests-passed-surface">
            <a:extLst xmlns:a="http://schemas.openxmlformats.org/drawingml/2006/main">
              <a:ext uri="{FF2B5EF4-FFF2-40B4-BE49-F238E27FC236}">
                <a16:creationId xmlns:a16="http://schemas.microsoft.com/office/drawing/2014/main" id="{0D636AEE-F822-4A63-9537-D24CC95C3619}"/>
              </a:ext>
            </a:extLst>
          </p:cNvPr>
          <p:cNvSpPr>
            <a:spLocks xmlns:a="http://schemas.openxmlformats.org/drawingml/2006/main" noGrp="1"/>
          </p:cNvSpPr>
          <p:nvPr/>
        </p:nvSpPr>
        <p:spPr>
          <a:xfrm xmlns:a="http://schemas.openxmlformats.org/drawingml/2006/main">
            <a:off x="714375" y="1952625"/>
            <a:ext cx="1666875" cy="952500"/>
          </a:xfrm>
          <a:prstGeom xmlns:a="http://schemas.openxmlformats.org/drawingml/2006/main" prst="roundRect">
            <a:avLst>
              <a:gd name="adj" fmla="val 12000"/>
            </a:avLst>
          </a:prstGeom>
          <a:solidFill xmlns:a="http://schemas.openxmlformats.org/drawingml/2006/main">
            <a:srgbClr val="F5F7F8"/>
          </a:solidFill>
          <a:ln xmlns:a="http://schemas.openxmlformats.org/drawingml/2006/main" w="9525">
            <a:solidFill>
              <a:srgbClr val="C8D2D8"/>
            </a:solidFill>
            <a:prstDash val="solid"/>
          </a:ln>
        </p:spPr>
      </p:sp>
      <p:sp>
        <p:nvSpPr>
          <p:cNvPr id="92" name="tests-passed-value">
            <a:extLst xmlns:a="http://schemas.openxmlformats.org/drawingml/2006/main">
              <a:ext uri="{FF2B5EF4-FFF2-40B4-BE49-F238E27FC236}">
                <a16:creationId xmlns:a16="http://schemas.microsoft.com/office/drawing/2014/main" id="{3670594F-20CA-4B98-B7CC-D1BEF9DCD22D}"/>
              </a:ext>
            </a:extLst>
          </p:cNvPr>
          <p:cNvSpPr>
            <a:spLocks xmlns:a="http://schemas.openxmlformats.org/drawingml/2006/main" noGrp="1"/>
          </p:cNvSpPr>
          <p:nvPr/>
        </p:nvSpPr>
        <p:spPr>
          <a:xfrm xmlns:a="http://schemas.openxmlformats.org/drawingml/2006/main">
            <a:off x="790575" y="2009775"/>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77381"/>
          </a:bodyPr>
          <a:lstStyle xmlns:a="http://schemas.openxmlformats.org/drawingml/2006/main"/>
          <a:p xmlns:a="http://schemas.openxmlformats.org/drawingml/2006/main">
            <a:pPr algn="ctr">
              <a:buNone/>
              <a:defRPr sz="2100" b="1">
                <a:solidFill>
                  <a:srgbClr val="E83831"/>
                </a:solidFill>
                <a:latin typeface="Manrope"/>
                <a:ea typeface="Manrope"/>
                <a:cs typeface="Manrope"/>
              </a:defRPr>
            </a:pPr>
            <a:r>
              <a:rPr sz="2100" b="1">
                <a:solidFill>
                  <a:srgbClr val="E83831"/>
                </a:solidFill>
                <a:latin typeface="Manrope"/>
                <a:ea typeface="Manrope"/>
                <a:cs typeface="Manrope"/>
              </a:rPr>
              <a:t>148</a:t>
            </a:r>
          </a:p>
        </p:txBody>
      </p:sp>
      <p:sp>
        <p:nvSpPr>
          <p:cNvPr id="93" name="tests-passed-label">
            <a:extLst xmlns:a="http://schemas.openxmlformats.org/drawingml/2006/main">
              <a:ext uri="{FF2B5EF4-FFF2-40B4-BE49-F238E27FC236}">
                <a16:creationId xmlns:a16="http://schemas.microsoft.com/office/drawing/2014/main" id="{C0A3BA87-EC00-4603-9907-7C9D8C4E95EF}"/>
              </a:ext>
            </a:extLst>
          </p:cNvPr>
          <p:cNvSpPr>
            <a:spLocks xmlns:a="http://schemas.openxmlformats.org/drawingml/2006/main" noGrp="1"/>
          </p:cNvSpPr>
          <p:nvPr/>
        </p:nvSpPr>
        <p:spPr>
          <a:xfrm xmlns:a="http://schemas.openxmlformats.org/drawingml/2006/main">
            <a:off x="790575" y="2324100"/>
            <a:ext cx="15144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TESTS PASSED</a:t>
            </a:r>
          </a:p>
        </p:txBody>
      </p:sp>
      <p:sp>
        <p:nvSpPr>
          <p:cNvPr id="94" name="tests-failed-surface">
            <a:extLst xmlns:a="http://schemas.openxmlformats.org/drawingml/2006/main">
              <a:ext uri="{FF2B5EF4-FFF2-40B4-BE49-F238E27FC236}">
                <a16:creationId xmlns:a16="http://schemas.microsoft.com/office/drawing/2014/main" id="{44312C2D-F3E8-4B99-8382-04F16908C9FE}"/>
              </a:ext>
            </a:extLst>
          </p:cNvPr>
          <p:cNvSpPr>
            <a:spLocks xmlns:a="http://schemas.openxmlformats.org/drawingml/2006/main" noGrp="1"/>
          </p:cNvSpPr>
          <p:nvPr/>
        </p:nvSpPr>
        <p:spPr>
          <a:xfrm xmlns:a="http://schemas.openxmlformats.org/drawingml/2006/main">
            <a:off x="2571750" y="1952625"/>
            <a:ext cx="1666875" cy="952500"/>
          </a:xfrm>
          <a:prstGeom xmlns:a="http://schemas.openxmlformats.org/drawingml/2006/main" prst="roundRect">
            <a:avLst>
              <a:gd name="adj" fmla="val 12000"/>
            </a:avLst>
          </a:prstGeom>
          <a:solidFill xmlns:a="http://schemas.openxmlformats.org/drawingml/2006/main">
            <a:srgbClr val="F5F7F8"/>
          </a:solidFill>
          <a:ln xmlns:a="http://schemas.openxmlformats.org/drawingml/2006/main" w="9525">
            <a:solidFill>
              <a:srgbClr val="C8D2D8"/>
            </a:solidFill>
            <a:prstDash val="solid"/>
          </a:ln>
        </p:spPr>
      </p:sp>
      <p:sp>
        <p:nvSpPr>
          <p:cNvPr id="95" name="tests-failed-value">
            <a:extLst xmlns:a="http://schemas.openxmlformats.org/drawingml/2006/main">
              <a:ext uri="{FF2B5EF4-FFF2-40B4-BE49-F238E27FC236}">
                <a16:creationId xmlns:a16="http://schemas.microsoft.com/office/drawing/2014/main" id="{1E3D25CB-169E-48C8-B59C-068FE19FBC9E}"/>
              </a:ext>
            </a:extLst>
          </p:cNvPr>
          <p:cNvSpPr>
            <a:spLocks xmlns:a="http://schemas.openxmlformats.org/drawingml/2006/main" noGrp="1"/>
          </p:cNvSpPr>
          <p:nvPr/>
        </p:nvSpPr>
        <p:spPr>
          <a:xfrm xmlns:a="http://schemas.openxmlformats.org/drawingml/2006/main">
            <a:off x="2647950" y="2009775"/>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77381"/>
          </a:bodyPr>
          <a:lstStyle xmlns:a="http://schemas.openxmlformats.org/drawingml/2006/main"/>
          <a:p xmlns:a="http://schemas.openxmlformats.org/drawingml/2006/main">
            <a:pPr algn="ctr">
              <a:buNone/>
              <a:defRPr sz="2100" b="1">
                <a:solidFill>
                  <a:srgbClr val="0B314F"/>
                </a:solidFill>
                <a:latin typeface="Manrope"/>
                <a:ea typeface="Manrope"/>
                <a:cs typeface="Manrope"/>
              </a:defRPr>
            </a:pPr>
            <a:r>
              <a:rPr sz="2100" b="1">
                <a:solidFill>
                  <a:srgbClr val="0B314F"/>
                </a:solidFill>
                <a:latin typeface="Manrope"/>
                <a:ea typeface="Manrope"/>
                <a:cs typeface="Manrope"/>
              </a:rPr>
              <a:t>0</a:t>
            </a:r>
          </a:p>
        </p:txBody>
      </p:sp>
      <p:sp>
        <p:nvSpPr>
          <p:cNvPr id="96" name="tests-failed-label">
            <a:extLst xmlns:a="http://schemas.openxmlformats.org/drawingml/2006/main">
              <a:ext uri="{FF2B5EF4-FFF2-40B4-BE49-F238E27FC236}">
                <a16:creationId xmlns:a16="http://schemas.microsoft.com/office/drawing/2014/main" id="{7234534D-5F76-483A-A741-87621BC17CCC}"/>
              </a:ext>
            </a:extLst>
          </p:cNvPr>
          <p:cNvSpPr>
            <a:spLocks xmlns:a="http://schemas.openxmlformats.org/drawingml/2006/main" noGrp="1"/>
          </p:cNvSpPr>
          <p:nvPr/>
        </p:nvSpPr>
        <p:spPr>
          <a:xfrm xmlns:a="http://schemas.openxmlformats.org/drawingml/2006/main">
            <a:off x="2647950" y="2324100"/>
            <a:ext cx="15144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FAILED</a:t>
            </a:r>
          </a:p>
        </p:txBody>
      </p:sp>
      <p:sp>
        <p:nvSpPr>
          <p:cNvPr id="97" name="coverage-heading">
            <a:extLst xmlns:a="http://schemas.openxmlformats.org/drawingml/2006/main">
              <a:ext uri="{FF2B5EF4-FFF2-40B4-BE49-F238E27FC236}">
                <a16:creationId xmlns:a16="http://schemas.microsoft.com/office/drawing/2014/main" id="{C3F386BD-2554-45EA-97CC-8B1F1AE85745}"/>
              </a:ext>
            </a:extLst>
          </p:cNvPr>
          <p:cNvSpPr>
            <a:spLocks xmlns:a="http://schemas.openxmlformats.org/drawingml/2006/main" noGrp="1"/>
          </p:cNvSpPr>
          <p:nvPr/>
        </p:nvSpPr>
        <p:spPr>
          <a:xfrm xmlns:a="http://schemas.openxmlformats.org/drawingml/2006/main">
            <a:off x="4714875" y="19240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91667"/>
          </a:bodyPr>
          <a:lstStyle xmlns:a="http://schemas.openxmlformats.org/drawingml/2006/main"/>
          <a:p xmlns:a="http://schemas.openxmlformats.org/drawingml/2006/main">
            <a:pPr algn="l">
              <a:buNone/>
              <a:defRPr sz="1500" b="1">
                <a:solidFill>
                  <a:srgbClr val="0B314F"/>
                </a:solidFill>
                <a:latin typeface="Manrope"/>
                <a:ea typeface="Manrope"/>
                <a:cs typeface="Manrope"/>
              </a:defRPr>
            </a:pPr>
            <a:r>
              <a:rPr sz="1500" b="1">
                <a:solidFill>
                  <a:srgbClr val="0B314F"/>
                </a:solidFill>
                <a:latin typeface="Manrope"/>
                <a:ea typeface="Manrope"/>
                <a:cs typeface="Manrope"/>
              </a:rPr>
              <a:t>Overall line coverage</a:t>
            </a:r>
          </a:p>
        </p:txBody>
      </p:sp>
      <p:sp>
        <p:nvSpPr>
          <p:cNvPr id="98" name="coverage-bar-label-1">
            <a:extLst xmlns:a="http://schemas.openxmlformats.org/drawingml/2006/main">
              <a:ext uri="{FF2B5EF4-FFF2-40B4-BE49-F238E27FC236}">
                <a16:creationId xmlns:a16="http://schemas.microsoft.com/office/drawing/2014/main" id="{BE6A60A2-7FE1-488E-94ED-35305D8D0EBB}"/>
              </a:ext>
            </a:extLst>
          </p:cNvPr>
          <p:cNvSpPr>
            <a:spLocks xmlns:a="http://schemas.openxmlformats.org/drawingml/2006/main" noGrp="1"/>
          </p:cNvSpPr>
          <p:nvPr/>
        </p:nvSpPr>
        <p:spPr>
          <a:xfrm xmlns:a="http://schemas.openxmlformats.org/drawingml/2006/main">
            <a:off x="4714875" y="228600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80975"/>
          </a:bodyPr>
          <a:lstStyle xmlns:a="http://schemas.openxmlformats.org/drawingml/2006/main"/>
          <a:p xmlns:a="http://schemas.openxmlformats.org/drawingml/2006/main">
            <a:pPr algn="l">
              <a:buNone/>
              <a:defRPr sz="1350" b="1">
                <a:solidFill>
                  <a:srgbClr val="456477"/>
                </a:solidFill>
                <a:latin typeface="Manrope"/>
                <a:ea typeface="Manrope"/>
                <a:cs typeface="Manrope"/>
              </a:defRPr>
            </a:pPr>
            <a:r>
              <a:rPr sz="1350" b="1">
                <a:solidFill>
                  <a:srgbClr val="456477"/>
                </a:solidFill>
                <a:latin typeface="Manrope"/>
                <a:ea typeface="Manrope"/>
                <a:cs typeface="Manrope"/>
              </a:rPr>
              <a:t>16 Aug baseline</a:t>
            </a:r>
          </a:p>
        </p:txBody>
      </p:sp>
      <p:sp>
        <p:nvSpPr>
          <p:cNvPr id="99" name="coverage-bar-track-1">
            <a:extLst xmlns:a="http://schemas.openxmlformats.org/drawingml/2006/main">
              <a:ext uri="{FF2B5EF4-FFF2-40B4-BE49-F238E27FC236}">
                <a16:creationId xmlns:a16="http://schemas.microsoft.com/office/drawing/2014/main" id="{7BCF9A8E-1020-4DD9-9C50-A567FB60E8C9}"/>
              </a:ext>
            </a:extLst>
          </p:cNvPr>
          <p:cNvSpPr>
            <a:spLocks xmlns:a="http://schemas.openxmlformats.org/drawingml/2006/main" noGrp="1"/>
          </p:cNvSpPr>
          <p:nvPr/>
        </p:nvSpPr>
        <p:spPr>
          <a:xfrm xmlns:a="http://schemas.openxmlformats.org/drawingml/2006/main">
            <a:off x="5857875" y="2324100"/>
            <a:ext cx="2095500" cy="171450"/>
          </a:xfrm>
          <a:prstGeom xmlns:a="http://schemas.openxmlformats.org/drawingml/2006/main" prst="roundRect">
            <a:avLst>
              <a:gd name="adj" fmla="val 50000"/>
            </a:avLst>
          </a:prstGeom>
          <a:solidFill xmlns:a="http://schemas.openxmlformats.org/drawingml/2006/main">
            <a:srgbClr val="E3E9EC"/>
          </a:solidFill>
          <a:ln xmlns:a="http://schemas.openxmlformats.org/drawingml/2006/main" w="0">
            <a:solidFill>
              <a:srgbClr val="E3E9EC"/>
            </a:solidFill>
            <a:prstDash val="solid"/>
          </a:ln>
        </p:spPr>
      </p:sp>
      <p:sp>
        <p:nvSpPr>
          <p:cNvPr id="100" name="coverage-bar-fill-1">
            <a:extLst xmlns:a="http://schemas.openxmlformats.org/drawingml/2006/main">
              <a:ext uri="{FF2B5EF4-FFF2-40B4-BE49-F238E27FC236}">
                <a16:creationId xmlns:a16="http://schemas.microsoft.com/office/drawing/2014/main" id="{2A8115FB-E714-4DC5-8B68-C2F2C21308BE}"/>
              </a:ext>
            </a:extLst>
          </p:cNvPr>
          <p:cNvSpPr>
            <a:spLocks xmlns:a="http://schemas.openxmlformats.org/drawingml/2006/main" noGrp="1"/>
          </p:cNvSpPr>
          <p:nvPr/>
        </p:nvSpPr>
        <p:spPr>
          <a:xfrm xmlns:a="http://schemas.openxmlformats.org/drawingml/2006/main">
            <a:off x="5857875" y="2324100"/>
            <a:ext cx="1383030" cy="171450"/>
          </a:xfrm>
          <a:prstGeom xmlns:a="http://schemas.openxmlformats.org/drawingml/2006/main" prst="roundRect">
            <a:avLst>
              <a:gd name="adj" fmla="val 50000"/>
            </a:avLst>
          </a:prstGeom>
          <a:solidFill xmlns:a="http://schemas.openxmlformats.org/drawingml/2006/main">
            <a:srgbClr val="C0A282"/>
          </a:solidFill>
          <a:ln xmlns:a="http://schemas.openxmlformats.org/drawingml/2006/main" w="0">
            <a:solidFill>
              <a:srgbClr val="C0A282"/>
            </a:solidFill>
            <a:prstDash val="solid"/>
          </a:ln>
        </p:spPr>
      </p:sp>
      <p:sp>
        <p:nvSpPr>
          <p:cNvPr id="101" name="coverage-bar-value-1">
            <a:extLst xmlns:a="http://schemas.openxmlformats.org/drawingml/2006/main">
              <a:ext uri="{FF2B5EF4-FFF2-40B4-BE49-F238E27FC236}">
                <a16:creationId xmlns:a16="http://schemas.microsoft.com/office/drawing/2014/main" id="{21AC1040-3754-46A2-AFFF-A0FBA8D4FC1D}"/>
              </a:ext>
            </a:extLst>
          </p:cNvPr>
          <p:cNvSpPr>
            <a:spLocks xmlns:a="http://schemas.openxmlformats.org/drawingml/2006/main" noGrp="1"/>
          </p:cNvSpPr>
          <p:nvPr/>
        </p:nvSpPr>
        <p:spPr>
          <a:xfrm xmlns:a="http://schemas.openxmlformats.org/drawingml/2006/main">
            <a:off x="8020050" y="22860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75000"/>
          </a:bodyPr>
          <a:lstStyle xmlns:a="http://schemas.openxmlformats.org/drawingml/2006/main"/>
          <a:p xmlns:a="http://schemas.openxmlformats.org/drawingml/2006/main">
            <a:pPr algn="r">
              <a:buNone/>
              <a:defRPr sz="1500" b="1">
                <a:solidFill>
                  <a:srgbClr val="0B314F"/>
                </a:solidFill>
                <a:latin typeface="Manrope"/>
                <a:ea typeface="Manrope"/>
                <a:cs typeface="Manrope"/>
              </a:defRPr>
            </a:pPr>
            <a:r>
              <a:rPr sz="1500" b="1">
                <a:solidFill>
                  <a:srgbClr val="0B314F"/>
                </a:solidFill>
                <a:latin typeface="Manrope"/>
                <a:ea typeface="Manrope"/>
                <a:cs typeface="Manrope"/>
              </a:rPr>
              <a:t>66%</a:t>
            </a:r>
          </a:p>
        </p:txBody>
      </p:sp>
      <p:sp>
        <p:nvSpPr>
          <p:cNvPr id="102" name="coverage-bar-label-2">
            <a:extLst xmlns:a="http://schemas.openxmlformats.org/drawingml/2006/main">
              <a:ext uri="{FF2B5EF4-FFF2-40B4-BE49-F238E27FC236}">
                <a16:creationId xmlns:a16="http://schemas.microsoft.com/office/drawing/2014/main" id="{A6FB5E9E-B577-44BE-B22B-D4BBEC76832D}"/>
              </a:ext>
            </a:extLst>
          </p:cNvPr>
          <p:cNvSpPr>
            <a:spLocks xmlns:a="http://schemas.openxmlformats.org/drawingml/2006/main" noGrp="1"/>
          </p:cNvSpPr>
          <p:nvPr/>
        </p:nvSpPr>
        <p:spPr>
          <a:xfrm xmlns:a="http://schemas.openxmlformats.org/drawingml/2006/main">
            <a:off x="4714875" y="2686050"/>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83333"/>
          </a:bodyPr>
          <a:lstStyle xmlns:a="http://schemas.openxmlformats.org/drawingml/2006/main"/>
          <a:p xmlns:a="http://schemas.openxmlformats.org/drawingml/2006/main">
            <a:pPr algn="l">
              <a:buNone/>
              <a:defRPr sz="1350" b="1">
                <a:solidFill>
                  <a:srgbClr val="456477"/>
                </a:solidFill>
                <a:latin typeface="Manrope"/>
                <a:ea typeface="Manrope"/>
                <a:cs typeface="Manrope"/>
              </a:defRPr>
            </a:pPr>
            <a:r>
              <a:rPr sz="1350" b="1">
                <a:solidFill>
                  <a:srgbClr val="456477"/>
                </a:solidFill>
                <a:latin typeface="Manrope"/>
                <a:ea typeface="Manrope"/>
                <a:cs typeface="Manrope"/>
              </a:rPr>
              <a:t>28 Aug final</a:t>
            </a:r>
          </a:p>
        </p:txBody>
      </p:sp>
      <p:sp>
        <p:nvSpPr>
          <p:cNvPr id="103" name="coverage-bar-track-2">
            <a:extLst xmlns:a="http://schemas.openxmlformats.org/drawingml/2006/main">
              <a:ext uri="{FF2B5EF4-FFF2-40B4-BE49-F238E27FC236}">
                <a16:creationId xmlns:a16="http://schemas.microsoft.com/office/drawing/2014/main" id="{991B8D4D-C196-4749-90AF-5C7DCB34F68D}"/>
              </a:ext>
            </a:extLst>
          </p:cNvPr>
          <p:cNvSpPr>
            <a:spLocks xmlns:a="http://schemas.openxmlformats.org/drawingml/2006/main" noGrp="1"/>
          </p:cNvSpPr>
          <p:nvPr/>
        </p:nvSpPr>
        <p:spPr>
          <a:xfrm xmlns:a="http://schemas.openxmlformats.org/drawingml/2006/main">
            <a:off x="5857875" y="2724150"/>
            <a:ext cx="2095500" cy="171450"/>
          </a:xfrm>
          <a:prstGeom xmlns:a="http://schemas.openxmlformats.org/drawingml/2006/main" prst="roundRect">
            <a:avLst>
              <a:gd name="adj" fmla="val 50000"/>
            </a:avLst>
          </a:prstGeom>
          <a:solidFill xmlns:a="http://schemas.openxmlformats.org/drawingml/2006/main">
            <a:srgbClr val="E3E9EC"/>
          </a:solidFill>
          <a:ln xmlns:a="http://schemas.openxmlformats.org/drawingml/2006/main" w="0">
            <a:solidFill>
              <a:srgbClr val="E3E9EC"/>
            </a:solidFill>
            <a:prstDash val="solid"/>
          </a:ln>
        </p:spPr>
      </p:sp>
      <p:sp>
        <p:nvSpPr>
          <p:cNvPr id="104" name="coverage-bar-fill-2">
            <a:extLst xmlns:a="http://schemas.openxmlformats.org/drawingml/2006/main">
              <a:ext uri="{FF2B5EF4-FFF2-40B4-BE49-F238E27FC236}">
                <a16:creationId xmlns:a16="http://schemas.microsoft.com/office/drawing/2014/main" id="{614684C0-A50D-4D10-9DD6-EA4571394DD2}"/>
              </a:ext>
            </a:extLst>
          </p:cNvPr>
          <p:cNvSpPr>
            <a:spLocks xmlns:a="http://schemas.openxmlformats.org/drawingml/2006/main" noGrp="1"/>
          </p:cNvSpPr>
          <p:nvPr/>
        </p:nvSpPr>
        <p:spPr>
          <a:xfrm xmlns:a="http://schemas.openxmlformats.org/drawingml/2006/main">
            <a:off x="5857875" y="2724150"/>
            <a:ext cx="1823085" cy="171450"/>
          </a:xfrm>
          <a:prstGeom xmlns:a="http://schemas.openxmlformats.org/drawingml/2006/main" prst="roundRect">
            <a:avLst>
              <a:gd name="adj" fmla="val 50000"/>
            </a:avLst>
          </a:prstGeom>
          <a:solidFill xmlns:a="http://schemas.openxmlformats.org/drawingml/2006/main">
            <a:srgbClr val="E83831"/>
          </a:solidFill>
          <a:ln xmlns:a="http://schemas.openxmlformats.org/drawingml/2006/main" w="0">
            <a:solidFill>
              <a:srgbClr val="E83831"/>
            </a:solidFill>
            <a:prstDash val="solid"/>
          </a:ln>
        </p:spPr>
      </p:sp>
      <p:sp>
        <p:nvSpPr>
          <p:cNvPr id="105" name="coverage-bar-value-2">
            <a:extLst xmlns:a="http://schemas.openxmlformats.org/drawingml/2006/main">
              <a:ext uri="{FF2B5EF4-FFF2-40B4-BE49-F238E27FC236}">
                <a16:creationId xmlns:a16="http://schemas.microsoft.com/office/drawing/2014/main" id="{A318E1D3-3F33-4895-94BC-0225A1255B86}"/>
              </a:ext>
            </a:extLst>
          </p:cNvPr>
          <p:cNvSpPr>
            <a:spLocks xmlns:a="http://schemas.openxmlformats.org/drawingml/2006/main" noGrp="1"/>
          </p:cNvSpPr>
          <p:nvPr/>
        </p:nvSpPr>
        <p:spPr>
          <a:xfrm xmlns:a="http://schemas.openxmlformats.org/drawingml/2006/main">
            <a:off x="8020050" y="26860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75000"/>
          </a:bodyPr>
          <a:lstStyle xmlns:a="http://schemas.openxmlformats.org/drawingml/2006/main"/>
          <a:p xmlns:a="http://schemas.openxmlformats.org/drawingml/2006/main">
            <a:pPr algn="r">
              <a:buNone/>
              <a:defRPr sz="1500" b="1">
                <a:solidFill>
                  <a:srgbClr val="E83831"/>
                </a:solidFill>
                <a:latin typeface="Manrope"/>
                <a:ea typeface="Manrope"/>
                <a:cs typeface="Manrope"/>
              </a:defRPr>
            </a:pPr>
            <a:r>
              <a:rPr sz="1500" b="1">
                <a:solidFill>
                  <a:srgbClr val="E83831"/>
                </a:solidFill>
                <a:latin typeface="Manrope"/>
                <a:ea typeface="Manrope"/>
                <a:cs typeface="Manrope"/>
              </a:rPr>
              <a:t>87%</a:t>
            </a:r>
          </a:p>
        </p:txBody>
      </p:sp>
      <p:sp>
        <p:nvSpPr>
          <p:cNvPr id="106" name="targeted-heading">
            <a:extLst xmlns:a="http://schemas.openxmlformats.org/drawingml/2006/main">
              <a:ext uri="{FF2B5EF4-FFF2-40B4-BE49-F238E27FC236}">
                <a16:creationId xmlns:a16="http://schemas.microsoft.com/office/drawing/2014/main" id="{84554FA8-7E5D-4080-AFEE-E1E9821546DD}"/>
              </a:ext>
            </a:extLst>
          </p:cNvPr>
          <p:cNvSpPr>
            <a:spLocks xmlns:a="http://schemas.openxmlformats.org/drawingml/2006/main" noGrp="1"/>
          </p:cNvSpPr>
          <p:nvPr/>
        </p:nvSpPr>
        <p:spPr>
          <a:xfrm xmlns:a="http://schemas.openxmlformats.org/drawingml/2006/main">
            <a:off x="714375" y="3038475"/>
            <a:ext cx="7762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SUPERVISOR-TARGETED MODULES  •  100% EACH</a:t>
            </a:r>
          </a:p>
        </p:txBody>
      </p:sp>
      <p:sp>
        <p:nvSpPr>
          <p:cNvPr id="107" name="target-module-1">
            <a:extLst xmlns:a="http://schemas.openxmlformats.org/drawingml/2006/main">
              <a:ext uri="{FF2B5EF4-FFF2-40B4-BE49-F238E27FC236}">
                <a16:creationId xmlns:a16="http://schemas.microsoft.com/office/drawing/2014/main" id="{468B3740-112C-4BEB-8DE6-0EDD3AC157DA}"/>
              </a:ext>
            </a:extLst>
          </p:cNvPr>
          <p:cNvSpPr>
            <a:spLocks xmlns:a="http://schemas.openxmlformats.org/drawingml/2006/main" noGrp="1"/>
          </p:cNvSpPr>
          <p:nvPr/>
        </p:nvSpPr>
        <p:spPr>
          <a:xfrm xmlns:a="http://schemas.openxmlformats.org/drawingml/2006/main">
            <a:off x="714375" y="3314700"/>
            <a:ext cx="1409700" cy="742950"/>
          </a:xfrm>
          <a:prstGeom xmlns:a="http://schemas.openxmlformats.org/drawingml/2006/main" prst="roundRect">
            <a:avLst>
              <a:gd name="adj" fmla="val 15385"/>
            </a:avLst>
          </a:prstGeom>
          <a:solidFill xmlns:a="http://schemas.openxmlformats.org/drawingml/2006/main">
            <a:srgbClr val="F5F7F8"/>
          </a:solidFill>
          <a:ln xmlns:a="http://schemas.openxmlformats.org/drawingml/2006/main" w="9525">
            <a:solidFill>
              <a:srgbClr val="C8D2D8"/>
            </a:solidFill>
            <a:prstDash val="solid"/>
          </a:ln>
        </p:spPr>
      </p:sp>
      <p:sp>
        <p:nvSpPr>
          <p:cNvPr id="108" name="target-module-accent-1">
            <a:extLst xmlns:a="http://schemas.openxmlformats.org/drawingml/2006/main">
              <a:ext uri="{FF2B5EF4-FFF2-40B4-BE49-F238E27FC236}">
                <a16:creationId xmlns:a16="http://schemas.microsoft.com/office/drawing/2014/main" id="{F4678CA9-B0F0-4DD2-BA15-B55409D23B58}"/>
              </a:ext>
            </a:extLst>
          </p:cNvPr>
          <p:cNvSpPr>
            <a:spLocks xmlns:a="http://schemas.openxmlformats.org/drawingml/2006/main" noGrp="1"/>
          </p:cNvSpPr>
          <p:nvPr/>
        </p:nvSpPr>
        <p:spPr>
          <a:xfrm xmlns:a="http://schemas.openxmlformats.org/drawingml/2006/main">
            <a:off x="714375" y="3314700"/>
            <a:ext cx="1409700" cy="47625"/>
          </a:xfrm>
          <a:prstGeom xmlns:a="http://schemas.openxmlformats.org/drawingml/2006/main" prst="rect">
            <a:avLst/>
          </a:prstGeom>
          <a:solidFill xmlns:a="http://schemas.openxmlformats.org/drawingml/2006/main">
            <a:srgbClr val="E83831"/>
          </a:solidFill>
          <a:ln xmlns:a="http://schemas.openxmlformats.org/drawingml/2006/main" w="0">
            <a:solidFill>
              <a:srgbClr val="E83831"/>
            </a:solidFill>
            <a:prstDash val="solid"/>
          </a:ln>
        </p:spPr>
      </p:sp>
      <p:sp>
        <p:nvSpPr>
          <p:cNvPr id="109" name="target-module-value-1">
            <a:extLst xmlns:a="http://schemas.openxmlformats.org/drawingml/2006/main">
              <a:ext uri="{FF2B5EF4-FFF2-40B4-BE49-F238E27FC236}">
                <a16:creationId xmlns:a16="http://schemas.microsoft.com/office/drawing/2014/main" id="{D51B65D4-D68A-4CB6-BEA1-F09E123B5B8A}"/>
              </a:ext>
            </a:extLst>
          </p:cNvPr>
          <p:cNvSpPr>
            <a:spLocks xmlns:a="http://schemas.openxmlformats.org/drawingml/2006/main" noGrp="1"/>
          </p:cNvSpPr>
          <p:nvPr/>
        </p:nvSpPr>
        <p:spPr>
          <a:xfrm xmlns:a="http://schemas.openxmlformats.org/drawingml/2006/main">
            <a:off x="790575" y="33718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93750"/>
          </a:bodyPr>
          <a:lstStyle xmlns:a="http://schemas.openxmlformats.org/drawingml/2006/main"/>
          <a:p xmlns:a="http://schemas.openxmlformats.org/drawingml/2006/main">
            <a:pPr algn="ctr">
              <a:buNone/>
              <a:defRPr sz="1200" b="1">
                <a:solidFill>
                  <a:srgbClr val="E83831"/>
                </a:solidFill>
                <a:latin typeface="Manrope"/>
                <a:ea typeface="Manrope"/>
                <a:cs typeface="Manrope"/>
              </a:defRPr>
            </a:pPr>
            <a:r>
              <a:rPr sz="1200" b="1">
                <a:solidFill>
                  <a:srgbClr val="E83831"/>
                </a:solidFill>
                <a:latin typeface="Manrope"/>
                <a:ea typeface="Manrope"/>
                <a:cs typeface="Manrope"/>
              </a:rPr>
              <a:t>100%</a:t>
            </a:r>
          </a:p>
        </p:txBody>
      </p:sp>
      <p:sp>
        <p:nvSpPr>
          <p:cNvPr id="110" name="target-module-label-1">
            <a:extLst xmlns:a="http://schemas.openxmlformats.org/drawingml/2006/main">
              <a:ext uri="{FF2B5EF4-FFF2-40B4-BE49-F238E27FC236}">
                <a16:creationId xmlns:a16="http://schemas.microsoft.com/office/drawing/2014/main" id="{2A7321B8-7B7C-4769-8201-472F31295334}"/>
              </a:ext>
            </a:extLst>
          </p:cNvPr>
          <p:cNvSpPr>
            <a:spLocks xmlns:a="http://schemas.openxmlformats.org/drawingml/2006/main" noGrp="1"/>
          </p:cNvSpPr>
          <p:nvPr/>
        </p:nvSpPr>
        <p:spPr>
          <a:xfrm xmlns:a="http://schemas.openxmlformats.org/drawingml/2006/main">
            <a:off x="790575" y="3590925"/>
            <a:ext cx="1257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88719"/>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LangChain</a:t>
            </a:r>
          </a:p>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multi-tool agent</a:t>
            </a:r>
          </a:p>
        </p:txBody>
      </p:sp>
      <p:sp>
        <p:nvSpPr>
          <p:cNvPr id="111" name="target-module-2">
            <a:extLst xmlns:a="http://schemas.openxmlformats.org/drawingml/2006/main">
              <a:ext uri="{FF2B5EF4-FFF2-40B4-BE49-F238E27FC236}">
                <a16:creationId xmlns:a16="http://schemas.microsoft.com/office/drawing/2014/main" id="{5178D1B3-567B-4D82-91FD-4341DE43BBD8}"/>
              </a:ext>
            </a:extLst>
          </p:cNvPr>
          <p:cNvSpPr>
            <a:spLocks xmlns:a="http://schemas.openxmlformats.org/drawingml/2006/main" noGrp="1"/>
          </p:cNvSpPr>
          <p:nvPr/>
        </p:nvSpPr>
        <p:spPr>
          <a:xfrm xmlns:a="http://schemas.openxmlformats.org/drawingml/2006/main">
            <a:off x="2266950" y="3314700"/>
            <a:ext cx="1409700" cy="742950"/>
          </a:xfrm>
          <a:prstGeom xmlns:a="http://schemas.openxmlformats.org/drawingml/2006/main" prst="roundRect">
            <a:avLst>
              <a:gd name="adj" fmla="val 15385"/>
            </a:avLst>
          </a:prstGeom>
          <a:solidFill xmlns:a="http://schemas.openxmlformats.org/drawingml/2006/main">
            <a:srgbClr val="F5F7F8"/>
          </a:solidFill>
          <a:ln xmlns:a="http://schemas.openxmlformats.org/drawingml/2006/main" w="9525">
            <a:solidFill>
              <a:srgbClr val="C8D2D8"/>
            </a:solidFill>
            <a:prstDash val="solid"/>
          </a:ln>
        </p:spPr>
      </p:sp>
      <p:sp>
        <p:nvSpPr>
          <p:cNvPr id="112" name="target-module-accent-2">
            <a:extLst xmlns:a="http://schemas.openxmlformats.org/drawingml/2006/main">
              <a:ext uri="{FF2B5EF4-FFF2-40B4-BE49-F238E27FC236}">
                <a16:creationId xmlns:a16="http://schemas.microsoft.com/office/drawing/2014/main" id="{88B9A961-8C62-4B7C-BA3E-8C2069091500}"/>
              </a:ext>
            </a:extLst>
          </p:cNvPr>
          <p:cNvSpPr>
            <a:spLocks xmlns:a="http://schemas.openxmlformats.org/drawingml/2006/main" noGrp="1"/>
          </p:cNvSpPr>
          <p:nvPr/>
        </p:nvSpPr>
        <p:spPr>
          <a:xfrm xmlns:a="http://schemas.openxmlformats.org/drawingml/2006/main">
            <a:off x="2266950" y="3314700"/>
            <a:ext cx="1409700" cy="47625"/>
          </a:xfrm>
          <a:prstGeom xmlns:a="http://schemas.openxmlformats.org/drawingml/2006/main" prst="rect">
            <a:avLst/>
          </a:prstGeom>
          <a:solidFill xmlns:a="http://schemas.openxmlformats.org/drawingml/2006/main">
            <a:srgbClr val="E83831"/>
          </a:solidFill>
          <a:ln xmlns:a="http://schemas.openxmlformats.org/drawingml/2006/main" w="0">
            <a:solidFill>
              <a:srgbClr val="E83831"/>
            </a:solidFill>
            <a:prstDash val="solid"/>
          </a:ln>
        </p:spPr>
      </p:sp>
      <p:sp>
        <p:nvSpPr>
          <p:cNvPr id="113" name="target-module-value-2">
            <a:extLst xmlns:a="http://schemas.openxmlformats.org/drawingml/2006/main">
              <a:ext uri="{FF2B5EF4-FFF2-40B4-BE49-F238E27FC236}">
                <a16:creationId xmlns:a16="http://schemas.microsoft.com/office/drawing/2014/main" id="{81450CEF-78A9-423B-AB34-65FBC23D5BF0}"/>
              </a:ext>
            </a:extLst>
          </p:cNvPr>
          <p:cNvSpPr>
            <a:spLocks xmlns:a="http://schemas.openxmlformats.org/drawingml/2006/main" noGrp="1"/>
          </p:cNvSpPr>
          <p:nvPr/>
        </p:nvSpPr>
        <p:spPr>
          <a:xfrm xmlns:a="http://schemas.openxmlformats.org/drawingml/2006/main">
            <a:off x="2343150" y="33718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93750"/>
          </a:bodyPr>
          <a:lstStyle xmlns:a="http://schemas.openxmlformats.org/drawingml/2006/main"/>
          <a:p xmlns:a="http://schemas.openxmlformats.org/drawingml/2006/main">
            <a:pPr algn="ctr">
              <a:buNone/>
              <a:defRPr sz="1200" b="1">
                <a:solidFill>
                  <a:srgbClr val="E83831"/>
                </a:solidFill>
                <a:latin typeface="Manrope"/>
                <a:ea typeface="Manrope"/>
                <a:cs typeface="Manrope"/>
              </a:defRPr>
            </a:pPr>
            <a:r>
              <a:rPr sz="1200" b="1">
                <a:solidFill>
                  <a:srgbClr val="E83831"/>
                </a:solidFill>
                <a:latin typeface="Manrope"/>
                <a:ea typeface="Manrope"/>
                <a:cs typeface="Manrope"/>
              </a:rPr>
              <a:t>100%</a:t>
            </a:r>
          </a:p>
        </p:txBody>
      </p:sp>
      <p:sp>
        <p:nvSpPr>
          <p:cNvPr id="114" name="target-module-label-2">
            <a:extLst xmlns:a="http://schemas.openxmlformats.org/drawingml/2006/main">
              <a:ext uri="{FF2B5EF4-FFF2-40B4-BE49-F238E27FC236}">
                <a16:creationId xmlns:a16="http://schemas.microsoft.com/office/drawing/2014/main" id="{CA00E364-8AEF-4D40-A9B7-4E83926A617D}"/>
              </a:ext>
            </a:extLst>
          </p:cNvPr>
          <p:cNvSpPr>
            <a:spLocks xmlns:a="http://schemas.openxmlformats.org/drawingml/2006/main" noGrp="1"/>
          </p:cNvSpPr>
          <p:nvPr/>
        </p:nvSpPr>
        <p:spPr>
          <a:xfrm xmlns:a="http://schemas.openxmlformats.org/drawingml/2006/main">
            <a:off x="2343150" y="3590925"/>
            <a:ext cx="1257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85142"/>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Scheduled agent</a:t>
            </a:r>
          </a:p>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entry point</a:t>
            </a:r>
          </a:p>
        </p:txBody>
      </p:sp>
      <p:sp>
        <p:nvSpPr>
          <p:cNvPr id="115" name="target-module-3">
            <a:extLst xmlns:a="http://schemas.openxmlformats.org/drawingml/2006/main">
              <a:ext uri="{FF2B5EF4-FFF2-40B4-BE49-F238E27FC236}">
                <a16:creationId xmlns:a16="http://schemas.microsoft.com/office/drawing/2014/main" id="{93012981-8512-4B27-809E-074352894C03}"/>
              </a:ext>
            </a:extLst>
          </p:cNvPr>
          <p:cNvSpPr>
            <a:spLocks xmlns:a="http://schemas.openxmlformats.org/drawingml/2006/main" noGrp="1"/>
          </p:cNvSpPr>
          <p:nvPr/>
        </p:nvSpPr>
        <p:spPr>
          <a:xfrm xmlns:a="http://schemas.openxmlformats.org/drawingml/2006/main">
            <a:off x="3819525" y="3314700"/>
            <a:ext cx="1409700" cy="742950"/>
          </a:xfrm>
          <a:prstGeom xmlns:a="http://schemas.openxmlformats.org/drawingml/2006/main" prst="roundRect">
            <a:avLst>
              <a:gd name="adj" fmla="val 15385"/>
            </a:avLst>
          </a:prstGeom>
          <a:solidFill xmlns:a="http://schemas.openxmlformats.org/drawingml/2006/main">
            <a:srgbClr val="F5F7F8"/>
          </a:solidFill>
          <a:ln xmlns:a="http://schemas.openxmlformats.org/drawingml/2006/main" w="9525">
            <a:solidFill>
              <a:srgbClr val="C8D2D8"/>
            </a:solidFill>
            <a:prstDash val="solid"/>
          </a:ln>
        </p:spPr>
      </p:sp>
      <p:sp>
        <p:nvSpPr>
          <p:cNvPr id="116" name="target-module-accent-3">
            <a:extLst xmlns:a="http://schemas.openxmlformats.org/drawingml/2006/main">
              <a:ext uri="{FF2B5EF4-FFF2-40B4-BE49-F238E27FC236}">
                <a16:creationId xmlns:a16="http://schemas.microsoft.com/office/drawing/2014/main" id="{E24A9C66-D8ED-4CD3-A21B-70609BF33F7A}"/>
              </a:ext>
            </a:extLst>
          </p:cNvPr>
          <p:cNvSpPr>
            <a:spLocks xmlns:a="http://schemas.openxmlformats.org/drawingml/2006/main" noGrp="1"/>
          </p:cNvSpPr>
          <p:nvPr/>
        </p:nvSpPr>
        <p:spPr>
          <a:xfrm xmlns:a="http://schemas.openxmlformats.org/drawingml/2006/main">
            <a:off x="3819525" y="3314700"/>
            <a:ext cx="1409700" cy="47625"/>
          </a:xfrm>
          <a:prstGeom xmlns:a="http://schemas.openxmlformats.org/drawingml/2006/main" prst="rect">
            <a:avLst/>
          </a:prstGeom>
          <a:solidFill xmlns:a="http://schemas.openxmlformats.org/drawingml/2006/main">
            <a:srgbClr val="E83831"/>
          </a:solidFill>
          <a:ln xmlns:a="http://schemas.openxmlformats.org/drawingml/2006/main" w="0">
            <a:solidFill>
              <a:srgbClr val="E83831"/>
            </a:solidFill>
            <a:prstDash val="solid"/>
          </a:ln>
        </p:spPr>
      </p:sp>
      <p:sp>
        <p:nvSpPr>
          <p:cNvPr id="117" name="target-module-value-3">
            <a:extLst xmlns:a="http://schemas.openxmlformats.org/drawingml/2006/main">
              <a:ext uri="{FF2B5EF4-FFF2-40B4-BE49-F238E27FC236}">
                <a16:creationId xmlns:a16="http://schemas.microsoft.com/office/drawing/2014/main" id="{A6AE7A55-8A33-4B3D-91B4-F853762C5849}"/>
              </a:ext>
            </a:extLst>
          </p:cNvPr>
          <p:cNvSpPr>
            <a:spLocks xmlns:a="http://schemas.openxmlformats.org/drawingml/2006/main" noGrp="1"/>
          </p:cNvSpPr>
          <p:nvPr/>
        </p:nvSpPr>
        <p:spPr>
          <a:xfrm xmlns:a="http://schemas.openxmlformats.org/drawingml/2006/main">
            <a:off x="3895725" y="33718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93750"/>
          </a:bodyPr>
          <a:lstStyle xmlns:a="http://schemas.openxmlformats.org/drawingml/2006/main"/>
          <a:p xmlns:a="http://schemas.openxmlformats.org/drawingml/2006/main">
            <a:pPr algn="ctr">
              <a:buNone/>
              <a:defRPr sz="1200" b="1">
                <a:solidFill>
                  <a:srgbClr val="E83831"/>
                </a:solidFill>
                <a:latin typeface="Manrope"/>
                <a:ea typeface="Manrope"/>
                <a:cs typeface="Manrope"/>
              </a:defRPr>
            </a:pPr>
            <a:r>
              <a:rPr sz="1200" b="1">
                <a:solidFill>
                  <a:srgbClr val="E83831"/>
                </a:solidFill>
                <a:latin typeface="Manrope"/>
                <a:ea typeface="Manrope"/>
                <a:cs typeface="Manrope"/>
              </a:rPr>
              <a:t>100%</a:t>
            </a:r>
          </a:p>
        </p:txBody>
      </p:sp>
      <p:sp>
        <p:nvSpPr>
          <p:cNvPr id="118" name="target-module-label-3">
            <a:extLst xmlns:a="http://schemas.openxmlformats.org/drawingml/2006/main">
              <a:ext uri="{FF2B5EF4-FFF2-40B4-BE49-F238E27FC236}">
                <a16:creationId xmlns:a16="http://schemas.microsoft.com/office/drawing/2014/main" id="{4F717517-085C-4FB7-B761-62BAE675074A}"/>
              </a:ext>
            </a:extLst>
          </p:cNvPr>
          <p:cNvSpPr>
            <a:spLocks xmlns:a="http://schemas.openxmlformats.org/drawingml/2006/main" noGrp="1"/>
          </p:cNvSpPr>
          <p:nvPr/>
        </p:nvSpPr>
        <p:spPr>
          <a:xfrm xmlns:a="http://schemas.openxmlformats.org/drawingml/2006/main">
            <a:off x="3895725" y="3590925"/>
            <a:ext cx="1257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90278"/>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Docker API</a:t>
            </a:r>
          </a:p>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collector</a:t>
            </a:r>
          </a:p>
        </p:txBody>
      </p:sp>
      <p:sp>
        <p:nvSpPr>
          <p:cNvPr id="119" name="target-module-4">
            <a:extLst xmlns:a="http://schemas.openxmlformats.org/drawingml/2006/main">
              <a:ext uri="{FF2B5EF4-FFF2-40B4-BE49-F238E27FC236}">
                <a16:creationId xmlns:a16="http://schemas.microsoft.com/office/drawing/2014/main" id="{F194B7F9-B7AC-48D7-96A7-DF9917ED03FB}"/>
              </a:ext>
            </a:extLst>
          </p:cNvPr>
          <p:cNvSpPr>
            <a:spLocks xmlns:a="http://schemas.openxmlformats.org/drawingml/2006/main" noGrp="1"/>
          </p:cNvSpPr>
          <p:nvPr/>
        </p:nvSpPr>
        <p:spPr>
          <a:xfrm xmlns:a="http://schemas.openxmlformats.org/drawingml/2006/main">
            <a:off x="5372100" y="3314700"/>
            <a:ext cx="1409700" cy="742950"/>
          </a:xfrm>
          <a:prstGeom xmlns:a="http://schemas.openxmlformats.org/drawingml/2006/main" prst="roundRect">
            <a:avLst>
              <a:gd name="adj" fmla="val 15385"/>
            </a:avLst>
          </a:prstGeom>
          <a:solidFill xmlns:a="http://schemas.openxmlformats.org/drawingml/2006/main">
            <a:srgbClr val="F5F7F8"/>
          </a:solidFill>
          <a:ln xmlns:a="http://schemas.openxmlformats.org/drawingml/2006/main" w="9525">
            <a:solidFill>
              <a:srgbClr val="C8D2D8"/>
            </a:solidFill>
            <a:prstDash val="solid"/>
          </a:ln>
        </p:spPr>
      </p:sp>
      <p:sp>
        <p:nvSpPr>
          <p:cNvPr id="120" name="target-module-accent-4">
            <a:extLst xmlns:a="http://schemas.openxmlformats.org/drawingml/2006/main">
              <a:ext uri="{FF2B5EF4-FFF2-40B4-BE49-F238E27FC236}">
                <a16:creationId xmlns:a16="http://schemas.microsoft.com/office/drawing/2014/main" id="{D3AC5084-B248-4A2A-B3D5-63F190726260}"/>
              </a:ext>
            </a:extLst>
          </p:cNvPr>
          <p:cNvSpPr>
            <a:spLocks xmlns:a="http://schemas.openxmlformats.org/drawingml/2006/main" noGrp="1"/>
          </p:cNvSpPr>
          <p:nvPr/>
        </p:nvSpPr>
        <p:spPr>
          <a:xfrm xmlns:a="http://schemas.openxmlformats.org/drawingml/2006/main">
            <a:off x="5372100" y="3314700"/>
            <a:ext cx="1409700" cy="47625"/>
          </a:xfrm>
          <a:prstGeom xmlns:a="http://schemas.openxmlformats.org/drawingml/2006/main" prst="rect">
            <a:avLst/>
          </a:prstGeom>
          <a:solidFill xmlns:a="http://schemas.openxmlformats.org/drawingml/2006/main">
            <a:srgbClr val="E83831"/>
          </a:solidFill>
          <a:ln xmlns:a="http://schemas.openxmlformats.org/drawingml/2006/main" w="0">
            <a:solidFill>
              <a:srgbClr val="E83831"/>
            </a:solidFill>
            <a:prstDash val="solid"/>
          </a:ln>
        </p:spPr>
      </p:sp>
      <p:sp>
        <p:nvSpPr>
          <p:cNvPr id="121" name="target-module-value-4">
            <a:extLst xmlns:a="http://schemas.openxmlformats.org/drawingml/2006/main">
              <a:ext uri="{FF2B5EF4-FFF2-40B4-BE49-F238E27FC236}">
                <a16:creationId xmlns:a16="http://schemas.microsoft.com/office/drawing/2014/main" id="{739512AD-0472-4974-8E1F-21F5AA32C482}"/>
              </a:ext>
            </a:extLst>
          </p:cNvPr>
          <p:cNvSpPr>
            <a:spLocks xmlns:a="http://schemas.openxmlformats.org/drawingml/2006/main" noGrp="1"/>
          </p:cNvSpPr>
          <p:nvPr/>
        </p:nvSpPr>
        <p:spPr>
          <a:xfrm xmlns:a="http://schemas.openxmlformats.org/drawingml/2006/main">
            <a:off x="5448300" y="33718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93750"/>
          </a:bodyPr>
          <a:lstStyle xmlns:a="http://schemas.openxmlformats.org/drawingml/2006/main"/>
          <a:p xmlns:a="http://schemas.openxmlformats.org/drawingml/2006/main">
            <a:pPr algn="ctr">
              <a:buNone/>
              <a:defRPr sz="1200" b="1">
                <a:solidFill>
                  <a:srgbClr val="E83831"/>
                </a:solidFill>
                <a:latin typeface="Manrope"/>
                <a:ea typeface="Manrope"/>
                <a:cs typeface="Manrope"/>
              </a:defRPr>
            </a:pPr>
            <a:r>
              <a:rPr sz="1200" b="1">
                <a:solidFill>
                  <a:srgbClr val="E83831"/>
                </a:solidFill>
                <a:latin typeface="Manrope"/>
                <a:ea typeface="Manrope"/>
                <a:cs typeface="Manrope"/>
              </a:rPr>
              <a:t>100%</a:t>
            </a:r>
          </a:p>
        </p:txBody>
      </p:sp>
      <p:sp>
        <p:nvSpPr>
          <p:cNvPr id="122" name="target-module-label-4">
            <a:extLst xmlns:a="http://schemas.openxmlformats.org/drawingml/2006/main">
              <a:ext uri="{FF2B5EF4-FFF2-40B4-BE49-F238E27FC236}">
                <a16:creationId xmlns:a16="http://schemas.microsoft.com/office/drawing/2014/main" id="{C355F0FF-44AE-49A1-A214-F2D38E312EAF}"/>
              </a:ext>
            </a:extLst>
          </p:cNvPr>
          <p:cNvSpPr>
            <a:spLocks xmlns:a="http://schemas.openxmlformats.org/drawingml/2006/main" noGrp="1"/>
          </p:cNvSpPr>
          <p:nvPr/>
        </p:nvSpPr>
        <p:spPr>
          <a:xfrm xmlns:a="http://schemas.openxmlformats.org/drawingml/2006/main">
            <a:off x="5448300" y="3590925"/>
            <a:ext cx="1257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90278"/>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Docker event</a:t>
            </a:r>
          </a:p>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collector</a:t>
            </a:r>
          </a:p>
        </p:txBody>
      </p:sp>
      <p:sp>
        <p:nvSpPr>
          <p:cNvPr id="123" name="target-module-5">
            <a:extLst xmlns:a="http://schemas.openxmlformats.org/drawingml/2006/main">
              <a:ext uri="{FF2B5EF4-FFF2-40B4-BE49-F238E27FC236}">
                <a16:creationId xmlns:a16="http://schemas.microsoft.com/office/drawing/2014/main" id="{94CD557A-707D-4608-BB98-2219BF0AE118}"/>
              </a:ext>
            </a:extLst>
          </p:cNvPr>
          <p:cNvSpPr>
            <a:spLocks xmlns:a="http://schemas.openxmlformats.org/drawingml/2006/main" noGrp="1"/>
          </p:cNvSpPr>
          <p:nvPr/>
        </p:nvSpPr>
        <p:spPr>
          <a:xfrm xmlns:a="http://schemas.openxmlformats.org/drawingml/2006/main">
            <a:off x="6924675" y="3314700"/>
            <a:ext cx="1409700" cy="742950"/>
          </a:xfrm>
          <a:prstGeom xmlns:a="http://schemas.openxmlformats.org/drawingml/2006/main" prst="roundRect">
            <a:avLst>
              <a:gd name="adj" fmla="val 15385"/>
            </a:avLst>
          </a:prstGeom>
          <a:solidFill xmlns:a="http://schemas.openxmlformats.org/drawingml/2006/main">
            <a:srgbClr val="F5F7F8"/>
          </a:solidFill>
          <a:ln xmlns:a="http://schemas.openxmlformats.org/drawingml/2006/main" w="9525">
            <a:solidFill>
              <a:srgbClr val="C8D2D8"/>
            </a:solidFill>
            <a:prstDash val="solid"/>
          </a:ln>
        </p:spPr>
      </p:sp>
      <p:sp>
        <p:nvSpPr>
          <p:cNvPr id="124" name="target-module-accent-5">
            <a:extLst xmlns:a="http://schemas.openxmlformats.org/drawingml/2006/main">
              <a:ext uri="{FF2B5EF4-FFF2-40B4-BE49-F238E27FC236}">
                <a16:creationId xmlns:a16="http://schemas.microsoft.com/office/drawing/2014/main" id="{E253BD90-3B62-482B-A172-E766E978ECCD}"/>
              </a:ext>
            </a:extLst>
          </p:cNvPr>
          <p:cNvSpPr>
            <a:spLocks xmlns:a="http://schemas.openxmlformats.org/drawingml/2006/main" noGrp="1"/>
          </p:cNvSpPr>
          <p:nvPr/>
        </p:nvSpPr>
        <p:spPr>
          <a:xfrm xmlns:a="http://schemas.openxmlformats.org/drawingml/2006/main">
            <a:off x="6924675" y="3314700"/>
            <a:ext cx="1409700" cy="47625"/>
          </a:xfrm>
          <a:prstGeom xmlns:a="http://schemas.openxmlformats.org/drawingml/2006/main" prst="rect">
            <a:avLst/>
          </a:prstGeom>
          <a:solidFill xmlns:a="http://schemas.openxmlformats.org/drawingml/2006/main">
            <a:srgbClr val="E83831"/>
          </a:solidFill>
          <a:ln xmlns:a="http://schemas.openxmlformats.org/drawingml/2006/main" w="0">
            <a:solidFill>
              <a:srgbClr val="E83831"/>
            </a:solidFill>
            <a:prstDash val="solid"/>
          </a:ln>
        </p:spPr>
      </p:sp>
      <p:sp>
        <p:nvSpPr>
          <p:cNvPr id="125" name="target-module-value-5">
            <a:extLst xmlns:a="http://schemas.openxmlformats.org/drawingml/2006/main">
              <a:ext uri="{FF2B5EF4-FFF2-40B4-BE49-F238E27FC236}">
                <a16:creationId xmlns:a16="http://schemas.microsoft.com/office/drawing/2014/main" id="{40347BA6-5E0C-4858-A8BA-E40ECD4EB24C}"/>
              </a:ext>
            </a:extLst>
          </p:cNvPr>
          <p:cNvSpPr>
            <a:spLocks xmlns:a="http://schemas.openxmlformats.org/drawingml/2006/main" noGrp="1"/>
          </p:cNvSpPr>
          <p:nvPr/>
        </p:nvSpPr>
        <p:spPr>
          <a:xfrm xmlns:a="http://schemas.openxmlformats.org/drawingml/2006/main">
            <a:off x="7000875" y="33718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93750"/>
          </a:bodyPr>
          <a:lstStyle xmlns:a="http://schemas.openxmlformats.org/drawingml/2006/main"/>
          <a:p xmlns:a="http://schemas.openxmlformats.org/drawingml/2006/main">
            <a:pPr algn="ctr">
              <a:buNone/>
              <a:defRPr sz="1200" b="1">
                <a:solidFill>
                  <a:srgbClr val="E83831"/>
                </a:solidFill>
                <a:latin typeface="Manrope"/>
                <a:ea typeface="Manrope"/>
                <a:cs typeface="Manrope"/>
              </a:defRPr>
            </a:pPr>
            <a:r>
              <a:rPr sz="1200" b="1">
                <a:solidFill>
                  <a:srgbClr val="E83831"/>
                </a:solidFill>
                <a:latin typeface="Manrope"/>
                <a:ea typeface="Manrope"/>
                <a:cs typeface="Manrope"/>
              </a:rPr>
              <a:t>100%</a:t>
            </a:r>
          </a:p>
        </p:txBody>
      </p:sp>
      <p:sp>
        <p:nvSpPr>
          <p:cNvPr id="126" name="target-module-label-5">
            <a:extLst xmlns:a="http://schemas.openxmlformats.org/drawingml/2006/main">
              <a:ext uri="{FF2B5EF4-FFF2-40B4-BE49-F238E27FC236}">
                <a16:creationId xmlns:a16="http://schemas.microsoft.com/office/drawing/2014/main" id="{97C240AB-426D-40B3-AD62-15476E8EAFE8}"/>
              </a:ext>
            </a:extLst>
          </p:cNvPr>
          <p:cNvSpPr>
            <a:spLocks xmlns:a="http://schemas.openxmlformats.org/drawingml/2006/main" noGrp="1"/>
          </p:cNvSpPr>
          <p:nvPr/>
        </p:nvSpPr>
        <p:spPr>
          <a:xfrm xmlns:a="http://schemas.openxmlformats.org/drawingml/2006/main">
            <a:off x="7000875" y="3590925"/>
            <a:ext cx="1257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90278"/>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ChromaDB</a:t>
            </a:r>
          </a:p>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vector store</a:t>
            </a:r>
          </a:p>
        </p:txBody>
      </p:sp>
    </p:spTree>
    <p:extLst>
      <p:ext uri="{BB962C8B-B14F-4D97-AF65-F5344CB8AC3E}">
        <p14:creationId xmlns:p14="http://schemas.microsoft.com/office/powerpoint/2010/main" val="370354749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7" name="Google Shape;77;g3ba14ccda94_0_19">
            <a:extLst xmlns:a="http://schemas.openxmlformats.org/drawingml/2006/main">
              <a:ext uri="{FF2B5EF4-FFF2-40B4-BE49-F238E27FC236}">
                <a16:creationId xmlns:a16="http://schemas.microsoft.com/office/drawing/2014/main" id="{A27235BD-4E5E-342A-510C-825F9EA13E53}"/>
              </a:ext>
            </a:extLst>
          </p:cNvPr>
          <p:cNvSpPr>
            <a:spLocks xmlns:a="http://schemas.openxmlformats.org/drawingml/2006/main" noGrp="1"/>
          </p:cNvSpPr>
          <p:nvPr>
            <p:ph type="title" idx="0"/>
          </p:nvPr>
        </p:nvSpPr>
        <p:spPr>
          <a:xfrm xmlns:a="http://schemas.openxmlformats.org/drawingml/2006/main">
            <a:off x="612375" y="965400"/>
            <a:ext cx="6572250" cy="47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lvl="0" indent="0" algn="l">
              <a:lnSpc>
                <a:spcPct val="100000"/>
              </a:lnSpc>
              <a:spcBef>
                <a:spcPts val="0"/>
              </a:spcBef>
              <a:spcAft>
                <a:spcPts val="0"/>
              </a:spcAft>
              <a:buSzPts val="2800"/>
              <a:buNone/>
              <a:defRPr sz="2850" b="1">
                <a:solidFill>
                  <a:srgbClr val="E83831"/>
                </a:solidFill>
                <a:latin typeface="Afacad Flux"/>
                <a:ea typeface="Afacad Flux"/>
                <a:cs typeface="Afacad Flux"/>
              </a:defRPr>
            </a:pPr>
            <a:r>
              <a:rPr sz="2850" b="1">
                <a:solidFill>
                  <a:srgbClr val="E83831"/>
                </a:solidFill>
                <a:latin typeface="Afacad Flux"/>
                <a:ea typeface="Afacad Flux"/>
                <a:cs typeface="Afacad Flux"/>
              </a:rPr>
              <a:t>RAG received higher ratings on this evaluated set</a:t>
            </a:r>
            <a:endParaRPr sz="2300" b="1">
              <a:solidFill>
                <a:srgbClr val="E83831"/>
              </a:solidFill>
              <a:latin typeface="Afacad Flux"/>
              <a:ea typeface="Afacad Flux"/>
              <a:cs typeface="Afacad Flux"/>
            </a:endParaRPr>
          </a:p>
        </p:txBody>
      </p:sp>
      <p:sp>
        <p:nvSpPr>
          <p:cNvPr id="78" name="Google Shape;78;g3ba14ccda94_0_19">
            <a:extLst xmlns:a="http://schemas.openxmlformats.org/drawingml/2006/main">
              <a:ext uri="{FF2B5EF4-FFF2-40B4-BE49-F238E27FC236}">
                <a16:creationId xmlns:a16="http://schemas.microsoft.com/office/drawing/2014/main" id="{170A701B-5D26-E08C-A235-506D2768F58F}"/>
              </a:ext>
            </a:extLst>
          </p:cNvPr>
          <p:cNvSpPr>
            <a:spLocks xmlns:a="http://schemas.openxmlformats.org/drawingml/2006/main" noGrp="1"/>
          </p:cNvSpPr>
          <p:nvPr>
            <p:ph type="body" idx="1"/>
          </p:nvPr>
        </p:nvSpPr>
        <p:spPr>
          <a:xfrm xmlns:a="http://schemas.openxmlformats.org/drawingml/2006/main">
            <a:off x="617696" y="4038600"/>
            <a:ext cx="8214836"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100000"/>
          </a:bodyPr>
          <a:lstStyle xmlns:a="http://schemas.openxmlformats.org/drawingml/2006/main"/>
          <a:p xmlns:a="http://schemas.openxmlformats.org/drawingml/2006/main">
            <a:pPr marL="152400" lvl="0" indent="0" algn="l">
              <a:lnSpc>
                <a:spcPct val="100000"/>
              </a:lnSpc>
              <a:spcBef>
                <a:spcPts val="0"/>
              </a:spcBef>
              <a:spcAft>
                <a:spcPts val="0"/>
              </a:spcAft>
              <a:buClr>
                <a:srgbClr val="E83831"/>
              </a:buClr>
              <a:buSzPts val="1200"/>
              <a:buNone/>
              <a:defRPr sz="1350">
                <a:solidFill>
                  <a:srgbClr val="09314F"/>
                </a:solidFill>
                <a:latin typeface="Manrope"/>
                <a:ea typeface="Manrope"/>
                <a:cs typeface="Manrope"/>
              </a:defRPr>
            </a:pPr>
            <a:r>
              <a:rPr sz="1350">
                <a:solidFill>
                  <a:srgbClr val="09314F"/>
                </a:solidFill>
                <a:latin typeface="Manrope"/>
                <a:ea typeface="Manrope"/>
                <a:cs typeface="Manrope"/>
              </a:rPr>
              <a:t>Boundary — reported means from two assessor role reports; public item-level score cells were unavailable. This is exploratory evidence, not population-level diagnostic proof.</a:t>
            </a:r>
          </a:p>
        </p:txBody>
      </p:sp>
      <p:cxnSp>
        <p:nvCxnSpPr>
          <p:cNvPr id="124" name="Google Shape;80;g3ba14ccda94_0_19"/>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B6997F"/>
            </a:solidFill>
            <a:prstDash val="solid"/>
            <a:round/>
            <a:headEnd type="none" w="med" len="med"/>
            <a:tailEnd type="none" w="med" len="med"/>
          </a:ln>
        </p:spPr>
      </p:cxnSp>
      <p:sp>
        <p:nvSpPr>
          <p:cNvPr id="81" name="Google Shape;81;g3ba14ccda94_0_19">
            <a:extLst xmlns:a="http://schemas.openxmlformats.org/drawingml/2006/main">
              <a:ext uri="{FF2B5EF4-FFF2-40B4-BE49-F238E27FC236}">
                <a16:creationId xmlns:a16="http://schemas.microsoft.com/office/drawing/2014/main" id="{C336649F-617F-AA44-7F78-3F69969715E9}"/>
              </a:ext>
            </a:extLst>
          </p:cNvPr>
          <p:cNvSpPr>
            <a:spLocks xmlns:a="http://schemas.openxmlformats.org/drawingml/2006/main" noGrp="1"/>
          </p:cNvSpPr>
          <p:nvPr/>
        </p:nvSpPr>
        <p:spPr>
          <a:xfrm xmlns:a="http://schemas.openxmlformats.org/drawingml/2006/main">
            <a:off x="594524" y="349855"/>
            <a:ext cx="1073501"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0B314F"/>
                </a:solidFill>
                <a:latin typeface="Afacad Flux"/>
                <a:ea typeface="Afacad Flux"/>
                <a:cs typeface="Afacad Flux"/>
              </a:defRPr>
            </a:pPr>
            <a:r>
              <a:rPr sz="1200" b="1" i="0" u="none" cap="none">
                <a:solidFill>
                  <a:srgbClr val="0B314F"/>
                </a:solidFill>
                <a:latin typeface="Afacad Flux"/>
                <a:ea typeface="Afacad Flux"/>
                <a:cs typeface="Afacad Flux"/>
              </a:rPr>
              <a:t>Project Defence</a:t>
            </a:r>
            <a:endParaRPr sz="1000" b="1" i="0" u="none" cap="none">
              <a:solidFill>
                <a:srgbClr val="0B314F"/>
              </a:solidFill>
              <a:latin typeface="Afacad Flux"/>
              <a:ea typeface="Afacad Flux"/>
              <a:cs typeface="Afacad Flux"/>
            </a:endParaRPr>
          </a:p>
        </p:txBody>
      </p:sp>
      <p:pic>
        <p:nvPicPr>
          <p:cNvPr id="126" name="Picture 1"/>
          <p:cNvPicPr>
            <a:picLocks xmlns:a="http://schemas.openxmlformats.org/drawingml/2006/main" noChangeAspect="1"/>
          </p:cNvPicPr>
          <p:nvPr/>
        </p:nvPicPr>
        <p:blipFill>
          <a:blip xmlns:r="http://schemas.openxmlformats.org/officeDocument/2006/relationships" xmlns:a="http://schemas.openxmlformats.org/drawingml/2006/main" r:embed="R3162140166224c8e"/>
          <a:stretch xmlns:a="http://schemas.openxmlformats.org/drawingml/2006/main">
            <a:fillRect l="0" t="0" r="0" b="0"/>
          </a:stretch>
        </p:blipFill>
        <p:spPr>
          <a:xfrm xmlns:a="http://schemas.openxmlformats.org/drawingml/2006/main">
            <a:off x="7125672" y="239527"/>
            <a:ext cx="1591055" cy="559355"/>
          </a:xfrm>
          <a:prstGeom xmlns:a="http://schemas.openxmlformats.org/drawingml/2006/main" prst="rect">
            <a:avLst/>
          </a:prstGeom>
        </p:spPr>
      </p:pic>
      <p:sp>
        <p:nvSpPr>
          <p:cNvPr id="91" name="rag-scale-title">
            <a:extLst xmlns:a="http://schemas.openxmlformats.org/drawingml/2006/main">
              <a:ext uri="{FF2B5EF4-FFF2-40B4-BE49-F238E27FC236}">
                <a16:creationId xmlns:a16="http://schemas.microsoft.com/office/drawing/2014/main" id="{D241A419-6738-4A87-A89F-60D88303D9D3}"/>
              </a:ext>
            </a:extLst>
          </p:cNvPr>
          <p:cNvSpPr>
            <a:spLocks xmlns:a="http://schemas.openxmlformats.org/drawingml/2006/main" noGrp="1"/>
          </p:cNvSpPr>
          <p:nvPr/>
        </p:nvSpPr>
        <p:spPr>
          <a:xfrm xmlns:a="http://schemas.openxmlformats.org/drawingml/2006/main">
            <a:off x="714375" y="18288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l">
              <a:buNone/>
              <a:defRPr sz="1500" b="1">
                <a:solidFill>
                  <a:srgbClr val="0B314F"/>
                </a:solidFill>
                <a:latin typeface="Manrope"/>
                <a:ea typeface="Manrope"/>
                <a:cs typeface="Manrope"/>
              </a:defRPr>
            </a:pPr>
            <a:r>
              <a:rPr sz="1500" b="1">
                <a:solidFill>
                  <a:srgbClr val="0B314F"/>
                </a:solidFill>
                <a:latin typeface="Manrope"/>
                <a:ea typeface="Manrope"/>
                <a:cs typeface="Manrope"/>
              </a:rPr>
              <a:t>Reported assessor mean (0–2)</a:t>
            </a:r>
          </a:p>
        </p:txBody>
      </p:sp>
      <p:sp>
        <p:nvSpPr>
          <p:cNvPr id="92" name="rag-grid-0">
            <a:extLst xmlns:a="http://schemas.openxmlformats.org/drawingml/2006/main">
              <a:ext uri="{FF2B5EF4-FFF2-40B4-BE49-F238E27FC236}">
                <a16:creationId xmlns:a16="http://schemas.microsoft.com/office/drawing/2014/main" id="{7628E6D6-5811-4041-A992-B80418EC7579}"/>
              </a:ext>
            </a:extLst>
          </p:cNvPr>
          <p:cNvSpPr>
            <a:spLocks xmlns:a="http://schemas.openxmlformats.org/drawingml/2006/main" noGrp="1"/>
          </p:cNvSpPr>
          <p:nvPr/>
        </p:nvSpPr>
        <p:spPr>
          <a:xfrm xmlns:a="http://schemas.openxmlformats.org/drawingml/2006/main">
            <a:off x="2333625" y="2190750"/>
            <a:ext cx="0" cy="1600200"/>
          </a:xfrm>
          <a:prstGeom xmlns:a="http://schemas.openxmlformats.org/drawingml/2006/main" prst="line">
            <a:avLst/>
          </a:prstGeom>
          <a:noFill xmlns:a="http://schemas.openxmlformats.org/drawingml/2006/main"/>
          <a:ln xmlns:a="http://schemas.openxmlformats.org/drawingml/2006/main" w="9525">
            <a:solidFill>
              <a:srgbClr val="D7DEE2"/>
            </a:solidFill>
            <a:prstDash val="solid"/>
          </a:ln>
        </p:spPr>
      </p:sp>
      <p:sp>
        <p:nvSpPr>
          <p:cNvPr id="93" name="rag-tick-0">
            <a:extLst xmlns:a="http://schemas.openxmlformats.org/drawingml/2006/main">
              <a:ext uri="{FF2B5EF4-FFF2-40B4-BE49-F238E27FC236}">
                <a16:creationId xmlns:a16="http://schemas.microsoft.com/office/drawing/2014/main" id="{8DBD729D-13FC-436B-960C-72D6D21C8C3B}"/>
              </a:ext>
            </a:extLst>
          </p:cNvPr>
          <p:cNvSpPr>
            <a:spLocks xmlns:a="http://schemas.openxmlformats.org/drawingml/2006/main" noGrp="1"/>
          </p:cNvSpPr>
          <p:nvPr/>
        </p:nvSpPr>
        <p:spPr>
          <a:xfrm xmlns:a="http://schemas.openxmlformats.org/drawingml/2006/main">
            <a:off x="2219325" y="3781425"/>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200">
                <a:solidFill>
                  <a:srgbClr val="456477"/>
                </a:solidFill>
                <a:latin typeface="Manrope"/>
                <a:ea typeface="Manrope"/>
                <a:cs typeface="Manrope"/>
              </a:defRPr>
            </a:pPr>
            <a:r>
              <a:rPr sz="1200">
                <a:solidFill>
                  <a:srgbClr val="456477"/>
                </a:solidFill>
                <a:latin typeface="Manrope"/>
                <a:ea typeface="Manrope"/>
                <a:cs typeface="Manrope"/>
              </a:rPr>
              <a:t>0</a:t>
            </a:r>
          </a:p>
        </p:txBody>
      </p:sp>
      <p:sp>
        <p:nvSpPr>
          <p:cNvPr id="94" name="rag-grid-1">
            <a:extLst xmlns:a="http://schemas.openxmlformats.org/drawingml/2006/main">
              <a:ext uri="{FF2B5EF4-FFF2-40B4-BE49-F238E27FC236}">
                <a16:creationId xmlns:a16="http://schemas.microsoft.com/office/drawing/2014/main" id="{B0E2136C-867F-4DDD-8986-70CA4C267868}"/>
              </a:ext>
            </a:extLst>
          </p:cNvPr>
          <p:cNvSpPr>
            <a:spLocks xmlns:a="http://schemas.openxmlformats.org/drawingml/2006/main" noGrp="1"/>
          </p:cNvSpPr>
          <p:nvPr/>
        </p:nvSpPr>
        <p:spPr>
          <a:xfrm xmlns:a="http://schemas.openxmlformats.org/drawingml/2006/main">
            <a:off x="3762375" y="2190750"/>
            <a:ext cx="0" cy="1600200"/>
          </a:xfrm>
          <a:prstGeom xmlns:a="http://schemas.openxmlformats.org/drawingml/2006/main" prst="line">
            <a:avLst/>
          </a:prstGeom>
          <a:noFill xmlns:a="http://schemas.openxmlformats.org/drawingml/2006/main"/>
          <a:ln xmlns:a="http://schemas.openxmlformats.org/drawingml/2006/main" w="9525">
            <a:solidFill>
              <a:srgbClr val="D7DEE2"/>
            </a:solidFill>
            <a:prstDash val="solid"/>
          </a:ln>
        </p:spPr>
      </p:sp>
      <p:sp>
        <p:nvSpPr>
          <p:cNvPr id="95" name="rag-tick-1">
            <a:extLst xmlns:a="http://schemas.openxmlformats.org/drawingml/2006/main">
              <a:ext uri="{FF2B5EF4-FFF2-40B4-BE49-F238E27FC236}">
                <a16:creationId xmlns:a16="http://schemas.microsoft.com/office/drawing/2014/main" id="{F267E4B3-3CF3-4A5E-8041-CBA3FB325510}"/>
              </a:ext>
            </a:extLst>
          </p:cNvPr>
          <p:cNvSpPr>
            <a:spLocks xmlns:a="http://schemas.openxmlformats.org/drawingml/2006/main" noGrp="1"/>
          </p:cNvSpPr>
          <p:nvPr/>
        </p:nvSpPr>
        <p:spPr>
          <a:xfrm xmlns:a="http://schemas.openxmlformats.org/drawingml/2006/main">
            <a:off x="3648075" y="3781425"/>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200">
                <a:solidFill>
                  <a:srgbClr val="456477"/>
                </a:solidFill>
                <a:latin typeface="Manrope"/>
                <a:ea typeface="Manrope"/>
                <a:cs typeface="Manrope"/>
              </a:defRPr>
            </a:pPr>
            <a:r>
              <a:rPr sz="1200">
                <a:solidFill>
                  <a:srgbClr val="456477"/>
                </a:solidFill>
                <a:latin typeface="Manrope"/>
                <a:ea typeface="Manrope"/>
                <a:cs typeface="Manrope"/>
              </a:rPr>
              <a:t>1</a:t>
            </a:r>
          </a:p>
        </p:txBody>
      </p:sp>
      <p:sp>
        <p:nvSpPr>
          <p:cNvPr id="96" name="rag-grid-2">
            <a:extLst xmlns:a="http://schemas.openxmlformats.org/drawingml/2006/main">
              <a:ext uri="{FF2B5EF4-FFF2-40B4-BE49-F238E27FC236}">
                <a16:creationId xmlns:a16="http://schemas.microsoft.com/office/drawing/2014/main" id="{794DE684-76E8-4DF6-B875-F16FFB48995D}"/>
              </a:ext>
            </a:extLst>
          </p:cNvPr>
          <p:cNvSpPr>
            <a:spLocks xmlns:a="http://schemas.openxmlformats.org/drawingml/2006/main" noGrp="1"/>
          </p:cNvSpPr>
          <p:nvPr/>
        </p:nvSpPr>
        <p:spPr>
          <a:xfrm xmlns:a="http://schemas.openxmlformats.org/drawingml/2006/main">
            <a:off x="5191125" y="2190750"/>
            <a:ext cx="0" cy="1600200"/>
          </a:xfrm>
          <a:prstGeom xmlns:a="http://schemas.openxmlformats.org/drawingml/2006/main" prst="line">
            <a:avLst/>
          </a:prstGeom>
          <a:noFill xmlns:a="http://schemas.openxmlformats.org/drawingml/2006/main"/>
          <a:ln xmlns:a="http://schemas.openxmlformats.org/drawingml/2006/main" w="9525">
            <a:solidFill>
              <a:srgbClr val="D7DEE2"/>
            </a:solidFill>
            <a:prstDash val="solid"/>
          </a:ln>
        </p:spPr>
      </p:sp>
      <p:sp>
        <p:nvSpPr>
          <p:cNvPr id="97" name="rag-tick-2">
            <a:extLst xmlns:a="http://schemas.openxmlformats.org/drawingml/2006/main">
              <a:ext uri="{FF2B5EF4-FFF2-40B4-BE49-F238E27FC236}">
                <a16:creationId xmlns:a16="http://schemas.microsoft.com/office/drawing/2014/main" id="{93A9E6C1-AA14-4DBD-87BB-A82BD893B4BA}"/>
              </a:ext>
            </a:extLst>
          </p:cNvPr>
          <p:cNvSpPr>
            <a:spLocks xmlns:a="http://schemas.openxmlformats.org/drawingml/2006/main" noGrp="1"/>
          </p:cNvSpPr>
          <p:nvPr/>
        </p:nvSpPr>
        <p:spPr>
          <a:xfrm xmlns:a="http://schemas.openxmlformats.org/drawingml/2006/main">
            <a:off x="5076825" y="3781425"/>
            <a:ext cx="228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200">
                <a:solidFill>
                  <a:srgbClr val="456477"/>
                </a:solidFill>
                <a:latin typeface="Manrope"/>
                <a:ea typeface="Manrope"/>
                <a:cs typeface="Manrope"/>
              </a:defRPr>
            </a:pPr>
            <a:r>
              <a:rPr sz="1200">
                <a:solidFill>
                  <a:srgbClr val="456477"/>
                </a:solidFill>
                <a:latin typeface="Manrope"/>
                <a:ea typeface="Manrope"/>
                <a:cs typeface="Manrope"/>
              </a:rPr>
              <a:t>2</a:t>
            </a:r>
          </a:p>
        </p:txBody>
      </p:sp>
      <p:sp>
        <p:nvSpPr>
          <p:cNvPr id="98" name="rag-row-label-1">
            <a:extLst xmlns:a="http://schemas.openxmlformats.org/drawingml/2006/main">
              <a:ext uri="{FF2B5EF4-FFF2-40B4-BE49-F238E27FC236}">
                <a16:creationId xmlns:a16="http://schemas.microsoft.com/office/drawing/2014/main" id="{FAF0027E-2792-46D3-8A06-B7DF823884B2}"/>
              </a:ext>
            </a:extLst>
          </p:cNvPr>
          <p:cNvSpPr>
            <a:spLocks xmlns:a="http://schemas.openxmlformats.org/drawingml/2006/main" noGrp="1"/>
          </p:cNvSpPr>
          <p:nvPr/>
        </p:nvSpPr>
        <p:spPr>
          <a:xfrm xmlns:a="http://schemas.openxmlformats.org/drawingml/2006/main">
            <a:off x="714375" y="2400300"/>
            <a:ext cx="147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100000"/>
          </a:bodyPr>
          <a:lstStyle xmlns:a="http://schemas.openxmlformats.org/drawingml/2006/main"/>
          <a:p xmlns:a="http://schemas.openxmlformats.org/drawingml/2006/main">
            <a:pPr algn="r">
              <a:buNone/>
              <a:defRPr sz="1500" b="1">
                <a:solidFill>
                  <a:srgbClr val="0B314F"/>
                </a:solidFill>
                <a:latin typeface="Manrope"/>
                <a:ea typeface="Manrope"/>
                <a:cs typeface="Manrope"/>
              </a:defRPr>
            </a:pPr>
            <a:r>
              <a:rPr sz="1500" b="1">
                <a:solidFill>
                  <a:srgbClr val="0B314F"/>
                </a:solidFill>
                <a:latin typeface="Manrope"/>
                <a:ea typeface="Manrope"/>
                <a:cs typeface="Manrope"/>
              </a:rPr>
              <a:t>Correctness</a:t>
            </a:r>
          </a:p>
        </p:txBody>
      </p:sp>
      <p:sp>
        <p:nvSpPr>
          <p:cNvPr id="99" name="rag-bar-1-1">
            <a:extLst xmlns:a="http://schemas.openxmlformats.org/drawingml/2006/main">
              <a:ext uri="{FF2B5EF4-FFF2-40B4-BE49-F238E27FC236}">
                <a16:creationId xmlns:a16="http://schemas.microsoft.com/office/drawing/2014/main" id="{3B10F7CE-6156-4A0E-ACB4-625A84320890}"/>
              </a:ext>
            </a:extLst>
          </p:cNvPr>
          <p:cNvSpPr>
            <a:spLocks xmlns:a="http://schemas.openxmlformats.org/drawingml/2006/main" noGrp="1"/>
          </p:cNvSpPr>
          <p:nvPr/>
        </p:nvSpPr>
        <p:spPr>
          <a:xfrm xmlns:a="http://schemas.openxmlformats.org/drawingml/2006/main">
            <a:off x="2333625" y="2324100"/>
            <a:ext cx="2321719" cy="180975"/>
          </a:xfrm>
          <a:prstGeom xmlns:a="http://schemas.openxmlformats.org/drawingml/2006/main" prst="roundRect">
            <a:avLst>
              <a:gd name="adj" fmla="val 50000"/>
            </a:avLst>
          </a:prstGeom>
          <a:solidFill xmlns:a="http://schemas.openxmlformats.org/drawingml/2006/main">
            <a:srgbClr val="E83831"/>
          </a:solidFill>
          <a:ln xmlns:a="http://schemas.openxmlformats.org/drawingml/2006/main" w="0">
            <a:solidFill>
              <a:srgbClr val="E83831"/>
            </a:solidFill>
            <a:prstDash val="solid"/>
          </a:ln>
        </p:spPr>
      </p:sp>
      <p:sp>
        <p:nvSpPr>
          <p:cNvPr id="100" name="rag-bar-value-1-1">
            <a:extLst xmlns:a="http://schemas.openxmlformats.org/drawingml/2006/main">
              <a:ext uri="{FF2B5EF4-FFF2-40B4-BE49-F238E27FC236}">
                <a16:creationId xmlns:a16="http://schemas.microsoft.com/office/drawing/2014/main" id="{F9A5C94A-3292-458A-AA04-E245F26C0470}"/>
              </a:ext>
            </a:extLst>
          </p:cNvPr>
          <p:cNvSpPr>
            <a:spLocks xmlns:a="http://schemas.openxmlformats.org/drawingml/2006/main" noGrp="1"/>
          </p:cNvSpPr>
          <p:nvPr/>
        </p:nvSpPr>
        <p:spPr>
          <a:xfrm xmlns:a="http://schemas.openxmlformats.org/drawingml/2006/main">
            <a:off x="5286375" y="2266950"/>
            <a:ext cx="971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l">
              <a:buNone/>
              <a:defRPr sz="1350" b="1">
                <a:solidFill>
                  <a:srgbClr val="E83831"/>
                </a:solidFill>
                <a:latin typeface="Manrope"/>
                <a:ea typeface="Manrope"/>
                <a:cs typeface="Manrope"/>
              </a:defRPr>
            </a:pPr>
            <a:r>
              <a:rPr sz="1350" b="1">
                <a:solidFill>
                  <a:srgbClr val="E83831"/>
                </a:solidFill>
                <a:latin typeface="Manrope"/>
                <a:ea typeface="Manrope"/>
                <a:cs typeface="Manrope"/>
              </a:rPr>
              <a:t>1.625  RAG</a:t>
            </a:r>
          </a:p>
        </p:txBody>
      </p:sp>
      <p:sp>
        <p:nvSpPr>
          <p:cNvPr id="101" name="rag-bar-1-2">
            <a:extLst xmlns:a="http://schemas.openxmlformats.org/drawingml/2006/main">
              <a:ext uri="{FF2B5EF4-FFF2-40B4-BE49-F238E27FC236}">
                <a16:creationId xmlns:a16="http://schemas.microsoft.com/office/drawing/2014/main" id="{4AB95913-C236-43A7-9BA9-4CE4399B42A3}"/>
              </a:ext>
            </a:extLst>
          </p:cNvPr>
          <p:cNvSpPr>
            <a:spLocks xmlns:a="http://schemas.openxmlformats.org/drawingml/2006/main" noGrp="1"/>
          </p:cNvSpPr>
          <p:nvPr/>
        </p:nvSpPr>
        <p:spPr>
          <a:xfrm xmlns:a="http://schemas.openxmlformats.org/drawingml/2006/main">
            <a:off x="2333625" y="2609850"/>
            <a:ext cx="1051560" cy="180975"/>
          </a:xfrm>
          <a:prstGeom xmlns:a="http://schemas.openxmlformats.org/drawingml/2006/main" prst="roundRect">
            <a:avLst>
              <a:gd name="adj" fmla="val 50000"/>
            </a:avLst>
          </a:prstGeom>
          <a:solidFill xmlns:a="http://schemas.openxmlformats.org/drawingml/2006/main">
            <a:srgbClr val="C0A282"/>
          </a:solidFill>
          <a:ln xmlns:a="http://schemas.openxmlformats.org/drawingml/2006/main" w="0">
            <a:solidFill>
              <a:srgbClr val="C0A282"/>
            </a:solidFill>
            <a:prstDash val="solid"/>
          </a:ln>
        </p:spPr>
      </p:sp>
      <p:sp>
        <p:nvSpPr>
          <p:cNvPr id="102" name="rag-bar-value-1-2">
            <a:extLst xmlns:a="http://schemas.openxmlformats.org/drawingml/2006/main">
              <a:ext uri="{FF2B5EF4-FFF2-40B4-BE49-F238E27FC236}">
                <a16:creationId xmlns:a16="http://schemas.microsoft.com/office/drawing/2014/main" id="{09BE5048-E94D-45BB-9811-5218D63A1910}"/>
              </a:ext>
            </a:extLst>
          </p:cNvPr>
          <p:cNvSpPr>
            <a:spLocks xmlns:a="http://schemas.openxmlformats.org/drawingml/2006/main" noGrp="1"/>
          </p:cNvSpPr>
          <p:nvPr/>
        </p:nvSpPr>
        <p:spPr>
          <a:xfrm xmlns:a="http://schemas.openxmlformats.org/drawingml/2006/main">
            <a:off x="5286375" y="2552700"/>
            <a:ext cx="971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80975"/>
          </a:bodyPr>
          <a:lstStyle xmlns:a="http://schemas.openxmlformats.org/drawingml/2006/main"/>
          <a:p xmlns:a="http://schemas.openxmlformats.org/drawingml/2006/main">
            <a:pPr algn="l">
              <a:buNone/>
              <a:defRPr sz="1350" b="1">
                <a:solidFill>
                  <a:srgbClr val="0B314F"/>
                </a:solidFill>
                <a:latin typeface="Manrope"/>
                <a:ea typeface="Manrope"/>
                <a:cs typeface="Manrope"/>
              </a:defRPr>
            </a:pPr>
            <a:r>
              <a:rPr sz="1350" b="1">
                <a:solidFill>
                  <a:srgbClr val="0B314F"/>
                </a:solidFill>
                <a:latin typeface="Manrope"/>
                <a:ea typeface="Manrope"/>
                <a:cs typeface="Manrope"/>
              </a:rPr>
              <a:t>0.736  no RAG</a:t>
            </a:r>
          </a:p>
        </p:txBody>
      </p:sp>
      <p:sp>
        <p:nvSpPr>
          <p:cNvPr id="103" name="rag-row-label-2">
            <a:extLst xmlns:a="http://schemas.openxmlformats.org/drawingml/2006/main">
              <a:ext uri="{FF2B5EF4-FFF2-40B4-BE49-F238E27FC236}">
                <a16:creationId xmlns:a16="http://schemas.microsoft.com/office/drawing/2014/main" id="{E2B52EF5-43AD-4F25-8B17-E4551F4C8A66}"/>
              </a:ext>
            </a:extLst>
          </p:cNvPr>
          <p:cNvSpPr>
            <a:spLocks xmlns:a="http://schemas.openxmlformats.org/drawingml/2006/main" noGrp="1"/>
          </p:cNvSpPr>
          <p:nvPr/>
        </p:nvSpPr>
        <p:spPr>
          <a:xfrm xmlns:a="http://schemas.openxmlformats.org/drawingml/2006/main">
            <a:off x="714375" y="3181350"/>
            <a:ext cx="147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100000"/>
          </a:bodyPr>
          <a:lstStyle xmlns:a="http://schemas.openxmlformats.org/drawingml/2006/main"/>
          <a:p xmlns:a="http://schemas.openxmlformats.org/drawingml/2006/main">
            <a:pPr algn="r">
              <a:buNone/>
              <a:defRPr sz="1500" b="1">
                <a:solidFill>
                  <a:srgbClr val="0B314F"/>
                </a:solidFill>
                <a:latin typeface="Manrope"/>
                <a:ea typeface="Manrope"/>
                <a:cs typeface="Manrope"/>
              </a:defRPr>
            </a:pPr>
            <a:r>
              <a:rPr sz="1500" b="1">
                <a:solidFill>
                  <a:srgbClr val="0B314F"/>
                </a:solidFill>
                <a:latin typeface="Manrope"/>
                <a:ea typeface="Manrope"/>
                <a:cs typeface="Manrope"/>
              </a:rPr>
              <a:t>Grounding</a:t>
            </a:r>
          </a:p>
        </p:txBody>
      </p:sp>
      <p:sp>
        <p:nvSpPr>
          <p:cNvPr id="104" name="rag-bar-2-1">
            <a:extLst xmlns:a="http://schemas.openxmlformats.org/drawingml/2006/main">
              <a:ext uri="{FF2B5EF4-FFF2-40B4-BE49-F238E27FC236}">
                <a16:creationId xmlns:a16="http://schemas.microsoft.com/office/drawing/2014/main" id="{DA86EF7F-A58A-4C06-BA00-6229088962DF}"/>
              </a:ext>
            </a:extLst>
          </p:cNvPr>
          <p:cNvSpPr>
            <a:spLocks xmlns:a="http://schemas.openxmlformats.org/drawingml/2006/main" noGrp="1"/>
          </p:cNvSpPr>
          <p:nvPr/>
        </p:nvSpPr>
        <p:spPr>
          <a:xfrm xmlns:a="http://schemas.openxmlformats.org/drawingml/2006/main">
            <a:off x="2333625" y="3105150"/>
            <a:ext cx="2381726" cy="180975"/>
          </a:xfrm>
          <a:prstGeom xmlns:a="http://schemas.openxmlformats.org/drawingml/2006/main" prst="roundRect">
            <a:avLst>
              <a:gd name="adj" fmla="val 50000"/>
            </a:avLst>
          </a:prstGeom>
          <a:solidFill xmlns:a="http://schemas.openxmlformats.org/drawingml/2006/main">
            <a:srgbClr val="E83831"/>
          </a:solidFill>
          <a:ln xmlns:a="http://schemas.openxmlformats.org/drawingml/2006/main" w="0">
            <a:solidFill>
              <a:srgbClr val="E83831"/>
            </a:solidFill>
            <a:prstDash val="solid"/>
          </a:ln>
        </p:spPr>
      </p:sp>
      <p:sp>
        <p:nvSpPr>
          <p:cNvPr id="105" name="rag-bar-value-2-1">
            <a:extLst xmlns:a="http://schemas.openxmlformats.org/drawingml/2006/main">
              <a:ext uri="{FF2B5EF4-FFF2-40B4-BE49-F238E27FC236}">
                <a16:creationId xmlns:a16="http://schemas.microsoft.com/office/drawing/2014/main" id="{298B465A-6005-41D6-A352-918573DF329F}"/>
              </a:ext>
            </a:extLst>
          </p:cNvPr>
          <p:cNvSpPr>
            <a:spLocks xmlns:a="http://schemas.openxmlformats.org/drawingml/2006/main" noGrp="1"/>
          </p:cNvSpPr>
          <p:nvPr/>
        </p:nvSpPr>
        <p:spPr>
          <a:xfrm xmlns:a="http://schemas.openxmlformats.org/drawingml/2006/main">
            <a:off x="5286375" y="3048000"/>
            <a:ext cx="971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l">
              <a:buNone/>
              <a:defRPr sz="1350" b="1">
                <a:solidFill>
                  <a:srgbClr val="E83831"/>
                </a:solidFill>
                <a:latin typeface="Manrope"/>
                <a:ea typeface="Manrope"/>
                <a:cs typeface="Manrope"/>
              </a:defRPr>
            </a:pPr>
            <a:r>
              <a:rPr sz="1350" b="1">
                <a:solidFill>
                  <a:srgbClr val="E83831"/>
                </a:solidFill>
                <a:latin typeface="Manrope"/>
                <a:ea typeface="Manrope"/>
                <a:cs typeface="Manrope"/>
              </a:rPr>
              <a:t>1.667  RAG</a:t>
            </a:r>
          </a:p>
        </p:txBody>
      </p:sp>
      <p:sp>
        <p:nvSpPr>
          <p:cNvPr id="106" name="rag-bar-2-2">
            <a:extLst xmlns:a="http://schemas.openxmlformats.org/drawingml/2006/main">
              <a:ext uri="{FF2B5EF4-FFF2-40B4-BE49-F238E27FC236}">
                <a16:creationId xmlns:a16="http://schemas.microsoft.com/office/drawing/2014/main" id="{BD6CA4C1-A2D5-41B7-96C0-51FAE8E53554}"/>
              </a:ext>
            </a:extLst>
          </p:cNvPr>
          <p:cNvSpPr>
            <a:spLocks xmlns:a="http://schemas.openxmlformats.org/drawingml/2006/main" noGrp="1"/>
          </p:cNvSpPr>
          <p:nvPr/>
        </p:nvSpPr>
        <p:spPr>
          <a:xfrm xmlns:a="http://schemas.openxmlformats.org/drawingml/2006/main">
            <a:off x="2333625" y="3390900"/>
            <a:ext cx="19050" cy="180975"/>
          </a:xfrm>
          <a:prstGeom xmlns:a="http://schemas.openxmlformats.org/drawingml/2006/main" prst="roundRect">
            <a:avLst>
              <a:gd name="adj" fmla="val 50000"/>
            </a:avLst>
          </a:prstGeom>
          <a:solidFill xmlns:a="http://schemas.openxmlformats.org/drawingml/2006/main">
            <a:srgbClr val="C0A282"/>
          </a:solidFill>
          <a:ln xmlns:a="http://schemas.openxmlformats.org/drawingml/2006/main" w="0">
            <a:solidFill>
              <a:srgbClr val="C0A282"/>
            </a:solidFill>
            <a:prstDash val="solid"/>
          </a:ln>
        </p:spPr>
      </p:sp>
      <p:sp>
        <p:nvSpPr>
          <p:cNvPr id="107" name="rag-bar-value-2-2">
            <a:extLst xmlns:a="http://schemas.openxmlformats.org/drawingml/2006/main">
              <a:ext uri="{FF2B5EF4-FFF2-40B4-BE49-F238E27FC236}">
                <a16:creationId xmlns:a16="http://schemas.microsoft.com/office/drawing/2014/main" id="{30B8E22B-E879-469A-86D8-E3EA057CA5A8}"/>
              </a:ext>
            </a:extLst>
          </p:cNvPr>
          <p:cNvSpPr>
            <a:spLocks xmlns:a="http://schemas.openxmlformats.org/drawingml/2006/main" noGrp="1"/>
          </p:cNvSpPr>
          <p:nvPr/>
        </p:nvSpPr>
        <p:spPr>
          <a:xfrm xmlns:a="http://schemas.openxmlformats.org/drawingml/2006/main">
            <a:off x="5286375" y="3333750"/>
            <a:ext cx="971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78080"/>
          </a:bodyPr>
          <a:lstStyle xmlns:a="http://schemas.openxmlformats.org/drawingml/2006/main"/>
          <a:p xmlns:a="http://schemas.openxmlformats.org/drawingml/2006/main">
            <a:pPr algn="l">
              <a:buNone/>
              <a:defRPr sz="1350" b="1">
                <a:solidFill>
                  <a:srgbClr val="0B314F"/>
                </a:solidFill>
                <a:latin typeface="Manrope"/>
                <a:ea typeface="Manrope"/>
                <a:cs typeface="Manrope"/>
              </a:defRPr>
            </a:pPr>
            <a:r>
              <a:rPr sz="1350" b="1">
                <a:solidFill>
                  <a:srgbClr val="0B314F"/>
                </a:solidFill>
                <a:latin typeface="Manrope"/>
                <a:ea typeface="Manrope"/>
                <a:cs typeface="Manrope"/>
              </a:rPr>
              <a:t>0.000  no RAG</a:t>
            </a:r>
          </a:p>
        </p:txBody>
      </p:sp>
      <p:sp>
        <p:nvSpPr>
          <p:cNvPr id="108" name="rag-retrieval-surface">
            <a:extLst xmlns:a="http://schemas.openxmlformats.org/drawingml/2006/main">
              <a:ext uri="{FF2B5EF4-FFF2-40B4-BE49-F238E27FC236}">
                <a16:creationId xmlns:a16="http://schemas.microsoft.com/office/drawing/2014/main" id="{39A31B0C-99BA-4F54-9065-BE69DA924B07}"/>
              </a:ext>
            </a:extLst>
          </p:cNvPr>
          <p:cNvSpPr>
            <a:spLocks xmlns:a="http://schemas.openxmlformats.org/drawingml/2006/main" noGrp="1"/>
          </p:cNvSpPr>
          <p:nvPr/>
        </p:nvSpPr>
        <p:spPr>
          <a:xfrm xmlns:a="http://schemas.openxmlformats.org/drawingml/2006/main">
            <a:off x="6334125" y="2133600"/>
            <a:ext cx="1952625" cy="781050"/>
          </a:xfrm>
          <a:prstGeom xmlns:a="http://schemas.openxmlformats.org/drawingml/2006/main" prst="roundRect">
            <a:avLst>
              <a:gd name="adj" fmla="val 14634"/>
            </a:avLst>
          </a:prstGeom>
          <a:solidFill xmlns:a="http://schemas.openxmlformats.org/drawingml/2006/main">
            <a:srgbClr val="F5F7F8"/>
          </a:solidFill>
          <a:ln xmlns:a="http://schemas.openxmlformats.org/drawingml/2006/main" w="9525">
            <a:solidFill>
              <a:srgbClr val="C8D2D8"/>
            </a:solidFill>
            <a:prstDash val="solid"/>
          </a:ln>
        </p:spPr>
      </p:sp>
      <p:sp>
        <p:nvSpPr>
          <p:cNvPr id="109" name="rag-retrieval-value">
            <a:extLst xmlns:a="http://schemas.openxmlformats.org/drawingml/2006/main">
              <a:ext uri="{FF2B5EF4-FFF2-40B4-BE49-F238E27FC236}">
                <a16:creationId xmlns:a16="http://schemas.microsoft.com/office/drawing/2014/main" id="{5B985C46-914B-4FC5-B177-1E916C508F34}"/>
              </a:ext>
            </a:extLst>
          </p:cNvPr>
          <p:cNvSpPr>
            <a:spLocks xmlns:a="http://schemas.openxmlformats.org/drawingml/2006/main" noGrp="1"/>
          </p:cNvSpPr>
          <p:nvPr/>
        </p:nvSpPr>
        <p:spPr>
          <a:xfrm xmlns:a="http://schemas.openxmlformats.org/drawingml/2006/main">
            <a:off x="6410325" y="2190750"/>
            <a:ext cx="1800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94203"/>
          </a:bodyPr>
          <a:lstStyle xmlns:a="http://schemas.openxmlformats.org/drawingml/2006/main"/>
          <a:p xmlns:a="http://schemas.openxmlformats.org/drawingml/2006/main">
            <a:pPr algn="ctr">
              <a:buNone/>
              <a:defRPr sz="1725" b="1">
                <a:solidFill>
                  <a:srgbClr val="E83831"/>
                </a:solidFill>
                <a:latin typeface="Manrope"/>
                <a:ea typeface="Manrope"/>
                <a:cs typeface="Manrope"/>
              </a:defRPr>
            </a:pPr>
            <a:r>
              <a:rPr sz="1725" b="1">
                <a:solidFill>
                  <a:srgbClr val="E83831"/>
                </a:solidFill>
                <a:latin typeface="Manrope"/>
                <a:ea typeface="Manrope"/>
                <a:cs typeface="Manrope"/>
              </a:rPr>
              <a:t>12/12</a:t>
            </a:r>
          </a:p>
        </p:txBody>
      </p:sp>
      <p:sp>
        <p:nvSpPr>
          <p:cNvPr id="110" name="rag-retrieval-label">
            <a:extLst xmlns:a="http://schemas.openxmlformats.org/drawingml/2006/main">
              <a:ext uri="{FF2B5EF4-FFF2-40B4-BE49-F238E27FC236}">
                <a16:creationId xmlns:a16="http://schemas.microsoft.com/office/drawing/2014/main" id="{332B1740-FE5D-42BD-B5DD-C441B78ED6C7}"/>
              </a:ext>
            </a:extLst>
          </p:cNvPr>
          <p:cNvSpPr>
            <a:spLocks xmlns:a="http://schemas.openxmlformats.org/drawingml/2006/main" noGrp="1"/>
          </p:cNvSpPr>
          <p:nvPr/>
        </p:nvSpPr>
        <p:spPr>
          <a:xfrm xmlns:a="http://schemas.openxmlformats.org/drawingml/2006/main">
            <a:off x="6410325" y="2505075"/>
            <a:ext cx="18002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76389"/>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RELEVANT RUNBOOK</a:t>
            </a:r>
          </a:p>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IN TOP FOUR</a:t>
            </a:r>
          </a:p>
        </p:txBody>
      </p:sp>
      <p:sp>
        <p:nvSpPr>
          <p:cNvPr id="111" name="rag-practitioners-surface">
            <a:extLst xmlns:a="http://schemas.openxmlformats.org/drawingml/2006/main">
              <a:ext uri="{FF2B5EF4-FFF2-40B4-BE49-F238E27FC236}">
                <a16:creationId xmlns:a16="http://schemas.microsoft.com/office/drawing/2014/main" id="{61E23473-EC33-4302-AEF9-2B4FFB9F55D2}"/>
              </a:ext>
            </a:extLst>
          </p:cNvPr>
          <p:cNvSpPr>
            <a:spLocks xmlns:a="http://schemas.openxmlformats.org/drawingml/2006/main" noGrp="1"/>
          </p:cNvSpPr>
          <p:nvPr/>
        </p:nvSpPr>
        <p:spPr>
          <a:xfrm xmlns:a="http://schemas.openxmlformats.org/drawingml/2006/main">
            <a:off x="6334125" y="3067050"/>
            <a:ext cx="1952625" cy="781050"/>
          </a:xfrm>
          <a:prstGeom xmlns:a="http://schemas.openxmlformats.org/drawingml/2006/main" prst="roundRect">
            <a:avLst>
              <a:gd name="adj" fmla="val 14634"/>
            </a:avLst>
          </a:prstGeom>
          <a:solidFill xmlns:a="http://schemas.openxmlformats.org/drawingml/2006/main">
            <a:srgbClr val="F5F7F8"/>
          </a:solidFill>
          <a:ln xmlns:a="http://schemas.openxmlformats.org/drawingml/2006/main" w="9525">
            <a:solidFill>
              <a:srgbClr val="C8D2D8"/>
            </a:solidFill>
            <a:prstDash val="solid"/>
          </a:ln>
        </p:spPr>
      </p:sp>
      <p:sp>
        <p:nvSpPr>
          <p:cNvPr id="112" name="rag-practitioners-value">
            <a:extLst xmlns:a="http://schemas.openxmlformats.org/drawingml/2006/main">
              <a:ext uri="{FF2B5EF4-FFF2-40B4-BE49-F238E27FC236}">
                <a16:creationId xmlns:a16="http://schemas.microsoft.com/office/drawing/2014/main" id="{D96E9E60-4423-421E-97EA-BE92A8A12AA2}"/>
              </a:ext>
            </a:extLst>
          </p:cNvPr>
          <p:cNvSpPr>
            <a:spLocks xmlns:a="http://schemas.openxmlformats.org/drawingml/2006/main" noGrp="1"/>
          </p:cNvSpPr>
          <p:nvPr/>
        </p:nvSpPr>
        <p:spPr>
          <a:xfrm xmlns:a="http://schemas.openxmlformats.org/drawingml/2006/main">
            <a:off x="6410325" y="3124200"/>
            <a:ext cx="1800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94203"/>
          </a:bodyPr>
          <a:lstStyle xmlns:a="http://schemas.openxmlformats.org/drawingml/2006/main"/>
          <a:p xmlns:a="http://schemas.openxmlformats.org/drawingml/2006/main">
            <a:pPr algn="ctr">
              <a:buNone/>
              <a:defRPr sz="1725" b="1">
                <a:solidFill>
                  <a:srgbClr val="0B314F"/>
                </a:solidFill>
                <a:latin typeface="Manrope"/>
                <a:ea typeface="Manrope"/>
                <a:cs typeface="Manrope"/>
              </a:defRPr>
            </a:pPr>
            <a:r>
              <a:rPr sz="1725" b="1">
                <a:solidFill>
                  <a:srgbClr val="0B314F"/>
                </a:solidFill>
                <a:latin typeface="Manrope"/>
                <a:ea typeface="Manrope"/>
                <a:cs typeface="Manrope"/>
              </a:rPr>
              <a:t>2</a:t>
            </a:r>
          </a:p>
        </p:txBody>
      </p:sp>
      <p:sp>
        <p:nvSpPr>
          <p:cNvPr id="113" name="rag-practitioners-label">
            <a:extLst xmlns:a="http://schemas.openxmlformats.org/drawingml/2006/main">
              <a:ext uri="{FF2B5EF4-FFF2-40B4-BE49-F238E27FC236}">
                <a16:creationId xmlns:a16="http://schemas.microsoft.com/office/drawing/2014/main" id="{B6C6F0ED-1D77-4193-8B2C-3DEC2EDD7398}"/>
              </a:ext>
            </a:extLst>
          </p:cNvPr>
          <p:cNvSpPr>
            <a:spLocks xmlns:a="http://schemas.openxmlformats.org/drawingml/2006/main" noGrp="1"/>
          </p:cNvSpPr>
          <p:nvPr/>
        </p:nvSpPr>
        <p:spPr>
          <a:xfrm xmlns:a="http://schemas.openxmlformats.org/drawingml/2006/main">
            <a:off x="6410325" y="3438525"/>
            <a:ext cx="18002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76389"/>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ASSESSOR ROLE</a:t>
            </a:r>
          </a:p>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REPORTS</a:t>
            </a:r>
          </a:p>
        </p:txBody>
      </p:sp>
    </p:spTree>
    <p:extLst>
      <p:ext uri="{BB962C8B-B14F-4D97-AF65-F5344CB8AC3E}">
        <p14:creationId xmlns:p14="http://schemas.microsoft.com/office/powerpoint/2010/main" val="314515941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7" name="Google Shape;77;g3ba14ccda94_0_19">
            <a:extLst xmlns:a="http://schemas.openxmlformats.org/drawingml/2006/main">
              <a:ext uri="{FF2B5EF4-FFF2-40B4-BE49-F238E27FC236}">
                <a16:creationId xmlns:a16="http://schemas.microsoft.com/office/drawing/2014/main" id="{E7749026-8990-A95E-5684-CF562DB492B7}"/>
              </a:ext>
            </a:extLst>
          </p:cNvPr>
          <p:cNvSpPr>
            <a:spLocks xmlns:a="http://schemas.openxmlformats.org/drawingml/2006/main" noGrp="1"/>
          </p:cNvSpPr>
          <p:nvPr>
            <p:ph type="title" idx="0"/>
          </p:nvPr>
        </p:nvSpPr>
        <p:spPr>
          <a:xfrm xmlns:a="http://schemas.openxmlformats.org/drawingml/2006/main">
            <a:off x="612375" y="965400"/>
            <a:ext cx="6572250" cy="47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lvl="0" indent="0" algn="l">
              <a:lnSpc>
                <a:spcPct val="100000"/>
              </a:lnSpc>
              <a:spcBef>
                <a:spcPts val="0"/>
              </a:spcBef>
              <a:spcAft>
                <a:spcPts val="0"/>
              </a:spcAft>
              <a:buSzPts val="2800"/>
              <a:buNone/>
              <a:defRPr sz="2850" b="1">
                <a:solidFill>
                  <a:srgbClr val="E83831"/>
                </a:solidFill>
                <a:latin typeface="Afacad Flux"/>
                <a:ea typeface="Afacad Flux"/>
                <a:cs typeface="Afacad Flux"/>
              </a:defRPr>
            </a:pPr>
            <a:r>
              <a:rPr sz="2850" b="1">
                <a:solidFill>
                  <a:srgbClr val="E83831"/>
                </a:solidFill>
                <a:latin typeface="Afacad Flux"/>
                <a:ea typeface="Afacad Flux"/>
                <a:cs typeface="Afacad Flux"/>
              </a:rPr>
              <a:t>Ten complete responses suggest favourable usability</a:t>
            </a:r>
            <a:endParaRPr sz="2300" b="1">
              <a:solidFill>
                <a:srgbClr val="E83831"/>
              </a:solidFill>
              <a:latin typeface="Afacad Flux"/>
              <a:ea typeface="Afacad Flux"/>
              <a:cs typeface="Afacad Flux"/>
            </a:endParaRPr>
          </a:p>
        </p:txBody>
      </p:sp>
      <p:sp>
        <p:nvSpPr>
          <p:cNvPr id="78" name="Google Shape;78;g3ba14ccda94_0_19">
            <a:extLst xmlns:a="http://schemas.openxmlformats.org/drawingml/2006/main">
              <a:ext uri="{FF2B5EF4-FFF2-40B4-BE49-F238E27FC236}">
                <a16:creationId xmlns:a16="http://schemas.microsoft.com/office/drawing/2014/main" id="{4132265A-49C1-EDF3-57A5-1E033FC18F9C}"/>
              </a:ext>
            </a:extLst>
          </p:cNvPr>
          <p:cNvSpPr>
            <a:spLocks xmlns:a="http://schemas.openxmlformats.org/drawingml/2006/main" noGrp="1"/>
          </p:cNvSpPr>
          <p:nvPr>
            <p:ph type="body" idx="1"/>
          </p:nvPr>
        </p:nvSpPr>
        <p:spPr>
          <a:xfrm xmlns:a="http://schemas.openxmlformats.org/drawingml/2006/main">
            <a:off x="617696" y="3943350"/>
            <a:ext cx="8214836"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100000"/>
          </a:bodyPr>
          <a:lstStyle xmlns:a="http://schemas.openxmlformats.org/drawingml/2006/main"/>
          <a:p xmlns:a="http://schemas.openxmlformats.org/drawingml/2006/main">
            <a:pPr marL="152400" lvl="0" indent="0" algn="l">
              <a:lnSpc>
                <a:spcPct val="100000"/>
              </a:lnSpc>
              <a:spcBef>
                <a:spcPts val="0"/>
              </a:spcBef>
              <a:spcAft>
                <a:spcPts val="0"/>
              </a:spcAft>
              <a:buClr>
                <a:srgbClr val="E83831"/>
              </a:buClr>
              <a:buSzPts val="1200"/>
              <a:buNone/>
              <a:defRPr sz="1350">
                <a:solidFill>
                  <a:srgbClr val="09314F"/>
                </a:solidFill>
                <a:latin typeface="Manrope"/>
                <a:ea typeface="Manrope"/>
                <a:cs typeface="Manrope"/>
              </a:defRPr>
            </a:pPr>
            <a:r>
              <a:rPr sz="1350">
                <a:solidFill>
                  <a:srgbClr val="09314F"/>
                </a:solidFill>
                <a:latin typeface="Manrope"/>
                <a:ea typeface="Manrope"/>
                <a:cs typeface="Manrope"/>
              </a:rPr>
              <a:t>Range 40.0–97.5; one incomplete response was excluded without imputation. Boundary — perceived usability in this group, not task performance, workload reduction or population usability.</a:t>
            </a:r>
          </a:p>
        </p:txBody>
      </p:sp>
      <p:cxnSp>
        <p:nvCxnSpPr>
          <p:cNvPr id="126" name="Google Shape;80;g3ba14ccda94_0_19"/>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B6997F"/>
            </a:solidFill>
            <a:prstDash val="solid"/>
            <a:round/>
            <a:headEnd type="none" w="med" len="med"/>
            <a:tailEnd type="none" w="med" len="med"/>
          </a:ln>
        </p:spPr>
      </p:cxnSp>
      <p:sp>
        <p:nvSpPr>
          <p:cNvPr id="81" name="Google Shape;81;g3ba14ccda94_0_19">
            <a:extLst xmlns:a="http://schemas.openxmlformats.org/drawingml/2006/main">
              <a:ext uri="{FF2B5EF4-FFF2-40B4-BE49-F238E27FC236}">
                <a16:creationId xmlns:a16="http://schemas.microsoft.com/office/drawing/2014/main" id="{0EA5BED6-F809-286E-6B52-29C8DAF2BC8F}"/>
              </a:ext>
            </a:extLst>
          </p:cNvPr>
          <p:cNvSpPr>
            <a:spLocks xmlns:a="http://schemas.openxmlformats.org/drawingml/2006/main" noGrp="1"/>
          </p:cNvSpPr>
          <p:nvPr/>
        </p:nvSpPr>
        <p:spPr>
          <a:xfrm xmlns:a="http://schemas.openxmlformats.org/drawingml/2006/main">
            <a:off x="594524" y="349855"/>
            <a:ext cx="1073501"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0B314F"/>
                </a:solidFill>
                <a:latin typeface="Afacad Flux"/>
                <a:ea typeface="Afacad Flux"/>
                <a:cs typeface="Afacad Flux"/>
              </a:defRPr>
            </a:pPr>
            <a:r>
              <a:rPr sz="1200" b="1" i="0" u="none" cap="none">
                <a:solidFill>
                  <a:srgbClr val="0B314F"/>
                </a:solidFill>
                <a:latin typeface="Afacad Flux"/>
                <a:ea typeface="Afacad Flux"/>
                <a:cs typeface="Afacad Flux"/>
              </a:rPr>
              <a:t>Project Defence</a:t>
            </a:r>
            <a:endParaRPr sz="1000" b="1" i="0" u="none" cap="none">
              <a:solidFill>
                <a:srgbClr val="0B314F"/>
              </a:solidFill>
              <a:latin typeface="Afacad Flux"/>
              <a:ea typeface="Afacad Flux"/>
              <a:cs typeface="Afacad Flux"/>
            </a:endParaRPr>
          </a:p>
        </p:txBody>
      </p:sp>
      <p:pic>
        <p:nvPicPr>
          <p:cNvPr id="128" name="Picture 1"/>
          <p:cNvPicPr>
            <a:picLocks xmlns:a="http://schemas.openxmlformats.org/drawingml/2006/main" noChangeAspect="1"/>
          </p:cNvPicPr>
          <p:nvPr/>
        </p:nvPicPr>
        <p:blipFill>
          <a:blip xmlns:r="http://schemas.openxmlformats.org/officeDocument/2006/relationships" xmlns:a="http://schemas.openxmlformats.org/drawingml/2006/main" r:embed="R6a4030a80990411d"/>
          <a:stretch xmlns:a="http://schemas.openxmlformats.org/drawingml/2006/main">
            <a:fillRect l="0" t="0" r="0" b="0"/>
          </a:stretch>
        </p:blipFill>
        <p:spPr>
          <a:xfrm xmlns:a="http://schemas.openxmlformats.org/drawingml/2006/main">
            <a:off x="7125672" y="239527"/>
            <a:ext cx="1591055" cy="559355"/>
          </a:xfrm>
          <a:prstGeom xmlns:a="http://schemas.openxmlformats.org/drawingml/2006/main" prst="rect">
            <a:avLst/>
          </a:prstGeom>
        </p:spPr>
      </p:pic>
      <p:sp>
        <p:nvSpPr>
          <p:cNvPr id="91" name="sus-summary-1-surface">
            <a:extLst xmlns:a="http://schemas.openxmlformats.org/drawingml/2006/main">
              <a:ext uri="{FF2B5EF4-FFF2-40B4-BE49-F238E27FC236}">
                <a16:creationId xmlns:a16="http://schemas.microsoft.com/office/drawing/2014/main" id="{20B50DC9-736B-4E61-9F5E-6FDB9277EE0D}"/>
              </a:ext>
            </a:extLst>
          </p:cNvPr>
          <p:cNvSpPr>
            <a:spLocks xmlns:a="http://schemas.openxmlformats.org/drawingml/2006/main" noGrp="1"/>
          </p:cNvSpPr>
          <p:nvPr/>
        </p:nvSpPr>
        <p:spPr>
          <a:xfrm xmlns:a="http://schemas.openxmlformats.org/drawingml/2006/main">
            <a:off x="714375" y="1924050"/>
            <a:ext cx="1714500" cy="781050"/>
          </a:xfrm>
          <a:prstGeom xmlns:a="http://schemas.openxmlformats.org/drawingml/2006/main" prst="roundRect">
            <a:avLst>
              <a:gd name="adj" fmla="val 14634"/>
            </a:avLst>
          </a:prstGeom>
          <a:solidFill xmlns:a="http://schemas.openxmlformats.org/drawingml/2006/main">
            <a:srgbClr val="F5F7F8"/>
          </a:solidFill>
          <a:ln xmlns:a="http://schemas.openxmlformats.org/drawingml/2006/main" w="9525">
            <a:solidFill>
              <a:srgbClr val="C8D2D8"/>
            </a:solidFill>
            <a:prstDash val="solid"/>
          </a:ln>
        </p:spPr>
      </p:sp>
      <p:sp>
        <p:nvSpPr>
          <p:cNvPr id="92" name="sus-summary-1-value">
            <a:extLst xmlns:a="http://schemas.openxmlformats.org/drawingml/2006/main">
              <a:ext uri="{FF2B5EF4-FFF2-40B4-BE49-F238E27FC236}">
                <a16:creationId xmlns:a16="http://schemas.microsoft.com/office/drawing/2014/main" id="{64EFB612-D8D1-43BD-872A-3BFC64744609}"/>
              </a:ext>
            </a:extLst>
          </p:cNvPr>
          <p:cNvSpPr>
            <a:spLocks xmlns:a="http://schemas.openxmlformats.org/drawingml/2006/main" noGrp="1"/>
          </p:cNvSpPr>
          <p:nvPr/>
        </p:nvSpPr>
        <p:spPr>
          <a:xfrm xmlns:a="http://schemas.openxmlformats.org/drawingml/2006/main">
            <a:off x="790575" y="1981200"/>
            <a:ext cx="156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100000"/>
          </a:bodyPr>
          <a:lstStyle xmlns:a="http://schemas.openxmlformats.org/drawingml/2006/main"/>
          <a:p xmlns:a="http://schemas.openxmlformats.org/drawingml/2006/main">
            <a:pPr algn="ctr">
              <a:buNone/>
              <a:defRPr sz="1500" b="1">
                <a:solidFill>
                  <a:srgbClr val="E83831"/>
                </a:solidFill>
                <a:latin typeface="Manrope"/>
                <a:ea typeface="Manrope"/>
                <a:cs typeface="Manrope"/>
              </a:defRPr>
            </a:pPr>
            <a:r>
              <a:rPr sz="1500" b="1">
                <a:solidFill>
                  <a:srgbClr val="E83831"/>
                </a:solidFill>
                <a:latin typeface="Manrope"/>
                <a:ea typeface="Manrope"/>
                <a:cs typeface="Manrope"/>
              </a:rPr>
              <a:t>11 → 10</a:t>
            </a:r>
          </a:p>
        </p:txBody>
      </p:sp>
      <p:sp>
        <p:nvSpPr>
          <p:cNvPr id="93" name="sus-summary-1-label">
            <a:extLst xmlns:a="http://schemas.openxmlformats.org/drawingml/2006/main">
              <a:ext uri="{FF2B5EF4-FFF2-40B4-BE49-F238E27FC236}">
                <a16:creationId xmlns:a16="http://schemas.microsoft.com/office/drawing/2014/main" id="{8D06DB16-5A76-491F-BD41-C9D2308C44C2}"/>
              </a:ext>
            </a:extLst>
          </p:cNvPr>
          <p:cNvSpPr>
            <a:spLocks xmlns:a="http://schemas.openxmlformats.org/drawingml/2006/main" noGrp="1"/>
          </p:cNvSpPr>
          <p:nvPr/>
        </p:nvSpPr>
        <p:spPr>
          <a:xfrm xmlns:a="http://schemas.openxmlformats.org/drawingml/2006/main">
            <a:off x="790575" y="2295525"/>
            <a:ext cx="15621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76389"/>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CONSENTED → COMPLETE</a:t>
            </a:r>
          </a:p>
        </p:txBody>
      </p:sp>
      <p:sp>
        <p:nvSpPr>
          <p:cNvPr id="94" name="sus-summary-2-surface">
            <a:extLst xmlns:a="http://schemas.openxmlformats.org/drawingml/2006/main">
              <a:ext uri="{FF2B5EF4-FFF2-40B4-BE49-F238E27FC236}">
                <a16:creationId xmlns:a16="http://schemas.microsoft.com/office/drawing/2014/main" id="{8FB1DBE5-7AE1-4EB5-B5F0-1C46DC202E13}"/>
              </a:ext>
            </a:extLst>
          </p:cNvPr>
          <p:cNvSpPr>
            <a:spLocks xmlns:a="http://schemas.openxmlformats.org/drawingml/2006/main" noGrp="1"/>
          </p:cNvSpPr>
          <p:nvPr/>
        </p:nvSpPr>
        <p:spPr>
          <a:xfrm xmlns:a="http://schemas.openxmlformats.org/drawingml/2006/main">
            <a:off x="2714625" y="1924050"/>
            <a:ext cx="1714500" cy="781050"/>
          </a:xfrm>
          <a:prstGeom xmlns:a="http://schemas.openxmlformats.org/drawingml/2006/main" prst="roundRect">
            <a:avLst>
              <a:gd name="adj" fmla="val 14634"/>
            </a:avLst>
          </a:prstGeom>
          <a:solidFill xmlns:a="http://schemas.openxmlformats.org/drawingml/2006/main">
            <a:srgbClr val="F5F7F8"/>
          </a:solidFill>
          <a:ln xmlns:a="http://schemas.openxmlformats.org/drawingml/2006/main" w="9525">
            <a:solidFill>
              <a:srgbClr val="C8D2D8"/>
            </a:solidFill>
            <a:prstDash val="solid"/>
          </a:ln>
        </p:spPr>
      </p:sp>
      <p:sp>
        <p:nvSpPr>
          <p:cNvPr id="95" name="sus-summary-2-value">
            <a:extLst xmlns:a="http://schemas.openxmlformats.org/drawingml/2006/main">
              <a:ext uri="{FF2B5EF4-FFF2-40B4-BE49-F238E27FC236}">
                <a16:creationId xmlns:a16="http://schemas.microsoft.com/office/drawing/2014/main" id="{397CD75B-FFE7-436C-A396-A9E4F5883F9D}"/>
              </a:ext>
            </a:extLst>
          </p:cNvPr>
          <p:cNvSpPr>
            <a:spLocks xmlns:a="http://schemas.openxmlformats.org/drawingml/2006/main" noGrp="1"/>
          </p:cNvSpPr>
          <p:nvPr/>
        </p:nvSpPr>
        <p:spPr>
          <a:xfrm xmlns:a="http://schemas.openxmlformats.org/drawingml/2006/main">
            <a:off x="2790825" y="1981200"/>
            <a:ext cx="156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94203"/>
          </a:bodyPr>
          <a:lstStyle xmlns:a="http://schemas.openxmlformats.org/drawingml/2006/main"/>
          <a:p xmlns:a="http://schemas.openxmlformats.org/drawingml/2006/main">
            <a:pPr algn="ctr">
              <a:buNone/>
              <a:defRPr sz="1725" b="1">
                <a:solidFill>
                  <a:srgbClr val="0B314F"/>
                </a:solidFill>
                <a:latin typeface="Manrope"/>
                <a:ea typeface="Manrope"/>
                <a:cs typeface="Manrope"/>
              </a:defRPr>
            </a:pPr>
            <a:r>
              <a:rPr sz="1725" b="1">
                <a:solidFill>
                  <a:srgbClr val="0B314F"/>
                </a:solidFill>
                <a:latin typeface="Manrope"/>
                <a:ea typeface="Manrope"/>
                <a:cs typeface="Manrope"/>
              </a:rPr>
              <a:t>5</a:t>
            </a:r>
          </a:p>
        </p:txBody>
      </p:sp>
      <p:sp>
        <p:nvSpPr>
          <p:cNvPr id="96" name="sus-summary-2-label">
            <a:extLst xmlns:a="http://schemas.openxmlformats.org/drawingml/2006/main">
              <a:ext uri="{FF2B5EF4-FFF2-40B4-BE49-F238E27FC236}">
                <a16:creationId xmlns:a16="http://schemas.microsoft.com/office/drawing/2014/main" id="{9BB358AC-FEC1-4D02-96F8-1067D8356875}"/>
              </a:ext>
            </a:extLst>
          </p:cNvPr>
          <p:cNvSpPr>
            <a:spLocks xmlns:a="http://schemas.openxmlformats.org/drawingml/2006/main" noGrp="1"/>
          </p:cNvSpPr>
          <p:nvPr/>
        </p:nvSpPr>
        <p:spPr>
          <a:xfrm xmlns:a="http://schemas.openxmlformats.org/drawingml/2006/main">
            <a:off x="2790825" y="2295525"/>
            <a:ext cx="15621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82125"/>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DEVOPS / DEVSECOPS</a:t>
            </a:r>
          </a:p>
        </p:txBody>
      </p:sp>
      <p:sp>
        <p:nvSpPr>
          <p:cNvPr id="97" name="sus-summary-3-surface">
            <a:extLst xmlns:a="http://schemas.openxmlformats.org/drawingml/2006/main">
              <a:ext uri="{FF2B5EF4-FFF2-40B4-BE49-F238E27FC236}">
                <a16:creationId xmlns:a16="http://schemas.microsoft.com/office/drawing/2014/main" id="{65B38059-99A2-4E65-A53B-0DF10CB59EDA}"/>
              </a:ext>
            </a:extLst>
          </p:cNvPr>
          <p:cNvSpPr>
            <a:spLocks xmlns:a="http://schemas.openxmlformats.org/drawingml/2006/main" noGrp="1"/>
          </p:cNvSpPr>
          <p:nvPr/>
        </p:nvSpPr>
        <p:spPr>
          <a:xfrm xmlns:a="http://schemas.openxmlformats.org/drawingml/2006/main">
            <a:off x="4714875" y="1924050"/>
            <a:ext cx="1714500" cy="781050"/>
          </a:xfrm>
          <a:prstGeom xmlns:a="http://schemas.openxmlformats.org/drawingml/2006/main" prst="roundRect">
            <a:avLst>
              <a:gd name="adj" fmla="val 14634"/>
            </a:avLst>
          </a:prstGeom>
          <a:solidFill xmlns:a="http://schemas.openxmlformats.org/drawingml/2006/main">
            <a:srgbClr val="F5F7F8"/>
          </a:solidFill>
          <a:ln xmlns:a="http://schemas.openxmlformats.org/drawingml/2006/main" w="9525">
            <a:solidFill>
              <a:srgbClr val="C8D2D8"/>
            </a:solidFill>
            <a:prstDash val="solid"/>
          </a:ln>
        </p:spPr>
      </p:sp>
      <p:sp>
        <p:nvSpPr>
          <p:cNvPr id="98" name="sus-summary-3-value">
            <a:extLst xmlns:a="http://schemas.openxmlformats.org/drawingml/2006/main">
              <a:ext uri="{FF2B5EF4-FFF2-40B4-BE49-F238E27FC236}">
                <a16:creationId xmlns:a16="http://schemas.microsoft.com/office/drawing/2014/main" id="{1E1DF160-603D-4B27-9FBA-AF820FE079DA}"/>
              </a:ext>
            </a:extLst>
          </p:cNvPr>
          <p:cNvSpPr>
            <a:spLocks xmlns:a="http://schemas.openxmlformats.org/drawingml/2006/main" noGrp="1"/>
          </p:cNvSpPr>
          <p:nvPr/>
        </p:nvSpPr>
        <p:spPr>
          <a:xfrm xmlns:a="http://schemas.openxmlformats.org/drawingml/2006/main">
            <a:off x="4791075" y="1981200"/>
            <a:ext cx="156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94203"/>
          </a:bodyPr>
          <a:lstStyle xmlns:a="http://schemas.openxmlformats.org/drawingml/2006/main"/>
          <a:p xmlns:a="http://schemas.openxmlformats.org/drawingml/2006/main">
            <a:pPr algn="ctr">
              <a:buNone/>
              <a:defRPr sz="1725" b="1">
                <a:solidFill>
                  <a:srgbClr val="0B314F"/>
                </a:solidFill>
                <a:latin typeface="Manrope"/>
                <a:ea typeface="Manrope"/>
                <a:cs typeface="Manrope"/>
              </a:defRPr>
            </a:pPr>
            <a:r>
              <a:rPr sz="1725" b="1">
                <a:solidFill>
                  <a:srgbClr val="0B314F"/>
                </a:solidFill>
                <a:latin typeface="Manrope"/>
                <a:ea typeface="Manrope"/>
                <a:cs typeface="Manrope"/>
              </a:rPr>
              <a:t>5</a:t>
            </a:r>
          </a:p>
        </p:txBody>
      </p:sp>
      <p:sp>
        <p:nvSpPr>
          <p:cNvPr id="99" name="sus-summary-3-label">
            <a:extLst xmlns:a="http://schemas.openxmlformats.org/drawingml/2006/main">
              <a:ext uri="{FF2B5EF4-FFF2-40B4-BE49-F238E27FC236}">
                <a16:creationId xmlns:a16="http://schemas.microsoft.com/office/drawing/2014/main" id="{6149EC01-C044-4FB1-9A1A-6CD4B155298B}"/>
              </a:ext>
            </a:extLst>
          </p:cNvPr>
          <p:cNvSpPr>
            <a:spLocks xmlns:a="http://schemas.openxmlformats.org/drawingml/2006/main" noGrp="1"/>
          </p:cNvSpPr>
          <p:nvPr/>
        </p:nvSpPr>
        <p:spPr>
          <a:xfrm xmlns:a="http://schemas.openxmlformats.org/drawingml/2006/main">
            <a:off x="4791075" y="2295525"/>
            <a:ext cx="15621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SRE</a:t>
            </a:r>
          </a:p>
        </p:txBody>
      </p:sp>
      <p:sp>
        <p:nvSpPr>
          <p:cNvPr id="100" name="sus-summary-4-surface">
            <a:extLst xmlns:a="http://schemas.openxmlformats.org/drawingml/2006/main">
              <a:ext uri="{FF2B5EF4-FFF2-40B4-BE49-F238E27FC236}">
                <a16:creationId xmlns:a16="http://schemas.microsoft.com/office/drawing/2014/main" id="{F16774C7-6DA0-4318-9064-D722E3B10CC8}"/>
              </a:ext>
            </a:extLst>
          </p:cNvPr>
          <p:cNvSpPr>
            <a:spLocks xmlns:a="http://schemas.openxmlformats.org/drawingml/2006/main" noGrp="1"/>
          </p:cNvSpPr>
          <p:nvPr/>
        </p:nvSpPr>
        <p:spPr>
          <a:xfrm xmlns:a="http://schemas.openxmlformats.org/drawingml/2006/main">
            <a:off x="6715125" y="1924050"/>
            <a:ext cx="1714500" cy="781050"/>
          </a:xfrm>
          <a:prstGeom xmlns:a="http://schemas.openxmlformats.org/drawingml/2006/main" prst="roundRect">
            <a:avLst>
              <a:gd name="adj" fmla="val 14634"/>
            </a:avLst>
          </a:prstGeom>
          <a:solidFill xmlns:a="http://schemas.openxmlformats.org/drawingml/2006/main">
            <a:srgbClr val="F5F7F8"/>
          </a:solidFill>
          <a:ln xmlns:a="http://schemas.openxmlformats.org/drawingml/2006/main" w="9525">
            <a:solidFill>
              <a:srgbClr val="C8D2D8"/>
            </a:solidFill>
            <a:prstDash val="solid"/>
          </a:ln>
        </p:spPr>
      </p:sp>
      <p:sp>
        <p:nvSpPr>
          <p:cNvPr id="101" name="sus-summary-4-value">
            <a:extLst xmlns:a="http://schemas.openxmlformats.org/drawingml/2006/main">
              <a:ext uri="{FF2B5EF4-FFF2-40B4-BE49-F238E27FC236}">
                <a16:creationId xmlns:a16="http://schemas.microsoft.com/office/drawing/2014/main" id="{810C058B-E760-4D83-9214-5B3F7D4051CB}"/>
              </a:ext>
            </a:extLst>
          </p:cNvPr>
          <p:cNvSpPr>
            <a:spLocks xmlns:a="http://schemas.openxmlformats.org/drawingml/2006/main" noGrp="1"/>
          </p:cNvSpPr>
          <p:nvPr/>
        </p:nvSpPr>
        <p:spPr>
          <a:xfrm xmlns:a="http://schemas.openxmlformats.org/drawingml/2006/main">
            <a:off x="6791325" y="1981200"/>
            <a:ext cx="156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ctr">
            <a:normAutofit fontScale="94203"/>
          </a:bodyPr>
          <a:lstStyle xmlns:a="http://schemas.openxmlformats.org/drawingml/2006/main"/>
          <a:p xmlns:a="http://schemas.openxmlformats.org/drawingml/2006/main">
            <a:pPr algn="ctr">
              <a:buNone/>
              <a:defRPr sz="1725" b="1">
                <a:solidFill>
                  <a:srgbClr val="0B314F"/>
                </a:solidFill>
                <a:latin typeface="Manrope"/>
                <a:ea typeface="Manrope"/>
                <a:cs typeface="Manrope"/>
              </a:defRPr>
            </a:pPr>
            <a:r>
              <a:rPr sz="1725" b="1">
                <a:solidFill>
                  <a:srgbClr val="0B314F"/>
                </a:solidFill>
                <a:latin typeface="Manrope"/>
                <a:ea typeface="Manrope"/>
                <a:cs typeface="Manrope"/>
              </a:rPr>
              <a:t>18.18</a:t>
            </a:r>
          </a:p>
        </p:txBody>
      </p:sp>
      <p:sp>
        <p:nvSpPr>
          <p:cNvPr id="102" name="sus-summary-4-label">
            <a:extLst xmlns:a="http://schemas.openxmlformats.org/drawingml/2006/main">
              <a:ext uri="{FF2B5EF4-FFF2-40B4-BE49-F238E27FC236}">
                <a16:creationId xmlns:a16="http://schemas.microsoft.com/office/drawing/2014/main" id="{2BA89EE9-386A-4FA8-8F2A-3F9DBDC6C20A}"/>
              </a:ext>
            </a:extLst>
          </p:cNvPr>
          <p:cNvSpPr>
            <a:spLocks xmlns:a="http://schemas.openxmlformats.org/drawingml/2006/main" noGrp="1"/>
          </p:cNvSpPr>
          <p:nvPr/>
        </p:nvSpPr>
        <p:spPr>
          <a:xfrm xmlns:a="http://schemas.openxmlformats.org/drawingml/2006/main">
            <a:off x="6791325" y="2295525"/>
            <a:ext cx="15621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81914"/>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STANDARD DEVIATION</a:t>
            </a:r>
          </a:p>
        </p:txBody>
      </p:sp>
      <p:sp>
        <p:nvSpPr>
          <p:cNvPr id="103" name="sus-scale-title">
            <a:extLst xmlns:a="http://schemas.openxmlformats.org/drawingml/2006/main">
              <a:ext uri="{FF2B5EF4-FFF2-40B4-BE49-F238E27FC236}">
                <a16:creationId xmlns:a16="http://schemas.microsoft.com/office/drawing/2014/main" id="{990088F5-B651-487A-81B2-316B9EEDF804}"/>
              </a:ext>
            </a:extLst>
          </p:cNvPr>
          <p:cNvSpPr>
            <a:spLocks xmlns:a="http://schemas.openxmlformats.org/drawingml/2006/main" noGrp="1"/>
          </p:cNvSpPr>
          <p:nvPr/>
        </p:nvSpPr>
        <p:spPr>
          <a:xfrm xmlns:a="http://schemas.openxmlformats.org/drawingml/2006/main">
            <a:off x="714375" y="2762250"/>
            <a:ext cx="771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500" b="1">
                <a:solidFill>
                  <a:srgbClr val="0B314F"/>
                </a:solidFill>
                <a:latin typeface="Manrope"/>
                <a:ea typeface="Manrope"/>
                <a:cs typeface="Manrope"/>
              </a:defRPr>
            </a:pPr>
            <a:r>
              <a:rPr sz="1500" b="1">
                <a:solidFill>
                  <a:srgbClr val="0B314F"/>
                </a:solidFill>
                <a:latin typeface="Manrope"/>
                <a:ea typeface="Manrope"/>
                <a:cs typeface="Manrope"/>
              </a:rPr>
              <a:t>System Usability Scale (0–100)</a:t>
            </a:r>
          </a:p>
        </p:txBody>
      </p:sp>
      <p:sp>
        <p:nvSpPr>
          <p:cNvPr id="104" name="sus-scale-track">
            <a:extLst xmlns:a="http://schemas.openxmlformats.org/drawingml/2006/main">
              <a:ext uri="{FF2B5EF4-FFF2-40B4-BE49-F238E27FC236}">
                <a16:creationId xmlns:a16="http://schemas.microsoft.com/office/drawing/2014/main" id="{CB551392-7931-45AC-BB7B-DE485A4F4230}"/>
              </a:ext>
            </a:extLst>
          </p:cNvPr>
          <p:cNvSpPr>
            <a:spLocks xmlns:a="http://schemas.openxmlformats.org/drawingml/2006/main" noGrp="1"/>
          </p:cNvSpPr>
          <p:nvPr/>
        </p:nvSpPr>
        <p:spPr>
          <a:xfrm xmlns:a="http://schemas.openxmlformats.org/drawingml/2006/main">
            <a:off x="1047750" y="3333750"/>
            <a:ext cx="6858000" cy="76200"/>
          </a:xfrm>
          <a:prstGeom xmlns:a="http://schemas.openxmlformats.org/drawingml/2006/main" prst="roundRect">
            <a:avLst>
              <a:gd name="adj" fmla="val 50000"/>
            </a:avLst>
          </a:prstGeom>
          <a:solidFill xmlns:a="http://schemas.openxmlformats.org/drawingml/2006/main">
            <a:srgbClr val="D7DEE2"/>
          </a:solidFill>
          <a:ln xmlns:a="http://schemas.openxmlformats.org/drawingml/2006/main" w="0">
            <a:solidFill>
              <a:srgbClr val="D7DEE2"/>
            </a:solidFill>
            <a:prstDash val="solid"/>
          </a:ln>
        </p:spPr>
      </p:sp>
      <p:sp>
        <p:nvSpPr>
          <p:cNvPr id="105" name="sus-range">
            <a:extLst xmlns:a="http://schemas.openxmlformats.org/drawingml/2006/main">
              <a:ext uri="{FF2B5EF4-FFF2-40B4-BE49-F238E27FC236}">
                <a16:creationId xmlns:a16="http://schemas.microsoft.com/office/drawing/2014/main" id="{BEAAC5B0-C1E2-4C9F-AE5E-2AE17871B3CF}"/>
              </a:ext>
            </a:extLst>
          </p:cNvPr>
          <p:cNvSpPr>
            <a:spLocks xmlns:a="http://schemas.openxmlformats.org/drawingml/2006/main" noGrp="1"/>
          </p:cNvSpPr>
          <p:nvPr/>
        </p:nvSpPr>
        <p:spPr>
          <a:xfrm xmlns:a="http://schemas.openxmlformats.org/drawingml/2006/main">
            <a:off x="3790950" y="3305175"/>
            <a:ext cx="3943350" cy="133350"/>
          </a:xfrm>
          <a:prstGeom xmlns:a="http://schemas.openxmlformats.org/drawingml/2006/main" prst="roundRect">
            <a:avLst>
              <a:gd name="adj" fmla="val 50000"/>
            </a:avLst>
          </a:prstGeom>
          <a:solidFill xmlns:a="http://schemas.openxmlformats.org/drawingml/2006/main">
            <a:srgbClr val="C0A282"/>
          </a:solidFill>
          <a:ln xmlns:a="http://schemas.openxmlformats.org/drawingml/2006/main" w="0">
            <a:solidFill>
              <a:srgbClr val="C0A282"/>
            </a:solidFill>
            <a:prstDash val="solid"/>
          </a:ln>
        </p:spPr>
      </p:sp>
      <p:sp>
        <p:nvSpPr>
          <p:cNvPr id="106" name="sus-mean-marker">
            <a:extLst xmlns:a="http://schemas.openxmlformats.org/drawingml/2006/main">
              <a:ext uri="{FF2B5EF4-FFF2-40B4-BE49-F238E27FC236}">
                <a16:creationId xmlns:a16="http://schemas.microsoft.com/office/drawing/2014/main" id="{D2F04FEC-79D0-46FE-A1A0-756C2138E5E9}"/>
              </a:ext>
            </a:extLst>
          </p:cNvPr>
          <p:cNvSpPr>
            <a:spLocks xmlns:a="http://schemas.openxmlformats.org/drawingml/2006/main" noGrp="1"/>
          </p:cNvSpPr>
          <p:nvPr/>
        </p:nvSpPr>
        <p:spPr>
          <a:xfrm xmlns:a="http://schemas.openxmlformats.org/drawingml/2006/main">
            <a:off x="6482715" y="3219450"/>
            <a:ext cx="0" cy="314325"/>
          </a:xfrm>
          <a:prstGeom xmlns:a="http://schemas.openxmlformats.org/drawingml/2006/main" prst="line">
            <a:avLst/>
          </a:prstGeom>
          <a:noFill xmlns:a="http://schemas.openxmlformats.org/drawingml/2006/main"/>
          <a:ln xmlns:a="http://schemas.openxmlformats.org/drawingml/2006/main" w="28575">
            <a:solidFill>
              <a:srgbClr val="E83831"/>
            </a:solidFill>
            <a:prstDash val="solid"/>
          </a:ln>
        </p:spPr>
      </p:sp>
      <p:sp>
        <p:nvSpPr>
          <p:cNvPr id="107" name="sus-mean-label">
            <a:extLst xmlns:a="http://schemas.openxmlformats.org/drawingml/2006/main">
              <a:ext uri="{FF2B5EF4-FFF2-40B4-BE49-F238E27FC236}">
                <a16:creationId xmlns:a16="http://schemas.microsoft.com/office/drawing/2014/main" id="{6AF18212-AC04-45EE-897C-9965FDD9CDA2}"/>
              </a:ext>
            </a:extLst>
          </p:cNvPr>
          <p:cNvSpPr>
            <a:spLocks xmlns:a="http://schemas.openxmlformats.org/drawingml/2006/main" noGrp="1"/>
          </p:cNvSpPr>
          <p:nvPr/>
        </p:nvSpPr>
        <p:spPr>
          <a:xfrm xmlns:a="http://schemas.openxmlformats.org/drawingml/2006/main">
            <a:off x="5930265" y="30289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350" b="1">
                <a:solidFill>
                  <a:srgbClr val="E83831"/>
                </a:solidFill>
                <a:latin typeface="Manrope"/>
                <a:ea typeface="Manrope"/>
                <a:cs typeface="Manrope"/>
              </a:defRPr>
            </a:pPr>
            <a:r>
              <a:rPr sz="1350" b="1">
                <a:solidFill>
                  <a:srgbClr val="E83831"/>
                </a:solidFill>
                <a:latin typeface="Manrope"/>
                <a:ea typeface="Manrope"/>
                <a:cs typeface="Manrope"/>
              </a:rPr>
              <a:t>Mean 79.25</a:t>
            </a:r>
          </a:p>
        </p:txBody>
      </p:sp>
      <p:sp>
        <p:nvSpPr>
          <p:cNvPr id="108" name="sus-median-marker">
            <a:extLst xmlns:a="http://schemas.openxmlformats.org/drawingml/2006/main">
              <a:ext uri="{FF2B5EF4-FFF2-40B4-BE49-F238E27FC236}">
                <a16:creationId xmlns:a16="http://schemas.microsoft.com/office/drawing/2014/main" id="{870E1583-4FB9-44FC-9A5C-E5255D68A079}"/>
              </a:ext>
            </a:extLst>
          </p:cNvPr>
          <p:cNvSpPr>
            <a:spLocks xmlns:a="http://schemas.openxmlformats.org/drawingml/2006/main" noGrp="1"/>
          </p:cNvSpPr>
          <p:nvPr/>
        </p:nvSpPr>
        <p:spPr>
          <a:xfrm xmlns:a="http://schemas.openxmlformats.org/drawingml/2006/main">
            <a:off x="6791325" y="3219450"/>
            <a:ext cx="0" cy="314325"/>
          </a:xfrm>
          <a:prstGeom xmlns:a="http://schemas.openxmlformats.org/drawingml/2006/main" prst="line">
            <a:avLst/>
          </a:prstGeom>
          <a:noFill xmlns:a="http://schemas.openxmlformats.org/drawingml/2006/main"/>
          <a:ln xmlns:a="http://schemas.openxmlformats.org/drawingml/2006/main" w="28575">
            <a:solidFill>
              <a:srgbClr val="0B314F"/>
            </a:solidFill>
            <a:prstDash val="solid"/>
          </a:ln>
        </p:spPr>
      </p:sp>
      <p:sp>
        <p:nvSpPr>
          <p:cNvPr id="109" name="sus-median-label">
            <a:extLst xmlns:a="http://schemas.openxmlformats.org/drawingml/2006/main">
              <a:ext uri="{FF2B5EF4-FFF2-40B4-BE49-F238E27FC236}">
                <a16:creationId xmlns:a16="http://schemas.microsoft.com/office/drawing/2014/main" id="{8C5F7B9A-D64F-42BC-B9B6-3A66724F0799}"/>
              </a:ext>
            </a:extLst>
          </p:cNvPr>
          <p:cNvSpPr>
            <a:spLocks xmlns:a="http://schemas.openxmlformats.org/drawingml/2006/main" noGrp="1"/>
          </p:cNvSpPr>
          <p:nvPr/>
        </p:nvSpPr>
        <p:spPr>
          <a:xfrm xmlns:a="http://schemas.openxmlformats.org/drawingml/2006/main">
            <a:off x="6238875" y="35242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95942"/>
          </a:bodyPr>
          <a:lstStyle xmlns:a="http://schemas.openxmlformats.org/drawingml/2006/main"/>
          <a:p xmlns:a="http://schemas.openxmlformats.org/drawingml/2006/main">
            <a:pPr algn="ctr">
              <a:buNone/>
              <a:defRPr sz="1350" b="1">
                <a:solidFill>
                  <a:srgbClr val="0B314F"/>
                </a:solidFill>
                <a:latin typeface="Manrope"/>
                <a:ea typeface="Manrope"/>
                <a:cs typeface="Manrope"/>
              </a:defRPr>
            </a:pPr>
            <a:r>
              <a:rPr sz="1350" b="1">
                <a:solidFill>
                  <a:srgbClr val="0B314F"/>
                </a:solidFill>
                <a:latin typeface="Manrope"/>
                <a:ea typeface="Manrope"/>
                <a:cs typeface="Manrope"/>
              </a:rPr>
              <a:t>Median 83.75</a:t>
            </a:r>
          </a:p>
        </p:txBody>
      </p:sp>
      <p:sp>
        <p:nvSpPr>
          <p:cNvPr id="110" name="sus-tick-1">
            <a:extLst xmlns:a="http://schemas.openxmlformats.org/drawingml/2006/main">
              <a:ext uri="{FF2B5EF4-FFF2-40B4-BE49-F238E27FC236}">
                <a16:creationId xmlns:a16="http://schemas.microsoft.com/office/drawing/2014/main" id="{3D1F6E40-6196-4B12-A4F5-AE4244BC709B}"/>
              </a:ext>
            </a:extLst>
          </p:cNvPr>
          <p:cNvSpPr>
            <a:spLocks xmlns:a="http://schemas.openxmlformats.org/drawingml/2006/main" noGrp="1"/>
          </p:cNvSpPr>
          <p:nvPr/>
        </p:nvSpPr>
        <p:spPr>
          <a:xfrm xmlns:a="http://schemas.openxmlformats.org/drawingml/2006/main">
            <a:off x="1047750" y="3286125"/>
            <a:ext cx="0" cy="171450"/>
          </a:xfrm>
          <a:prstGeom xmlns:a="http://schemas.openxmlformats.org/drawingml/2006/main" prst="line">
            <a:avLst/>
          </a:prstGeom>
          <a:noFill xmlns:a="http://schemas.openxmlformats.org/drawingml/2006/main"/>
          <a:ln xmlns:a="http://schemas.openxmlformats.org/drawingml/2006/main" w="9525">
            <a:solidFill>
              <a:srgbClr val="718796"/>
            </a:solidFill>
            <a:prstDash val="solid"/>
          </a:ln>
        </p:spPr>
      </p:sp>
      <p:sp>
        <p:nvSpPr>
          <p:cNvPr id="111" name="sus-tick-label-1">
            <a:extLst xmlns:a="http://schemas.openxmlformats.org/drawingml/2006/main">
              <a:ext uri="{FF2B5EF4-FFF2-40B4-BE49-F238E27FC236}">
                <a16:creationId xmlns:a16="http://schemas.microsoft.com/office/drawing/2014/main" id="{119C3426-622F-4FAD-A144-9BE8E4E874D4}"/>
              </a:ext>
            </a:extLst>
          </p:cNvPr>
          <p:cNvSpPr>
            <a:spLocks xmlns:a="http://schemas.openxmlformats.org/drawingml/2006/main" noGrp="1"/>
          </p:cNvSpPr>
          <p:nvPr/>
        </p:nvSpPr>
        <p:spPr>
          <a:xfrm xmlns:a="http://schemas.openxmlformats.org/drawingml/2006/main">
            <a:off x="685800" y="343852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200">
                <a:solidFill>
                  <a:srgbClr val="456477"/>
                </a:solidFill>
                <a:latin typeface="Manrope"/>
                <a:ea typeface="Manrope"/>
                <a:cs typeface="Manrope"/>
              </a:defRPr>
            </a:pPr>
            <a:r>
              <a:rPr sz="1200">
                <a:solidFill>
                  <a:srgbClr val="456477"/>
                </a:solidFill>
                <a:latin typeface="Manrope"/>
                <a:ea typeface="Manrope"/>
                <a:cs typeface="Manrope"/>
              </a:rPr>
              <a:t>0</a:t>
            </a:r>
          </a:p>
        </p:txBody>
      </p:sp>
      <p:sp>
        <p:nvSpPr>
          <p:cNvPr id="112" name="sus-tick-2">
            <a:extLst xmlns:a="http://schemas.openxmlformats.org/drawingml/2006/main">
              <a:ext uri="{FF2B5EF4-FFF2-40B4-BE49-F238E27FC236}">
                <a16:creationId xmlns:a16="http://schemas.microsoft.com/office/drawing/2014/main" id="{5DFB2A14-501B-4B28-B503-718A04003437}"/>
              </a:ext>
            </a:extLst>
          </p:cNvPr>
          <p:cNvSpPr>
            <a:spLocks xmlns:a="http://schemas.openxmlformats.org/drawingml/2006/main" noGrp="1"/>
          </p:cNvSpPr>
          <p:nvPr/>
        </p:nvSpPr>
        <p:spPr>
          <a:xfrm xmlns:a="http://schemas.openxmlformats.org/drawingml/2006/main">
            <a:off x="4476750" y="3286125"/>
            <a:ext cx="0" cy="171450"/>
          </a:xfrm>
          <a:prstGeom xmlns:a="http://schemas.openxmlformats.org/drawingml/2006/main" prst="line">
            <a:avLst/>
          </a:prstGeom>
          <a:noFill xmlns:a="http://schemas.openxmlformats.org/drawingml/2006/main"/>
          <a:ln xmlns:a="http://schemas.openxmlformats.org/drawingml/2006/main" w="9525">
            <a:solidFill>
              <a:srgbClr val="718796"/>
            </a:solidFill>
            <a:prstDash val="solid"/>
          </a:ln>
        </p:spPr>
      </p:sp>
      <p:sp>
        <p:nvSpPr>
          <p:cNvPr id="113" name="sus-tick-label-2">
            <a:extLst xmlns:a="http://schemas.openxmlformats.org/drawingml/2006/main">
              <a:ext uri="{FF2B5EF4-FFF2-40B4-BE49-F238E27FC236}">
                <a16:creationId xmlns:a16="http://schemas.microsoft.com/office/drawing/2014/main" id="{6F61C6A6-8354-4276-888B-76FD786D1121}"/>
              </a:ext>
            </a:extLst>
          </p:cNvPr>
          <p:cNvSpPr>
            <a:spLocks xmlns:a="http://schemas.openxmlformats.org/drawingml/2006/main" noGrp="1"/>
          </p:cNvSpPr>
          <p:nvPr/>
        </p:nvSpPr>
        <p:spPr>
          <a:xfrm xmlns:a="http://schemas.openxmlformats.org/drawingml/2006/main">
            <a:off x="4114800" y="343852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200">
                <a:solidFill>
                  <a:srgbClr val="456477"/>
                </a:solidFill>
                <a:latin typeface="Manrope"/>
                <a:ea typeface="Manrope"/>
                <a:cs typeface="Manrope"/>
              </a:defRPr>
            </a:pPr>
            <a:r>
              <a:rPr sz="1200">
                <a:solidFill>
                  <a:srgbClr val="456477"/>
                </a:solidFill>
                <a:latin typeface="Manrope"/>
                <a:ea typeface="Manrope"/>
                <a:cs typeface="Manrope"/>
              </a:rPr>
              <a:t>50</a:t>
            </a:r>
          </a:p>
        </p:txBody>
      </p:sp>
      <p:sp>
        <p:nvSpPr>
          <p:cNvPr id="114" name="sus-tick-3">
            <a:extLst xmlns:a="http://schemas.openxmlformats.org/drawingml/2006/main">
              <a:ext uri="{FF2B5EF4-FFF2-40B4-BE49-F238E27FC236}">
                <a16:creationId xmlns:a16="http://schemas.microsoft.com/office/drawing/2014/main" id="{DF08028D-07D7-4913-BB3A-6B1F93B9B9A3}"/>
              </a:ext>
            </a:extLst>
          </p:cNvPr>
          <p:cNvSpPr>
            <a:spLocks xmlns:a="http://schemas.openxmlformats.org/drawingml/2006/main" noGrp="1"/>
          </p:cNvSpPr>
          <p:nvPr/>
        </p:nvSpPr>
        <p:spPr>
          <a:xfrm xmlns:a="http://schemas.openxmlformats.org/drawingml/2006/main">
            <a:off x="7905750" y="3286125"/>
            <a:ext cx="0" cy="171450"/>
          </a:xfrm>
          <a:prstGeom xmlns:a="http://schemas.openxmlformats.org/drawingml/2006/main" prst="line">
            <a:avLst/>
          </a:prstGeom>
          <a:noFill xmlns:a="http://schemas.openxmlformats.org/drawingml/2006/main"/>
          <a:ln xmlns:a="http://schemas.openxmlformats.org/drawingml/2006/main" w="9525">
            <a:solidFill>
              <a:srgbClr val="718796"/>
            </a:solidFill>
            <a:prstDash val="solid"/>
          </a:ln>
        </p:spPr>
      </p:sp>
      <p:sp>
        <p:nvSpPr>
          <p:cNvPr id="115" name="sus-tick-label-3">
            <a:extLst xmlns:a="http://schemas.openxmlformats.org/drawingml/2006/main">
              <a:ext uri="{FF2B5EF4-FFF2-40B4-BE49-F238E27FC236}">
                <a16:creationId xmlns:a16="http://schemas.microsoft.com/office/drawing/2014/main" id="{CD583EFA-F691-4B7C-A309-80A8DAC455DF}"/>
              </a:ext>
            </a:extLst>
          </p:cNvPr>
          <p:cNvSpPr>
            <a:spLocks xmlns:a="http://schemas.openxmlformats.org/drawingml/2006/main" noGrp="1"/>
          </p:cNvSpPr>
          <p:nvPr/>
        </p:nvSpPr>
        <p:spPr>
          <a:xfrm xmlns:a="http://schemas.openxmlformats.org/drawingml/2006/main">
            <a:off x="7543800" y="3438525"/>
            <a:ext cx="723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28575" rIns="28575" bIns="28575" anchor="t">
            <a:normAutofit fontScale="100000"/>
          </a:bodyPr>
          <a:lstStyle xmlns:a="http://schemas.openxmlformats.org/drawingml/2006/main"/>
          <a:p xmlns:a="http://schemas.openxmlformats.org/drawingml/2006/main">
            <a:pPr algn="ctr">
              <a:buNone/>
              <a:defRPr sz="1200">
                <a:solidFill>
                  <a:srgbClr val="456477"/>
                </a:solidFill>
                <a:latin typeface="Manrope"/>
                <a:ea typeface="Manrope"/>
                <a:cs typeface="Manrope"/>
              </a:defRPr>
            </a:pPr>
            <a:r>
              <a:rPr sz="1200">
                <a:solidFill>
                  <a:srgbClr val="456477"/>
                </a:solidFill>
                <a:latin typeface="Manrope"/>
                <a:ea typeface="Manrope"/>
                <a:cs typeface="Manrope"/>
              </a:rPr>
              <a:t>100</a:t>
            </a:r>
          </a:p>
        </p:txBody>
      </p:sp>
    </p:spTree>
    <p:extLst>
      <p:ext uri="{BB962C8B-B14F-4D97-AF65-F5344CB8AC3E}">
        <p14:creationId xmlns:p14="http://schemas.microsoft.com/office/powerpoint/2010/main" val="370354749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g3ba14ccda94_0_28">
            <a:extLst xmlns:a="http://schemas.openxmlformats.org/drawingml/2006/main">
              <a:ext uri="{FF2B5EF4-FFF2-40B4-BE49-F238E27FC236}">
                <a16:creationId xmlns:a16="http://schemas.microsoft.com/office/drawing/2014/main" id="{011733BF-9D57-8F93-7EC5-33BE5C94D7BB}"/>
              </a:ext>
            </a:extLst>
          </p:cNvPr>
          <p:cNvSpPr>
            <a:spLocks xmlns:a="http://schemas.openxmlformats.org/drawingml/2006/main" noGrp="1"/>
          </p:cNvSpPr>
          <p:nvPr/>
        </p:nvSpPr>
        <p:spPr>
          <a:xfrm xmlns:a="http://schemas.openxmlformats.org/drawingml/2006/main">
            <a:off x="-285750" y="-152400"/>
            <a:ext cx="9440850" cy="5305748"/>
          </a:xfrm>
          <a:prstGeom xmlns:a="http://schemas.openxmlformats.org/drawingml/2006/main" prst="rect">
            <a:avLst/>
          </a:prstGeom>
          <a:solidFill xmlns:a="http://schemas.openxmlformats.org/drawingml/2006/main">
            <a:srgbClr val="09314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endParaRPr/>
          </a:p>
        </p:txBody>
      </p:sp>
      <p:sp>
        <p:nvSpPr>
          <p:cNvPr id="88" name="Google Shape;88;g3ba14ccda94_0_28">
            <a:extLst xmlns:a="http://schemas.openxmlformats.org/drawingml/2006/main">
              <a:ext uri="{FF2B5EF4-FFF2-40B4-BE49-F238E27FC236}">
                <a16:creationId xmlns:a16="http://schemas.microsoft.com/office/drawing/2014/main" id="{C4856BF4-18B4-81C6-0AA5-4D627563A723}"/>
              </a:ext>
            </a:extLst>
          </p:cNvPr>
          <p:cNvSpPr>
            <a:spLocks xmlns:a="http://schemas.openxmlformats.org/drawingml/2006/main" noGrp="1"/>
          </p:cNvSpPr>
          <p:nvPr/>
        </p:nvSpPr>
        <p:spPr>
          <a:xfrm xmlns:a="http://schemas.openxmlformats.org/drawingml/2006/main">
            <a:off x="585574" y="942125"/>
            <a:ext cx="6572250" cy="5385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00"/>
              <a:buFont typeface="Arial"/>
              <a:buNone/>
              <a:defRPr sz="2850" b="1">
                <a:solidFill>
                  <a:srgbClr val="C0A282"/>
                </a:solidFill>
                <a:latin typeface="Afacad Flux"/>
                <a:ea typeface="Afacad Flux"/>
                <a:cs typeface="Afacad Flux"/>
              </a:defRPr>
            </a:pPr>
            <a:r>
              <a:rPr sz="2850" b="1" i="0" u="none" cap="none">
                <a:solidFill>
                  <a:srgbClr val="C0A282"/>
                </a:solidFill>
                <a:latin typeface="Afacad Flux"/>
                <a:ea typeface="Afacad Flux"/>
                <a:cs typeface="Afacad Flux"/>
              </a:rPr>
              <a:t>Selected APA 7 references (2020–2024)</a:t>
            </a:r>
            <a:endParaRPr sz="2300" b="1" i="0" u="none" cap="none">
              <a:solidFill>
                <a:srgbClr val="C0A282"/>
              </a:solidFill>
              <a:latin typeface="Afacad Flux"/>
              <a:ea typeface="Afacad Flux"/>
              <a:cs typeface="Afacad Flux"/>
            </a:endParaRPr>
          </a:p>
        </p:txBody>
      </p:sp>
      <p:sp>
        <p:nvSpPr>
          <p:cNvPr id="89" name="Google Shape;89;g3ba14ccda94_0_28">
            <a:extLst xmlns:a="http://schemas.openxmlformats.org/drawingml/2006/main">
              <a:ext uri="{FF2B5EF4-FFF2-40B4-BE49-F238E27FC236}">
                <a16:creationId xmlns:a16="http://schemas.microsoft.com/office/drawing/2014/main" id="{2F88F4C8-49DA-2E5E-D406-6242B1DBC356}"/>
              </a:ext>
            </a:extLst>
          </p:cNvPr>
          <p:cNvSpPr>
            <a:spLocks xmlns:a="http://schemas.openxmlformats.org/drawingml/2006/main" noGrp="1"/>
          </p:cNvSpPr>
          <p:nvPr/>
        </p:nvSpPr>
        <p:spPr>
          <a:xfrm xmlns:a="http://schemas.openxmlformats.org/drawingml/2006/main">
            <a:off x="617675" y="1881275"/>
            <a:ext cx="8214826" cy="2952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rmAutofit fontScale="86997"/>
          </a:bodyPr>
          <a:lstStyle xmlns:a="http://schemas.openxmlformats.org/drawingml/2006/main"/>
          <a:p xmlns:a="http://schemas.openxmlformats.org/drawingml/2006/main">
            <a:pPr lvl="0" algn="l">
              <a:lnSpc>
                <a:spcPct val="115000"/>
              </a:lnSpc>
              <a:buSzPts val="1200"/>
              <a:buNone/>
              <a:defRPr sz="1350">
                <a:solidFill>
                  <a:srgbClr val="FFFFFF"/>
                </a:solidFill>
                <a:latin typeface="Manrope"/>
                <a:ea typeface="Manrope"/>
                <a:cs typeface="Manrope"/>
              </a:defRPr>
            </a:pPr>
            <a:r>
              <a:rPr sz="1350" b="0" i="0" u="none" cap="none">
                <a:solidFill>
                  <a:srgbClr val="FFFFFF"/>
                </a:solidFill>
                <a:latin typeface="Manrope"/>
                <a:ea typeface="Manrope"/>
                <a:cs typeface="Manrope"/>
              </a:rPr>
              <a:t>Ahmed, T., Ghosh, S., Bansal, C., Zimmermann, T., Zhang, X., &amp; Rajmohan, S. (2023). Recommending root-cause and mitigation steps for cloud incidents using large language models. In 2023 IEEE/ACM ICSE (pp. 1737–1749). IEEE. https://doi.org/10.1109/ICSE48619.2023.00149</a:t>
            </a:r>
          </a:p>
          <a:p xmlns:a="http://schemas.openxmlformats.org/drawingml/2006/main">
            <a:pPr lvl="0" algn="l">
              <a:lnSpc>
                <a:spcPct val="115000"/>
              </a:lnSpc>
              <a:buSzPts val="1200"/>
              <a:buNone/>
              <a:defRPr sz="1350">
                <a:solidFill>
                  <a:srgbClr val="FFFFFF"/>
                </a:solidFill>
                <a:latin typeface="Manrope"/>
                <a:ea typeface="Manrope"/>
                <a:cs typeface="Manrope"/>
              </a:defRPr>
            </a:pPr>
            <a:r>
              <a:rPr sz="1350" b="0" i="0" u="none" cap="none">
                <a:solidFill>
                  <a:srgbClr val="FFFFFF"/>
                </a:solidFill>
                <a:latin typeface="Manrope"/>
                <a:ea typeface="Manrope"/>
                <a:cs typeface="Manrope"/>
              </a:rPr>
              <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350">
                <a:solidFill>
                  <a:srgbClr val="FFFFFF"/>
                </a:solidFill>
                <a:latin typeface="Manrope"/>
                <a:ea typeface="Manrope"/>
                <a:cs typeface="Manrope"/>
              </a:defRPr>
            </a:pPr>
            <a:r>
              <a:rPr sz="1350" b="0" i="0" u="none" cap="none">
                <a:solidFill>
                  <a:srgbClr val="FFFFFF"/>
                </a:solidFill>
                <a:latin typeface="Manrope"/>
                <a:ea typeface="Manrope"/>
                <a:cs typeface="Manrope"/>
              </a:rPr>
              <a:t>Mäntymäki, M., Minkkinen, M., Birkstedt, T., &amp; Viljanen, M. (2022). Defining organizational AI governance. AI and Ethics, 2(4), 603–609. https://doi.org/10.1007/s43681-022-00143-x</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350">
                <a:solidFill>
                  <a:srgbClr val="FFFFFF"/>
                </a:solidFill>
                <a:latin typeface="Manrope"/>
                <a:ea typeface="Manrope"/>
                <a:cs typeface="Manrope"/>
              </a:defRPr>
            </a:pPr>
            <a:r>
              <a:rPr sz="1350" b="0" i="0" u="none" cap="none">
                <a:solidFill>
                  <a:srgbClr val="FFFFFF"/>
                </a:solidFill>
                <a:latin typeface="Manrope"/>
                <a:ea typeface="Manrope"/>
                <a:cs typeface="Manrope"/>
              </a:rPr>
              <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350">
                <a:solidFill>
                  <a:srgbClr val="FFFFFF"/>
                </a:solidFill>
                <a:latin typeface="Manrope"/>
                <a:ea typeface="Manrope"/>
                <a:cs typeface="Manrope"/>
              </a:defRPr>
            </a:pPr>
            <a:r>
              <a:rPr sz="1350" b="0" i="0" u="none" cap="none">
                <a:solidFill>
                  <a:srgbClr val="FFFFFF"/>
                </a:solidFill>
                <a:latin typeface="Manrope"/>
                <a:ea typeface="Manrope"/>
                <a:cs typeface="Manrope"/>
              </a:rPr>
              <a:t>Morley, J., Floridi, L., Kinsey, L., &amp; Elhalal, A. (2020). From what to how: An initial review of publicly available AI ethics tools, methods and research to translate principles into practices. Science and Engineering Ethics, 26(4), 2141–2168. https://doi.org/10.1007/s11948-019-00165-5</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350">
                <a:solidFill>
                  <a:srgbClr val="FFFFFF"/>
                </a:solidFill>
                <a:latin typeface="Manrope"/>
                <a:ea typeface="Manrope"/>
                <a:cs typeface="Manrope"/>
              </a:defRPr>
            </a:pPr>
            <a:r>
              <a:rPr sz="1350" b="0" i="0" u="none" cap="none">
                <a:solidFill>
                  <a:srgbClr val="FFFFFF"/>
                </a:solidFill>
                <a:latin typeface="Manrope"/>
                <a:ea typeface="Manrope"/>
                <a:cs typeface="Manrope"/>
              </a:rPr>
              <a:t/>
            </a:r>
            <a:endParaRPr sz="1200" b="0" i="0" u="none" cap="none">
              <a:solidFill>
                <a:schemeClr val="lt1"/>
              </a:solidFill>
              <a:latin typeface="Manrope"/>
              <a:ea typeface="Manrope"/>
              <a:cs typeface="Manrope"/>
            </a:endParaRPr>
          </a:p>
          <a:p xmlns:a="http://schemas.openxmlformats.org/drawingml/2006/main">
            <a:pPr lvl="0" algn="l">
              <a:lnSpc>
                <a:spcPct val="115000"/>
              </a:lnSpc>
              <a:buSzPts val="1200"/>
              <a:buNone/>
              <a:defRPr sz="1350">
                <a:solidFill>
                  <a:srgbClr val="FFFFFF"/>
                </a:solidFill>
                <a:latin typeface="Manrope"/>
                <a:ea typeface="Manrope"/>
                <a:cs typeface="Manrope"/>
              </a:defRPr>
            </a:pPr>
            <a:r>
              <a:rPr sz="1350" b="0" i="0" u="none" cap="none">
                <a:solidFill>
                  <a:srgbClr val="FFFFFF"/>
                </a:solidFill>
                <a:latin typeface="Manrope"/>
                <a:ea typeface="Manrope"/>
                <a:cs typeface="Manrope"/>
              </a:rPr>
              <a:t>National Institute of Standards and Technology. (2024). Artificial intelligence risk management framework: Generative artificial intelligence profile (NIST AI 600-1). U.S. Department of Commerce. https://doi.org/10.6028/NIST.AI.600-1</a:t>
            </a:r>
            <a:endParaRPr sz="1200" b="0" i="0" u="none" cap="none">
              <a:solidFill>
                <a:schemeClr val="lt1"/>
              </a:solidFill>
              <a:latin typeface="Manrope"/>
              <a:ea typeface="Manrope"/>
              <a:cs typeface="Manrope"/>
            </a:endParaRPr>
          </a:p>
        </p:txBody>
      </p:sp>
      <p:cxnSp>
        <p:nvCxnSpPr>
          <p:cNvPr id="117" name="Google Shape;91;g3ba14ccda94_0_28"/>
          <p:cNvCxnSpPr/>
          <p:nvPr/>
        </p:nvCxnSpPr>
        <p:spPr>
          <a:xfrm xmlns:a="http://schemas.openxmlformats.org/drawingml/2006/main">
            <a:off x="583800" y="685500"/>
            <a:ext cx="6114600" cy="0"/>
          </a:xfrm>
          <a:prstGeom xmlns:a="http://schemas.openxmlformats.org/drawingml/2006/main" prst="straightConnector1">
            <a:avLst/>
          </a:prstGeom>
          <a:ln xmlns:a="http://schemas.openxmlformats.org/drawingml/2006/main" w="9525" cap="flat">
            <a:solidFill>
              <a:srgbClr val="E83831"/>
            </a:solidFill>
            <a:prstDash val="solid"/>
            <a:round/>
            <a:headEnd type="none" w="med" len="med"/>
            <a:tailEnd type="none" w="med" len="med"/>
          </a:ln>
        </p:spPr>
      </p:cxnSp>
      <p:sp>
        <p:nvSpPr>
          <p:cNvPr id="92" name="Google Shape;92;g3ba14ccda94_0_28">
            <a:extLst xmlns:a="http://schemas.openxmlformats.org/drawingml/2006/main">
              <a:ext uri="{FF2B5EF4-FFF2-40B4-BE49-F238E27FC236}">
                <a16:creationId xmlns:a16="http://schemas.microsoft.com/office/drawing/2014/main" id="{269058DF-CFFD-890D-335C-0280F997CC71}"/>
              </a:ext>
            </a:extLst>
          </p:cNvPr>
          <p:cNvSpPr>
            <a:spLocks xmlns:a="http://schemas.openxmlformats.org/drawingml/2006/main" noGrp="1"/>
          </p:cNvSpPr>
          <p:nvPr/>
        </p:nvSpPr>
        <p:spPr>
          <a:xfrm xmlns:a="http://schemas.openxmlformats.org/drawingml/2006/main">
            <a:off x="594524" y="349855"/>
            <a:ext cx="1254373" cy="3385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defRPr sz="1200" b="1">
                <a:solidFill>
                  <a:srgbClr val="FFFFFF"/>
                </a:solidFill>
                <a:latin typeface="Afacad Flux"/>
                <a:ea typeface="Afacad Flux"/>
                <a:cs typeface="Afacad Flux"/>
              </a:defRPr>
            </a:pPr>
            <a:r>
              <a:rPr sz="1200" b="1">
                <a:solidFill>
                  <a:srgbClr val="FFFFFF"/>
                </a:solidFill>
                <a:latin typeface="Afacad Flux"/>
                <a:ea typeface="Afacad Flux"/>
                <a:cs typeface="Afacad Flux"/>
              </a:rPr>
              <a:t>Project Defence</a:t>
            </a:r>
            <a:endParaRPr sz="1000" b="1" i="0" u="none" cap="none">
              <a:solidFill>
                <a:schemeClr val="lt1"/>
              </a:solidFill>
              <a:latin typeface="Afacad Flux"/>
              <a:ea typeface="Afacad Flux"/>
              <a:cs typeface="Afacad Flux"/>
            </a:endParaRPr>
          </a:p>
        </p:txBody>
      </p:sp>
      <p:pic>
        <p:nvPicPr>
          <p:cNvPr id="119" name="Picture 1"/>
          <p:cNvPicPr>
            <a:picLocks xmlns:a="http://schemas.openxmlformats.org/drawingml/2006/main" noChangeAspect="1"/>
          </p:cNvPicPr>
          <p:nvPr/>
        </p:nvPicPr>
        <p:blipFill>
          <a:blip xmlns:r="http://schemas.openxmlformats.org/officeDocument/2006/relationships" xmlns:a="http://schemas.openxmlformats.org/drawingml/2006/main" r:embed="Ree17973b690746b6"/>
          <a:stretch xmlns:a="http://schemas.openxmlformats.org/drawingml/2006/main">
            <a:fillRect l="0" t="0" r="0" b="0"/>
          </a:stretch>
        </p:blipFill>
        <p:spPr>
          <a:xfrm xmlns:a="http://schemas.openxmlformats.org/drawingml/2006/main">
            <a:off x="7127814" y="239115"/>
            <a:ext cx="1593400" cy="560179"/>
          </a:xfrm>
          <a:prstGeom xmlns:a="http://schemas.openxmlformats.org/drawingml/2006/main" prst="rect">
            <a:avLst/>
          </a:prstGeom>
        </p:spPr>
      </p:pic>
    </p:spTree>
    <p:extLst>
      <p:ext uri="{BB962C8B-B14F-4D97-AF65-F5344CB8AC3E}">
        <p14:creationId xmlns:p14="http://schemas.microsoft.com/office/powerpoint/2010/main" val="2061323902"/>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2026-08-29T14:46:58.1690000Z</dcterms:created>
  <dcterms:modified xsi:type="dcterms:W3CDTF">2026-08-29T14:46:58.1690000Z</dcterms:modified>
</coreProperties>
</file>