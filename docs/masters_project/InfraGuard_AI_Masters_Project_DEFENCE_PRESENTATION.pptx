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6c506a5abb491a" /><Relationship Type="http://schemas.openxmlformats.org/officeDocument/2006/relationships/extended-properties" Target="/docProps/app.xml" Id="Rd6ab9c97b65d4de8" /><Relationship Type="http://schemas.openxmlformats.org/officeDocument/2006/relationships/officeDocument" Target="/ppt/presentation.xml" Id="Rbcb3cbcae2504f6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82f040897144ff9"/>
  </p:sldMasterIdLst>
  <p:notesMasterIdLst>
    <p:notesMasterId xmlns:r="http://schemas.openxmlformats.org/officeDocument/2006/relationships" r:id="R13e642d2d9c441c1"/>
  </p:notesMasterIdLst>
  <p:sldIdLst>
    <p:sldId xmlns:r="http://schemas.openxmlformats.org/officeDocument/2006/relationships" id="256" r:id="Rd5cd7953f88f48f4"/>
    <p:sldId xmlns:r="http://schemas.openxmlformats.org/officeDocument/2006/relationships" id="257" r:id="R203c772f6dc04307"/>
    <p:sldId xmlns:r="http://schemas.openxmlformats.org/officeDocument/2006/relationships" id="258" r:id="R138034a8a6b74e73"/>
    <p:sldId xmlns:r="http://schemas.openxmlformats.org/officeDocument/2006/relationships" id="259" r:id="R956fbff65fc54615"/>
    <p:sldId xmlns:r="http://schemas.openxmlformats.org/officeDocument/2006/relationships" id="260" r:id="R0c4b9c79585e47e6"/>
    <p:sldId xmlns:r="http://schemas.openxmlformats.org/officeDocument/2006/relationships" id="261" r:id="Ra1c2d555cfcd421d"/>
    <p:sldId xmlns:r="http://schemas.openxmlformats.org/officeDocument/2006/relationships" id="262" r:id="R46b3d9cc67d34939"/>
    <p:sldId xmlns:r="http://schemas.openxmlformats.org/officeDocument/2006/relationships" id="263" r:id="Ra432d56090f3478e"/>
    <p:sldId xmlns:r="http://schemas.openxmlformats.org/officeDocument/2006/relationships" id="264" r:id="R3fd6ad8492da4b45"/>
    <p:sldId xmlns:r="http://schemas.openxmlformats.org/officeDocument/2006/relationships" id="265" r:id="R4b9ecdee3a214d63"/>
    <p:sldId xmlns:r="http://schemas.openxmlformats.org/officeDocument/2006/relationships" id="266" r:id="Rb3482f7dd9b8447b"/>
    <p:sldId xmlns:r="http://schemas.openxmlformats.org/officeDocument/2006/relationships" id="267" r:id="Re0da6dc70f274105"/>
    <p:sldId xmlns:r="http://schemas.openxmlformats.org/officeDocument/2006/relationships" id="268" r:id="R8f127b2a306749c1"/>
    <p:sldId xmlns:r="http://schemas.openxmlformats.org/officeDocument/2006/relationships" id="269" r:id="Re233552fc1304276"/>
    <p:sldId xmlns:r="http://schemas.openxmlformats.org/officeDocument/2006/relationships" id="270" r:id="R8f78077f18654180"/>
  </p:sldIdLst>
  <p:sldSz cx="9144000" cy="5143500"/>
  <p:notesSz cx="6858000" cy="9144000"/>
  <p:embeddedFontLst>
    <p:embeddedFont>
      <p:font typeface="Afacad Flux"/>
      <p:regular xmlns:r="http://schemas.openxmlformats.org/officeDocument/2006/relationships" r:id="R61122b87422e46a2"/>
      <p:bold xmlns:r="http://schemas.openxmlformats.org/officeDocument/2006/relationships" r:id="R43380e2d67654623"/>
    </p:embeddedFont>
    <p:embeddedFont>
      <p:font typeface="Afacad Flux SemiBold"/>
      <p:regular xmlns:r="http://schemas.openxmlformats.org/officeDocument/2006/relationships" r:id="R2f58ab0eef4d4a21"/>
      <p:bold xmlns:r="http://schemas.openxmlformats.org/officeDocument/2006/relationships" r:id="Rd1844fa247c147a2"/>
    </p:embeddedFont>
    <p:embeddedFont>
      <p:font typeface="Manrope"/>
      <p:regular xmlns:r="http://schemas.openxmlformats.org/officeDocument/2006/relationships" r:id="Ra5529a6db2db429f"/>
      <p:bold xmlns:r="http://schemas.openxmlformats.org/officeDocument/2006/relationships" r:id="Rf19217b72a054ad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2e50b2c3844c9" /><Relationship Type="http://schemas.openxmlformats.org/officeDocument/2006/relationships/slideMaster" Target="/ppt/slideMasters/slideMaster1.xml" Id="R682f040897144ff9" /><Relationship Type="http://schemas.openxmlformats.org/officeDocument/2006/relationships/notesMaster" Target="/ppt/notesMasters/notesMaster1.xml" Id="R13e642d2d9c441c1" /><Relationship Type="http://schemas.openxmlformats.org/officeDocument/2006/relationships/presProps" Target="/ppt/presProps.xml" Id="R85aacb1fb67643e6" /><Relationship Type="http://schemas.openxmlformats.org/officeDocument/2006/relationships/viewProps" Target="/ppt/viewProps.xml" Id="R834a4fe9261f4f72" /><Relationship Type="http://schemas.openxmlformats.org/officeDocument/2006/relationships/tableStyles" Target="/ppt/tableStyles.xml" Id="R0dd8700ed45343d7" /><Relationship Type="http://schemas.openxmlformats.org/officeDocument/2006/relationships/font" Target="/ppt/fonts/font.dat" Id="R61122b87422e46a2" /><Relationship Type="http://schemas.openxmlformats.org/officeDocument/2006/relationships/font" Target="/ppt/fonts/font2.dat" Id="R43380e2d67654623" /><Relationship Type="http://schemas.openxmlformats.org/officeDocument/2006/relationships/font" Target="/ppt/fonts/font3.dat" Id="R2f58ab0eef4d4a21" /><Relationship Type="http://schemas.openxmlformats.org/officeDocument/2006/relationships/font" Target="/ppt/fonts/font4.dat" Id="Rd1844fa247c147a2" /><Relationship Type="http://schemas.openxmlformats.org/officeDocument/2006/relationships/font" Target="/ppt/fonts/font5.dat" Id="Ra5529a6db2db429f" /><Relationship Type="http://schemas.openxmlformats.org/officeDocument/2006/relationships/font" Target="/ppt/fonts/font6.dat" Id="Rf19217b72a054adf" /><Relationship Type="http://schemas.openxmlformats.org/officeDocument/2006/relationships/slide" Target="/ppt/slides/slide1.xml" Id="Rd5cd7953f88f48f4" /><Relationship Type="http://schemas.openxmlformats.org/officeDocument/2006/relationships/slide" Target="/ppt/slides/slide2.xml" Id="R203c772f6dc04307" /><Relationship Type="http://schemas.openxmlformats.org/officeDocument/2006/relationships/slide" Target="/ppt/slides/slide3.xml" Id="R138034a8a6b74e73" /><Relationship Type="http://schemas.openxmlformats.org/officeDocument/2006/relationships/slide" Target="/ppt/slides/slide4.xml" Id="R956fbff65fc54615" /><Relationship Type="http://schemas.openxmlformats.org/officeDocument/2006/relationships/slide" Target="/ppt/slides/slide5.xml" Id="R0c4b9c79585e47e6" /><Relationship Type="http://schemas.openxmlformats.org/officeDocument/2006/relationships/slide" Target="/ppt/slides/slide6.xml" Id="Ra1c2d555cfcd421d" /><Relationship Type="http://schemas.openxmlformats.org/officeDocument/2006/relationships/slide" Target="/ppt/slides/slide7.xml" Id="R46b3d9cc67d34939" /><Relationship Type="http://schemas.openxmlformats.org/officeDocument/2006/relationships/slide" Target="/ppt/slides/slide8.xml" Id="Ra432d56090f3478e" /><Relationship Type="http://schemas.openxmlformats.org/officeDocument/2006/relationships/slide" Target="/ppt/slides/slide9.xml" Id="R3fd6ad8492da4b45" /><Relationship Type="http://schemas.openxmlformats.org/officeDocument/2006/relationships/slide" Target="/ppt/slides/slide10.xml" Id="R4b9ecdee3a214d63" /><Relationship Type="http://schemas.openxmlformats.org/officeDocument/2006/relationships/slide" Target="/ppt/slides/slide11.xml" Id="Rb3482f7dd9b8447b" /><Relationship Type="http://schemas.openxmlformats.org/officeDocument/2006/relationships/slide" Target="/ppt/slides/slide12.xml" Id="Re0da6dc70f274105" /><Relationship Type="http://schemas.openxmlformats.org/officeDocument/2006/relationships/slide" Target="/ppt/slides/slide13.xml" Id="R8f127b2a306749c1" /><Relationship Type="http://schemas.openxmlformats.org/officeDocument/2006/relationships/slide" Target="/ppt/slides/slide14.xml" Id="Re233552fc1304276" /><Relationship Type="http://schemas.openxmlformats.org/officeDocument/2006/relationships/slide" Target="/ppt/slides/slide15.xml" Id="R8f78077f186541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4b88ac31914e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14f389657471a" /><Relationship Type="http://schemas.openxmlformats.org/officeDocument/2006/relationships/notesMaster" Target="/ppt/notesMasters/notesMaster1.xml" Id="Rc9058bdfa40e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c7b5813544da3" /><Relationship Type="http://schemas.openxmlformats.org/officeDocument/2006/relationships/notesMaster" Target="/ppt/notesMasters/notesMaster1.xml" Id="R2f5a638a244849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36ac09051345e7" /><Relationship Type="http://schemas.openxmlformats.org/officeDocument/2006/relationships/notesMaster" Target="/ppt/notesMasters/notesMaster1.xml" Id="R090ddc1681f947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b137ef9d294a88" /><Relationship Type="http://schemas.openxmlformats.org/officeDocument/2006/relationships/notesMaster" Target="/ppt/notesMasters/notesMaster1.xml" Id="Ra587164a0def42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af6ebbf8fd4899" /><Relationship Type="http://schemas.openxmlformats.org/officeDocument/2006/relationships/notesMaster" Target="/ppt/notesMasters/notesMaster1.xml" Id="Rb73ea5ed4cb045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3e6e395006469d" /><Relationship Type="http://schemas.openxmlformats.org/officeDocument/2006/relationships/notesMaster" Target="/ppt/notesMasters/notesMaster1.xml" Id="R048a6c80d0e44d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8f8a59f15f476c" /><Relationship Type="http://schemas.openxmlformats.org/officeDocument/2006/relationships/notesMaster" Target="/ppt/notesMasters/notesMaster1.xml" Id="R9607780c413d45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3456169ac648a2" /><Relationship Type="http://schemas.openxmlformats.org/officeDocument/2006/relationships/notesMaster" Target="/ppt/notesMasters/notesMaster1.xml" Id="R1b929f7078254b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ede73e4d1f4723" /><Relationship Type="http://schemas.openxmlformats.org/officeDocument/2006/relationships/notesMaster" Target="/ppt/notesMasters/notesMaster1.xml" Id="R9a4dc67e1dc842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0096f73fc94c1b" /><Relationship Type="http://schemas.openxmlformats.org/officeDocument/2006/relationships/notesMaster" Target="/ppt/notesMasters/notesMaster1.xml" Id="Rea1ded57a11543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0671cf27214345" /><Relationship Type="http://schemas.openxmlformats.org/officeDocument/2006/relationships/notesMaster" Target="/ppt/notesMasters/notesMaster1.xml" Id="Rfa179fd2cc5842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bd9bb154124c62" /><Relationship Type="http://schemas.openxmlformats.org/officeDocument/2006/relationships/notesMaster" Target="/ppt/notesMasters/notesMaster1.xml" Id="R5a53a8823b0840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425f4924424f28" /><Relationship Type="http://schemas.openxmlformats.org/officeDocument/2006/relationships/notesMaster" Target="/ppt/notesMasters/notesMaster1.xml" Id="R1f9b30d66a0c40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29abb133704703" /><Relationship Type="http://schemas.openxmlformats.org/officeDocument/2006/relationships/notesMaster" Target="/ppt/notesMasters/notesMaster1.xml" Id="R5d27a87785eb4e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bc46b11f8d408a" /><Relationship Type="http://schemas.openxmlformats.org/officeDocument/2006/relationships/notesMaster" Target="/ppt/notesMasters/notesMaster1.xml" Id="R1e527f6f31f645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Open with the bounded thesis: a tested operator-hosted reference implementation, not evidence of autonomous or production-ready incident response.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final test remediation strengthens software verification but does not change the frozen model benchmark.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title page, Abstract and Sections 6.2 to 6.4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Separate the four gaps before describing novelty. The project does not claim a new foundation model.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central contribution is the acknowledgement pattern, evaluated inside a bounded operator-hosted implementation.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1.2.1, 2.4.4 and 6.3.2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Current related work: Ahmed et al. (2023); Chen et al. (2024); Chen et al. (2025); Xu et al. (2025); Yuan et al. (2025)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Connect the theoretical literature directly to the design controls: visible evidence, operator veto, severity safeguards and bounded claims.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Alert fatigue is a motivation, not a measured outcome in this study.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2.1.6 and 2.1.7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Current governance and calibrated trust: National Institute of Standards and Technology (2024); Buçinca et al. (2021); Jacovi et al. (2021)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Foundational human factors: Parasuraman and Riley (1997); Lee and See (2004); Parasuraman and Manzey (2010); Cvach (2012); Amershi et al. (2019); Shneiderman (2020)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Use the questions as traceability controls, not as an inventory to read verbatim.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RQ4 deliberately distinguishes implementation feasibility from diagnostic and production effectiveness.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1.3.1 to 1.3.3 and Table 3.1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Design Science fits because the study must produce an artefact and evidence about its behaviour.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Keep software verification, model behaviour, practitioner interpretation and perceived usability separate.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3.1 to 3.1.7 and Table 3.2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Hevner et al. (2004); Peffers et al. (2007)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Only dated events retained in the project evidence are shown. The 16 August figures are historical baseline values, not the final status.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Do not infer financial savings: only local metered API cost was zero in the frozen benchmark.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4.1.1, 5.2.1, 5.4.2.1, 5.4.3 and Appendix E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firewall and loopback changes remove the earlier development exposure, but they do not create a complete production security posture.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Cloud-provider prompt content can still leave the host; the operator must document that data boundary.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3.3, 3.5, 4.3.2, 4.3.6 and Table 4.3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Repository: terraform/main.tf, terraform/variables.tf, terraform/terraform.tfvars.example, docker-compose.yml and README.md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This is the principal design contribution and its main limitation.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same model can supply the signature used for acknowledgement, creating circularity. Deterministic telemetry-derived identity is the recommended next design.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2.1.6, 3.4.5, 4.2.5, 5.3 and 5.6.2.2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two-practitioner assessment and the ten-response SUS study involve different participants, instruments and claims.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benchmark is a reproducible single-model baseline, not a cross-model comparison.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3.1.6, 3.1.7, 5.4.2, 5.4.3 and Appendices D-E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final 28 August 2026 run reported 1,516 statements, 201 missed and 23 dependency deprecation warnings.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Coverage closes the supervisor-identified line-coverage gap; it does not prove assertion adequacy or live integration behaviour.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5.2 and 5.2.1, Table 5.1 and Figure 5.1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Final remediation test and coverage reports retained in the project evidence package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This is agreement with the frozen four-class labels, not a universal score or chance comparison.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Under-calls may delay response; repeated over-calls may increase review burden and erode calibrated trust.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5.4.2.2 and 5.6.1; Tables 5.5–5.6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Current root-cause-analysis research: Xu et al. (2025)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Keep retrieval reachability separate from generated-answer quality.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no-RAG zero grounding score shows absent traceability, not automatic factual incorrectness.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2.1.5 and 5.4.2.4 to 5.4.2.6; Tables 5.7–5.9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Current RAG and incident-support research: Es et al. (2024); Yuan et al. (2025)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SUS was chosen as a brief, technology-agnostic global perceived-usability measure.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study retained no task timing, error, assistance or free-text records, so it cannot support task-performance claims.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3.1.7, 5.4.3 and 5.6.1; Table 5.11; Appendix 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Brooke (1996); Bangor et al. (2008)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Close on the bounded contribution: useful decision support with reproducible evidence and explicit failure modes.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Do not claim workload reduction, production certification, commercial superiority or autonomous remediation.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Sections 6.2 to 6.4 and Table 5.12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Selected APA 7 references foreground current LLM incident support, retrieval evaluation and trustworthy-system governance while retaining one essential Design Science foundation. The full alphabetised bibliography appears in the manuscript.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Sealed manuscript, References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Ahmed et al. (2023); Es et al. (2024); National Institute of Standards and Technology (2024); Yuan et al. (2025); Hevner et al. (2004)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a5d4625064f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3c01445fe43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e0ce16f2f245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7f37b2d4249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797862cc04f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a92422f994a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5081a47d740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b92809b684f0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f31deabfd49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5167e276e4ce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95a9b35c642c2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2">
            <a:extLst xmlns:a="http://schemas.openxmlformats.org/drawingml/2006/main">
              <a:ext uri="{FF2B5EF4-FFF2-40B4-BE49-F238E27FC236}">
                <a16:creationId xmlns:a16="http://schemas.microsoft.com/office/drawing/2014/main" id="{2AEB7C89-C8E0-4622-9430-6A9EA6D822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2">
            <a:extLst xmlns:a="http://schemas.openxmlformats.org/drawingml/2006/main">
              <a:ext uri="{FF2B5EF4-FFF2-40B4-BE49-F238E27FC236}">
                <a16:creationId xmlns:a16="http://schemas.microsoft.com/office/drawing/2014/main" id="{69ABCC32-9FA5-4F61-8EB1-48A407B987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2">
            <a:extLst xmlns:a="http://schemas.openxmlformats.org/drawingml/2006/main">
              <a:ext uri="{FF2B5EF4-FFF2-40B4-BE49-F238E27FC236}">
                <a16:creationId xmlns:a16="http://schemas.microsoft.com/office/drawing/2014/main" id="{6D291505-2D88-4CC8-8C2D-905644CEB4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23">
            <a:extLst xmlns:a="http://schemas.openxmlformats.org/drawingml/2006/main">
              <a:ext uri="{FF2B5EF4-FFF2-40B4-BE49-F238E27FC236}">
                <a16:creationId xmlns:a16="http://schemas.microsoft.com/office/drawing/2014/main" id="{121E9B3F-CA35-4E56-98B7-536E107803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23">
            <a:extLst xmlns:a="http://schemas.openxmlformats.org/drawingml/2006/main">
              <a:ext uri="{FF2B5EF4-FFF2-40B4-BE49-F238E27FC236}">
                <a16:creationId xmlns:a16="http://schemas.microsoft.com/office/drawing/2014/main" id="{E82CE9B8-87FD-4D48-B1C4-33410D66B4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Google Shape;16;p23">
            <a:extLst xmlns:a="http://schemas.openxmlformats.org/drawingml/2006/main">
              <a:ext uri="{FF2B5EF4-FFF2-40B4-BE49-F238E27FC236}">
                <a16:creationId xmlns:a16="http://schemas.microsoft.com/office/drawing/2014/main" id="{FBB0792B-D125-4250-A02E-A1EC57D1C1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24">
            <a:extLst xmlns:a="http://schemas.openxmlformats.org/drawingml/2006/main">
              <a:ext uri="{FF2B5EF4-FFF2-40B4-BE49-F238E27FC236}">
                <a16:creationId xmlns:a16="http://schemas.microsoft.com/office/drawing/2014/main" id="{A2EC30C7-62A3-4A85-89AC-8BB1165D4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4">
            <a:extLst xmlns:a="http://schemas.openxmlformats.org/drawingml/2006/main">
              <a:ext uri="{FF2B5EF4-FFF2-40B4-BE49-F238E27FC236}">
                <a16:creationId xmlns:a16="http://schemas.microsoft.com/office/drawing/2014/main" id="{70987D93-6C55-4937-B29E-3C8C274CE5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25">
            <a:extLst xmlns:a="http://schemas.openxmlformats.org/drawingml/2006/main">
              <a:ext uri="{FF2B5EF4-FFF2-40B4-BE49-F238E27FC236}">
                <a16:creationId xmlns:a16="http://schemas.microsoft.com/office/drawing/2014/main" id="{0BB4B537-04F6-4A86-B674-8A6462091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25">
            <a:extLst xmlns:a="http://schemas.openxmlformats.org/drawingml/2006/main">
              <a:ext uri="{FF2B5EF4-FFF2-40B4-BE49-F238E27FC236}">
                <a16:creationId xmlns:a16="http://schemas.microsoft.com/office/drawing/2014/main" id="{CBFC46D2-8591-4926-ADF3-817D5B302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25">
            <a:extLst xmlns:a="http://schemas.openxmlformats.org/drawingml/2006/main">
              <a:ext uri="{FF2B5EF4-FFF2-40B4-BE49-F238E27FC236}">
                <a16:creationId xmlns:a16="http://schemas.microsoft.com/office/drawing/2014/main" id="{57BE952D-56E6-44F7-904F-CA1E9B0057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25">
            <a:extLst xmlns:a="http://schemas.openxmlformats.org/drawingml/2006/main">
              <a:ext uri="{FF2B5EF4-FFF2-40B4-BE49-F238E27FC236}">
                <a16:creationId xmlns:a16="http://schemas.microsoft.com/office/drawing/2014/main" id="{0AAC1DB6-23C8-4A86-BF2B-73D887BC37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26">
            <a:extLst xmlns:a="http://schemas.openxmlformats.org/drawingml/2006/main">
              <a:ext uri="{FF2B5EF4-FFF2-40B4-BE49-F238E27FC236}">
                <a16:creationId xmlns:a16="http://schemas.microsoft.com/office/drawing/2014/main" id="{BB433B75-7181-4D9E-9B94-831130D24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26">
            <a:extLst xmlns:a="http://schemas.openxmlformats.org/drawingml/2006/main">
              <a:ext uri="{FF2B5EF4-FFF2-40B4-BE49-F238E27FC236}">
                <a16:creationId xmlns:a16="http://schemas.microsoft.com/office/drawing/2014/main" id="{EAE46275-300F-4153-B3AC-86F09351E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27">
            <a:extLst xmlns:a="http://schemas.openxmlformats.org/drawingml/2006/main">
              <a:ext uri="{FF2B5EF4-FFF2-40B4-BE49-F238E27FC236}">
                <a16:creationId xmlns:a16="http://schemas.microsoft.com/office/drawing/2014/main" id="{C4F79727-778C-497C-AE1A-CDB2489D2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27">
            <a:extLst xmlns:a="http://schemas.openxmlformats.org/drawingml/2006/main">
              <a:ext uri="{FF2B5EF4-FFF2-40B4-BE49-F238E27FC236}">
                <a16:creationId xmlns:a16="http://schemas.microsoft.com/office/drawing/2014/main" id="{E8BBB23D-D730-4580-8988-28D4D1F4F6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27">
            <a:extLst xmlns:a="http://schemas.openxmlformats.org/drawingml/2006/main">
              <a:ext uri="{FF2B5EF4-FFF2-40B4-BE49-F238E27FC236}">
                <a16:creationId xmlns:a16="http://schemas.microsoft.com/office/drawing/2014/main" id="{0720EB0A-D853-4E63-B8CD-BCC6605673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28">
            <a:extLst xmlns:a="http://schemas.openxmlformats.org/drawingml/2006/main">
              <a:ext uri="{FF2B5EF4-FFF2-40B4-BE49-F238E27FC236}">
                <a16:creationId xmlns:a16="http://schemas.microsoft.com/office/drawing/2014/main" id="{E0153E35-488E-410A-AB00-F2F84E968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28">
            <a:extLst xmlns:a="http://schemas.openxmlformats.org/drawingml/2006/main">
              <a:ext uri="{FF2B5EF4-FFF2-40B4-BE49-F238E27FC236}">
                <a16:creationId xmlns:a16="http://schemas.microsoft.com/office/drawing/2014/main" id="{68831EEE-7887-4437-9631-AD12E6725F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29">
            <a:extLst xmlns:a="http://schemas.openxmlformats.org/drawingml/2006/main">
              <a:ext uri="{FF2B5EF4-FFF2-40B4-BE49-F238E27FC236}">
                <a16:creationId xmlns:a16="http://schemas.microsoft.com/office/drawing/2014/main" id="{3FE0ECEC-51E4-4476-B3DA-6224A9B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29">
            <a:extLst xmlns:a="http://schemas.openxmlformats.org/drawingml/2006/main">
              <a:ext uri="{FF2B5EF4-FFF2-40B4-BE49-F238E27FC236}">
                <a16:creationId xmlns:a16="http://schemas.microsoft.com/office/drawing/2014/main" id="{57906E32-71D9-4460-A9E5-47AEA4132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29">
            <a:extLst xmlns:a="http://schemas.openxmlformats.org/drawingml/2006/main">
              <a:ext uri="{FF2B5EF4-FFF2-40B4-BE49-F238E27FC236}">
                <a16:creationId xmlns:a16="http://schemas.microsoft.com/office/drawing/2014/main" id="{520D5C1F-98AF-4B45-8E61-854D010926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29">
            <a:extLst xmlns:a="http://schemas.openxmlformats.org/drawingml/2006/main">
              <a:ext uri="{FF2B5EF4-FFF2-40B4-BE49-F238E27FC236}">
                <a16:creationId xmlns:a16="http://schemas.microsoft.com/office/drawing/2014/main" id="{A75F84D2-3781-4C55-A8D3-8BAC58DF49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29">
            <a:extLst xmlns:a="http://schemas.openxmlformats.org/drawingml/2006/main">
              <a:ext uri="{FF2B5EF4-FFF2-40B4-BE49-F238E27FC236}">
                <a16:creationId xmlns:a16="http://schemas.microsoft.com/office/drawing/2014/main" id="{E6F03898-AA2F-4D74-9E80-13C60C6BDE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30">
            <a:extLst xmlns:a="http://schemas.openxmlformats.org/drawingml/2006/main">
              <a:ext uri="{FF2B5EF4-FFF2-40B4-BE49-F238E27FC236}">
                <a16:creationId xmlns:a16="http://schemas.microsoft.com/office/drawing/2014/main" id="{901FDE27-8C32-4A0B-81EF-893B9D9541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30">
            <a:extLst xmlns:a="http://schemas.openxmlformats.org/drawingml/2006/main">
              <a:ext uri="{FF2B5EF4-FFF2-40B4-BE49-F238E27FC236}">
                <a16:creationId xmlns:a16="http://schemas.microsoft.com/office/drawing/2014/main" id="{F921355E-7AD6-4DAE-9AA0-911AA1ECB8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31">
            <a:extLst xmlns:a="http://schemas.openxmlformats.org/drawingml/2006/main">
              <a:ext uri="{FF2B5EF4-FFF2-40B4-BE49-F238E27FC236}">
                <a16:creationId xmlns:a16="http://schemas.microsoft.com/office/drawing/2014/main" id="{2271FA6F-FF45-4CAB-9367-843E41293A2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31">
            <a:extLst xmlns:a="http://schemas.openxmlformats.org/drawingml/2006/main">
              <a:ext uri="{FF2B5EF4-FFF2-40B4-BE49-F238E27FC236}">
                <a16:creationId xmlns:a16="http://schemas.microsoft.com/office/drawing/2014/main" id="{7066A19C-720C-4F49-B349-F671D3E21E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31">
            <a:extLst xmlns:a="http://schemas.openxmlformats.org/drawingml/2006/main">
              <a:ext uri="{FF2B5EF4-FFF2-40B4-BE49-F238E27FC236}">
                <a16:creationId xmlns:a16="http://schemas.microsoft.com/office/drawing/2014/main" id="{DF5CDBCB-05DC-4ACC-8719-02D683832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32">
            <a:extLst xmlns:a="http://schemas.openxmlformats.org/drawingml/2006/main">
              <a:ext uri="{FF2B5EF4-FFF2-40B4-BE49-F238E27FC236}">
                <a16:creationId xmlns:a16="http://schemas.microsoft.com/office/drawing/2014/main" id="{16560358-EB1B-44A2-9CB6-303CC7ECCA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77a9604cc4b9b" /><Relationship Type="http://schemas.openxmlformats.org/officeDocument/2006/relationships/slideLayout" Target="/ppt/slideLayouts/slideLayout1.xml" Id="R6300457641ca402d" /><Relationship Type="http://schemas.openxmlformats.org/officeDocument/2006/relationships/slideLayout" Target="/ppt/slideLayouts/slideLayout2.xml" Id="R1c7b30af6b8f4e26" /><Relationship Type="http://schemas.openxmlformats.org/officeDocument/2006/relationships/slideLayout" Target="/ppt/slideLayouts/slideLayout3.xml" Id="Rb8f8d6041a5d4e2e" /><Relationship Type="http://schemas.openxmlformats.org/officeDocument/2006/relationships/slideLayout" Target="/ppt/slideLayouts/slideLayout4.xml" Id="R5425a2067abb4072" /><Relationship Type="http://schemas.openxmlformats.org/officeDocument/2006/relationships/slideLayout" Target="/ppt/slideLayouts/slideLayout5.xml" Id="Rbe38a22c53d54c32" /><Relationship Type="http://schemas.openxmlformats.org/officeDocument/2006/relationships/slideLayout" Target="/ppt/slideLayouts/slideLayout6.xml" Id="Ra8336caa277e4406" /><Relationship Type="http://schemas.openxmlformats.org/officeDocument/2006/relationships/slideLayout" Target="/ppt/slideLayouts/slideLayout7.xml" Id="Rbaa6c8c8ee6848f6" /><Relationship Type="http://schemas.openxmlformats.org/officeDocument/2006/relationships/slideLayout" Target="/ppt/slideLayouts/slideLayout8.xml" Id="R25748e1110cd4c2b" /><Relationship Type="http://schemas.openxmlformats.org/officeDocument/2006/relationships/slideLayout" Target="/ppt/slideLayouts/slideLayout9.xml" Id="Read74ad875f5492c" /><Relationship Type="http://schemas.openxmlformats.org/officeDocument/2006/relationships/slideLayout" Target="/ppt/slideLayouts/slideLayout10.xml" Id="R591472df0c6a4711" /><Relationship Type="http://schemas.openxmlformats.org/officeDocument/2006/relationships/slideLayout" Target="/ppt/slideLayouts/slideLayout11.xml" Id="R2187bc33860148b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21">
            <a:extLst xmlns:a="http://schemas.openxmlformats.org/drawingml/2006/main">
              <a:ext uri="{FF2B5EF4-FFF2-40B4-BE49-F238E27FC236}">
                <a16:creationId xmlns:a16="http://schemas.microsoft.com/office/drawing/2014/main" id="{4BE0C86A-C051-4EC6-98A4-96C1E988D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21">
            <a:extLst xmlns:a="http://schemas.openxmlformats.org/drawingml/2006/main">
              <a:ext uri="{FF2B5EF4-FFF2-40B4-BE49-F238E27FC236}">
                <a16:creationId xmlns:a16="http://schemas.microsoft.com/office/drawing/2014/main" id="{2D80BC4F-B183-41D4-8C71-DABAA00224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21">
            <a:extLst xmlns:a="http://schemas.openxmlformats.org/drawingml/2006/main">
              <a:ext uri="{FF2B5EF4-FFF2-40B4-BE49-F238E27FC236}">
                <a16:creationId xmlns:a16="http://schemas.microsoft.com/office/drawing/2014/main" id="{F05F1DD6-A414-41A8-82E6-7D1F84670A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0457641ca402d"/>
    <p:sldLayoutId xmlns:r="http://schemas.openxmlformats.org/officeDocument/2006/relationships" id="2147483650" r:id="R1c7b30af6b8f4e26"/>
    <p:sldLayoutId xmlns:r="http://schemas.openxmlformats.org/officeDocument/2006/relationships" id="2147483651" r:id="Rb8f8d6041a5d4e2e"/>
    <p:sldLayoutId xmlns:r="http://schemas.openxmlformats.org/officeDocument/2006/relationships" id="2147483652" r:id="R5425a2067abb4072"/>
    <p:sldLayoutId xmlns:r="http://schemas.openxmlformats.org/officeDocument/2006/relationships" id="2147483653" r:id="Rbe38a22c53d54c32"/>
    <p:sldLayoutId xmlns:r="http://schemas.openxmlformats.org/officeDocument/2006/relationships" id="2147483654" r:id="Ra8336caa277e4406"/>
    <p:sldLayoutId xmlns:r="http://schemas.openxmlformats.org/officeDocument/2006/relationships" id="2147483655" r:id="Rbaa6c8c8ee6848f6"/>
    <p:sldLayoutId xmlns:r="http://schemas.openxmlformats.org/officeDocument/2006/relationships" id="2147483656" r:id="R25748e1110cd4c2b"/>
    <p:sldLayoutId xmlns:r="http://schemas.openxmlformats.org/officeDocument/2006/relationships" id="2147483657" r:id="Read74ad875f5492c"/>
    <p:sldLayoutId xmlns:r="http://schemas.openxmlformats.org/officeDocument/2006/relationships" id="2147483658" r:id="R591472df0c6a4711"/>
    <p:sldLayoutId xmlns:r="http://schemas.openxmlformats.org/officeDocument/2006/relationships" id="2147483659" r:id="R2187bc33860148b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9bef3d3e14b52" /><Relationship Type="http://schemas.openxmlformats.org/officeDocument/2006/relationships/image" Target="/ppt/media/image.png" Id="Rc9ca947024f8435a" /><Relationship Type="http://schemas.openxmlformats.org/officeDocument/2006/relationships/notesSlide" Target="/ppt/notesSlides/notesSlide1.xml" Id="R39f0f33087e8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c8da07c8f4dca" /><Relationship Type="http://schemas.openxmlformats.org/officeDocument/2006/relationships/image" Target="/ppt/media/image2.png" Id="R559000412caf4b5d" /><Relationship Type="http://schemas.openxmlformats.org/officeDocument/2006/relationships/image" Target="/ppt/media/image3.png" Id="Rae869c8ed57346f5" /><Relationship Type="http://schemas.openxmlformats.org/officeDocument/2006/relationships/notesSlide" Target="/ppt/notesSlides/notesSlide2.xml" Id="Rfebedd2f9921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b6ac8a5c447c1" /><Relationship Type="http://schemas.openxmlformats.org/officeDocument/2006/relationships/image" Target="/ppt/media/image3.png" Id="Rc982b81e0ca741c9" /><Relationship Type="http://schemas.openxmlformats.org/officeDocument/2006/relationships/notesSlide" Target="/ppt/notesSlides/notesSlide3.xml" Id="R25dd03be736947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65d5c1db04709" /><Relationship Type="http://schemas.openxmlformats.org/officeDocument/2006/relationships/image" Target="/ppt/media/image.png" Id="R4325793843cd4769" /><Relationship Type="http://schemas.openxmlformats.org/officeDocument/2006/relationships/notesSlide" Target="/ppt/notesSlides/notesSlide4.xml" Id="R60707f49817b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2e031a1d3c4d1e" /><Relationship Type="http://schemas.openxmlformats.org/officeDocument/2006/relationships/image" Target="/ppt/media/image.png" Id="Rfbc05d55afee490b" /><Relationship Type="http://schemas.openxmlformats.org/officeDocument/2006/relationships/notesSlide" Target="/ppt/notesSlides/notesSlide5.xml" Id="R99d6dad6b35f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db0d64061749e3" /><Relationship Type="http://schemas.openxmlformats.org/officeDocument/2006/relationships/image" Target="/ppt/media/image.png" Id="Rd9218f26a1d44cd7" /><Relationship Type="http://schemas.openxmlformats.org/officeDocument/2006/relationships/notesSlide" Target="/ppt/notesSlides/notesSlide6.xml" Id="R51545f677de341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1c05152bf484b" /><Relationship Type="http://schemas.openxmlformats.org/officeDocument/2006/relationships/image" Target="/ppt/media/image2.png" Id="Rd44906d1da7347fc" /><Relationship Type="http://schemas.openxmlformats.org/officeDocument/2006/relationships/image" Target="/ppt/media/image3.png" Id="R8c3147f7b4f946cb" /><Relationship Type="http://schemas.openxmlformats.org/officeDocument/2006/relationships/notesSlide" Target="/ppt/notesSlides/notesSlide7.xml" Id="Rbe36c9764df94d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72ddc88e643d0" /><Relationship Type="http://schemas.openxmlformats.org/officeDocument/2006/relationships/image" Target="/ppt/media/image3.png" Id="Raf2dbeb5d10941f6" /><Relationship Type="http://schemas.openxmlformats.org/officeDocument/2006/relationships/notesSlide" Target="/ppt/notesSlides/notesSlide8.xml" Id="R94113961fc5a4d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5f12504f6b4eb7" /><Relationship Type="http://schemas.openxmlformats.org/officeDocument/2006/relationships/image" Target="/ppt/media/image.png" Id="Rfda73104acf5433b" /><Relationship Type="http://schemas.openxmlformats.org/officeDocument/2006/relationships/notesSlide" Target="/ppt/notesSlides/notesSlide9.xml" Id="R33cddca7c42b40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dddc3f2e534839" /><Relationship Type="http://schemas.openxmlformats.org/officeDocument/2006/relationships/image" Target="/ppt/media/image.png" Id="R5d221aca797c477f" /><Relationship Type="http://schemas.openxmlformats.org/officeDocument/2006/relationships/notesSlide" Target="/ppt/notesSlides/notesSlide10.xml" Id="R88a03b2e4cdc40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082d919834ec9" /><Relationship Type="http://schemas.openxmlformats.org/officeDocument/2006/relationships/image" Target="/ppt/media/image3.png" Id="R5d5adb3622144579" /><Relationship Type="http://schemas.openxmlformats.org/officeDocument/2006/relationships/notesSlide" Target="/ppt/notesSlides/notesSlide11.xml" Id="Ra81aa07ec55c4f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e170d4ba94440" /><Relationship Type="http://schemas.openxmlformats.org/officeDocument/2006/relationships/image" Target="/ppt/media/image.png" Id="R6cf55efce0874696" /><Relationship Type="http://schemas.openxmlformats.org/officeDocument/2006/relationships/notesSlide" Target="/ppt/notesSlides/notesSlide12.xml" Id="R857bb81acf2c47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554d740cde44a8" /><Relationship Type="http://schemas.openxmlformats.org/officeDocument/2006/relationships/image" Target="/ppt/media/image.png" Id="R982b492030fd468f" /><Relationship Type="http://schemas.openxmlformats.org/officeDocument/2006/relationships/notesSlide" Target="/ppt/notesSlides/notesSlide13.xml" Id="Rb288ecf5406647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d05feb6ea432f" /><Relationship Type="http://schemas.openxmlformats.org/officeDocument/2006/relationships/image" Target="/ppt/media/image3.png" Id="Ra19bb46656f04338" /><Relationship Type="http://schemas.openxmlformats.org/officeDocument/2006/relationships/notesSlide" Target="/ppt/notesSlides/notesSlide14.xml" Id="R0084b650948a41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840af98ac48ec" /><Relationship Type="http://schemas.openxmlformats.org/officeDocument/2006/relationships/image" Target="/ppt/media/image3.png" Id="R0e8929c63eac49df" /><Relationship Type="http://schemas.openxmlformats.org/officeDocument/2006/relationships/notesSlide" Target="/ppt/notesSlides/notesSlide15.xml" Id="R98977da122d243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g3bb6db650b2_0_55">
            <a:extLst xmlns:a="http://schemas.openxmlformats.org/drawingml/2006/main">
              <a:ext uri="{FF2B5EF4-FFF2-40B4-BE49-F238E27FC236}">
                <a16:creationId xmlns:a16="http://schemas.microsoft.com/office/drawing/2014/main" id="{10498E75-CBC9-49BE-9474-1EAB8F8E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350" y="4642350"/>
            <a:ext cx="1989300" cy="20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383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a947024f843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52D65209-CA83-F3E2-3495-9CCDEF11EA5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150" y="744538"/>
            <a:ext cx="8521700" cy="399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DESIGN AND DEVELOPMENT OF INFRAGUARD AI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Operator-Hosted LLM-Assisted Observability and Incident Triage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for Cloud-Native Infrastructure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PROJECT DEFENCE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Adebodun Samuel Tomola  |  2025/A/MIT/0616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Supervisor: Dr. Emmanuel Mkpojiogu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defRPr>
            </a:pPr>
            <a:r>
              <a:rPr sz="2250" b="1">
                <a:solidFill>
                  <a:srgbClr val="104494"/>
                </a:solidFill>
                <a:latin typeface="Afacad Flux"/>
                <a:ea typeface="Afacad Flux"/>
                <a:cs typeface="Afacad Flux"/>
              </a:rPr>
              <a:t>Miva Open University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1578195342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59000412caf4b5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76E721-F8A9-464E-9641-EDEB9AE0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-171450"/>
            <a:ext cx="9326550" cy="5324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D3507DF7-F09C-4726-9A36-8F4BA6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3573899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Four gaps define the study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978C474A-3F16-41AD-8568-E03EEBBE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Knowledge — reliability of a compact local model remains uncertain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Design — acknowledgement must survive recurrence and ruleset change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Engineering — small teams need an inspectable operator-hosted artefact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Empirical — cross-model, workload, cost and production evidence remain limited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Primary contribution — condition-and-ruleset acknowledgement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2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21B55B2B-794E-4D61-BEA8-B4DD3CA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2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69c8ed57346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125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E9DE47-7A89-03FD-8838-AB32C51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" y="-152400"/>
            <a:ext cx="9421800" cy="530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50CF5E3E-E802-64F5-BC89-2D8335A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600075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Literature Review: Theory Requires Control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2BC2C388-10A3-D249-2B73-7D9B289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Automation bias can produce misuse, disuse or complacency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Trust should be calibrated to demonstrated reliability and visible evidence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Alert fatigue makes repeated presentation—not inference—an operational concern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Human-AI guidance requires capability disclosure, correction and user control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• Trustworthy AI adds continuing risk, governance and monitoring duties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Design implication — structured output never replaces operator judgement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2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4430A66-BD6A-1853-78AC-9C8941E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2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2b81e0ca741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36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8693143F-7EBC-4943-BAE8-6A65A41739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406560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Five questions bound scope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EF046507-6A8C-4893-935C-79FC38E876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074" y="1715950"/>
            <a:ext cx="8149459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Aim — design, implement and verify bounded first-pass incident support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/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RQ1 — selected telemetry → reviewable verdicts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RQ2 — operator-hosted inference, RAG, validation and approval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RQ3 — recurrence, expiry, model/prompt change and severity escalation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RQ4 — feasibility, model behaviour and perceived usability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RQ5 — security, deployment and data-governance constraints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09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07CBB763-C78F-4971-8762-54C0B685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5793843cd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25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5BB0AB44-08D6-1BF3-91CA-740D15696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406560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Design Science links evidence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97D9ADB7-0603-2DBC-A1B2-213E59870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82074" y="1715950"/>
            <a:ext cx="8149459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Problem → objectives → design → demonstration → evaluation → communication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/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Iteration refined parsing, acknowledgement matching and middleware order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Automated verification tests software behaviour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The frozen benchmark measures one local model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Two human practitioners provide exploratory qualitative scoring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A separate SUS study measures perceived usability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120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120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• Security and governance remain a distinct evidence stream</a:t>
            </a:r>
            <a:endParaRPr sz="1200">
              <a:solidFill>
                <a:srgbClr val="09314F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09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79DBF484-7568-C63F-3A19-08308D7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05d55afee49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022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A27235BD-4E5E-342A-510C-825F9EA13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406560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Timeline and resources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170A701B-5D26-E08C-A235-506D2768F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3829050"/>
            <a:ext cx="8214836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919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919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Resources — Windows 11 + Docker Desktop; Linux VPS; Python 3.11 containers; FastAPI/LangChain; SQLite/ChromaDB; Loki/Prometheus; CrowdSec; Ollama; 20 runbooks</a:t>
            </a:r>
          </a:p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919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919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Cost boundary — local metered API cost was zero; energy, hardware depreciation and opportunity cost were not measured</a:t>
            </a:r>
          </a:p>
        </p:txBody>
      </p:sp>
      <p:cxnSp>
        <p:nvCxnSpPr>
          <p:cNvPr id="126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C336649F-617F-AA44-7F78-3F69969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18f26a1d44c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timeline-rail">
            <a:extLst xmlns:a="http://schemas.openxmlformats.org/drawingml/2006/main">
              <a:ext uri="{FF2B5EF4-FFF2-40B4-BE49-F238E27FC236}">
                <a16:creationId xmlns:a16="http://schemas.microsoft.com/office/drawing/2014/main" id="{66808B9D-282A-4BB9-AB77-EBCB1912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A282"/>
            </a:solidFill>
            <a:prstDash val="solid"/>
          </a:ln>
        </p:spPr>
      </p:sp>
      <p:sp>
        <p:nvSpPr>
          <p:cNvPr id="92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F38CB5D0-60ED-41DB-8A8E-88E440A2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16 AUG</a:t>
            </a:r>
          </a:p>
        </p:txBody>
      </p:sp>
      <p:sp>
        <p:nvSpPr>
          <p:cNvPr id="93" name="timeline-stem-1">
            <a:extLst xmlns:a="http://schemas.openxmlformats.org/drawingml/2006/main">
              <a:ext uri="{FF2B5EF4-FFF2-40B4-BE49-F238E27FC236}">
                <a16:creationId xmlns:a16="http://schemas.microsoft.com/office/drawing/2014/main" id="{ADFC4CF7-1E3D-451F-A6E2-A5C5C5C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94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C7DB64B3-2B6E-461F-9D91-6380CB8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A2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5" name="timeline-event-1">
            <a:extLst xmlns:a="http://schemas.openxmlformats.org/drawingml/2006/main">
              <a:ext uri="{FF2B5EF4-FFF2-40B4-BE49-F238E27FC236}">
                <a16:creationId xmlns:a16="http://schemas.microsoft.com/office/drawing/2014/main" id="{8806EF53-F73E-42D4-A6BC-D25E2A07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Pilot deployed</a:t>
            </a:r>
          </a:p>
          <a:p xmlns:a="http://schemas.openxmlformats.org/drawingml/2006/main">
            <a:pPr algn="ctr">
              <a:buNone/>
              <a:defRPr sz="825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82 tests • 66%</a:t>
            </a:r>
          </a:p>
          <a:p xmlns:a="http://schemas.openxmlformats.org/drawingml/2006/main">
            <a:pPr algn="ctr">
              <a:buNone/>
              <a:defRPr sz="825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dated baseline</a:t>
            </a:r>
          </a:p>
        </p:txBody>
      </p:sp>
      <p:sp>
        <p:nvSpPr>
          <p:cNvPr id="96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587715D4-5986-46BB-9329-5DCB7B6F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18 AUG</a:t>
            </a:r>
          </a:p>
        </p:txBody>
      </p:sp>
      <p:sp>
        <p:nvSpPr>
          <p:cNvPr id="97" name="timeline-stem-2">
            <a:extLst xmlns:a="http://schemas.openxmlformats.org/drawingml/2006/main">
              <a:ext uri="{FF2B5EF4-FFF2-40B4-BE49-F238E27FC236}">
                <a16:creationId xmlns:a16="http://schemas.microsoft.com/office/drawing/2014/main" id="{1212943C-55EC-424B-BEEB-14F9A3F0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98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F935B8AC-FF4D-41DC-8C88-6F4495B6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9" name="timeline-event-2">
            <a:extLst xmlns:a="http://schemas.openxmlformats.org/drawingml/2006/main">
              <a:ext uri="{FF2B5EF4-FFF2-40B4-BE49-F238E27FC236}">
                <a16:creationId xmlns:a16="http://schemas.microsoft.com/office/drawing/2014/main" id="{8F0A4EB6-74E8-4322-BC10-04CD347D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Frozen qwen2.5:3b</a:t>
            </a:r>
          </a:p>
          <a:p xmlns:a="http://schemas.openxmlformats.org/drawingml/2006/main">
            <a:pPr algn="ctr">
              <a:buNone/>
              <a:defRPr sz="825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benchmark executed</a:t>
            </a:r>
          </a:p>
        </p:txBody>
      </p:sp>
      <p:sp>
        <p:nvSpPr>
          <p:cNvPr id="100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D50319C3-DFC6-4BD1-8F5D-916F1EE2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22–26 AUG</a:t>
            </a:r>
          </a:p>
        </p:txBody>
      </p:sp>
      <p:sp>
        <p:nvSpPr>
          <p:cNvPr id="101" name="timeline-stem-3">
            <a:extLst xmlns:a="http://schemas.openxmlformats.org/drawingml/2006/main">
              <a:ext uri="{FF2B5EF4-FFF2-40B4-BE49-F238E27FC236}">
                <a16:creationId xmlns:a16="http://schemas.microsoft.com/office/drawing/2014/main" id="{CA34C8B2-67E6-44E1-B448-A6C5ED1E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102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624B926F-7F37-486A-8C04-DFA3D8A7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1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timeline-event-3">
            <a:extLst xmlns:a="http://schemas.openxmlformats.org/drawingml/2006/main">
              <a:ext uri="{FF2B5EF4-FFF2-40B4-BE49-F238E27FC236}">
                <a16:creationId xmlns:a16="http://schemas.microsoft.com/office/drawing/2014/main" id="{F4F6C39B-0CCB-4B08-BAC2-4782DDF3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Human SUS submissions</a:t>
            </a:r>
          </a:p>
          <a:p xmlns:a="http://schemas.openxmlformats.org/drawingml/2006/main">
            <a:pPr algn="ctr">
              <a:buNone/>
              <a:defRPr sz="825" b="0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collected</a:t>
            </a:r>
          </a:p>
        </p:txBody>
      </p:sp>
      <p:sp>
        <p:nvSpPr>
          <p:cNvPr id="104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13CB1AA5-FCB9-4D47-9C47-B6AC7978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526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28 AUG</a:t>
            </a:r>
          </a:p>
        </p:txBody>
      </p:sp>
      <p:sp>
        <p:nvSpPr>
          <p:cNvPr id="105" name="timeline-stem-4">
            <a:extLst xmlns:a="http://schemas.openxmlformats.org/drawingml/2006/main">
              <a:ext uri="{FF2B5EF4-FFF2-40B4-BE49-F238E27FC236}">
                <a16:creationId xmlns:a16="http://schemas.microsoft.com/office/drawing/2014/main" id="{57DC63F2-98C6-4C1E-9167-F6CA215B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860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C3C9"/>
            </a:solidFill>
            <a:prstDash val="solid"/>
          </a:ln>
        </p:spPr>
      </p:sp>
      <p:sp>
        <p:nvSpPr>
          <p:cNvPr id="106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D19DAF63-6AB5-462F-966E-B0E27900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7" name="timeline-event-4">
            <a:extLst xmlns:a="http://schemas.openxmlformats.org/drawingml/2006/main">
              <a:ext uri="{FF2B5EF4-FFF2-40B4-BE49-F238E27FC236}">
                <a16:creationId xmlns:a16="http://schemas.microsoft.com/office/drawing/2014/main" id="{E9C78CE2-5DA6-46ED-A9DC-33DC378A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384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148 passed • </a:t>
            </a:r>
            <a:r>
              <a:rPr sz="825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87%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final remediation</a:t>
            </a:r>
          </a:p>
        </p:txBody>
      </p:sp>
    </p:spTree>
    <p:extLst>
      <p:ext uri="{BB962C8B-B14F-4D97-AF65-F5344CB8AC3E}">
        <p14:creationId xmlns:p14="http://schemas.microsoft.com/office/powerpoint/2010/main" val="3145159410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44906d1da7347f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76E721-F8A9-464E-9641-EDEB9AE0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1450" y="-171450"/>
            <a:ext cx="9326550" cy="53247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D3507DF7-F09C-4726-9A36-8F4BA6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3573899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Operators retain control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978C474A-3F16-41AD-8568-E03EEBBE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" y="3752850"/>
            <a:ext cx="8214836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919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19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Implemented baseline — no Terraform ingress by default; 443 is CIDR-gated; management ports reject world-open CIDRs; API binds 127.0.0.1:8080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919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19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Deployment duties — TLS termination, managed secrets, backup/recovery and security verification</a:t>
            </a:r>
          </a:p>
        </p:txBody>
      </p:sp>
      <p:cxnSp>
        <p:nvCxnSpPr>
          <p:cNvPr id="136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21B55B2B-794E-4D61-BEA8-B4DD3CA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147f7b4f946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  <p:sp>
        <p:nvSpPr>
          <p:cNvPr id="104" name="architecture-card-1">
            <a:extLst xmlns:a="http://schemas.openxmlformats.org/drawingml/2006/main">
              <a:ext uri="{FF2B5EF4-FFF2-40B4-BE49-F238E27FC236}">
                <a16:creationId xmlns:a16="http://schemas.microsoft.com/office/drawing/2014/main" id="{831D6A0F-1CE8-4BE2-988B-06234ED5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TELEMETRY</a:t>
            </a:r>
          </a:p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Loki • Prometheus
HTTP • Docker • CrowdSec</a:t>
            </a:r>
          </a:p>
        </p:txBody>
      </p:sp>
      <p:sp>
        <p:nvSpPr>
          <p:cNvPr id="105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D5513091-95AF-45E7-BC1B-93C7FF40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669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6" name="architecture-card-2">
            <a:extLst xmlns:a="http://schemas.openxmlformats.org/drawingml/2006/main">
              <a:ext uri="{FF2B5EF4-FFF2-40B4-BE49-F238E27FC236}">
                <a16:creationId xmlns:a16="http://schemas.microsoft.com/office/drawing/2014/main" id="{83A2052B-E358-4923-8C06-2FD1C67A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LOCAL CORE</a:t>
            </a:r>
          </a:p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FastAPI • SQLite
ChromaDB • 20 runbooks</a:t>
            </a:r>
          </a:p>
        </p:txBody>
      </p:sp>
      <p:sp>
        <p:nvSpPr>
          <p:cNvPr id="107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137172B4-6968-4FB9-85EE-3BAA1313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669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8" name="architecture-card-3">
            <a:extLst xmlns:a="http://schemas.openxmlformats.org/drawingml/2006/main">
              <a:ext uri="{FF2B5EF4-FFF2-40B4-BE49-F238E27FC236}">
                <a16:creationId xmlns:a16="http://schemas.microsoft.com/office/drawing/2014/main" id="{2154F3EC-A8C7-4B35-BA20-1CEEB507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9525">
            <a:solidFill>
              <a:srgbClr val="F7A6A1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HUMAN GATE</a:t>
            </a:r>
          </a:p>
          <a:p xmlns:a="http://schemas.openxmlformats.org/drawingml/2006/main">
            <a:pPr algn="ctr">
              <a:buNone/>
              <a:defRPr sz="788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Review • approve
or reject</a:t>
            </a:r>
          </a:p>
        </p:txBody>
      </p:sp>
      <p:sp>
        <p:nvSpPr>
          <p:cNvPr id="109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40291AD3-ECC5-4FC0-BC7F-4E815EA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0" name="architecture-card-4">
            <a:extLst xmlns:a="http://schemas.openxmlformats.org/drawingml/2006/main">
              <a:ext uri="{FF2B5EF4-FFF2-40B4-BE49-F238E27FC236}">
                <a16:creationId xmlns:a16="http://schemas.microsoft.com/office/drawing/2014/main" id="{DEE98987-6FF5-4DC0-97B4-04C958EB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16668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NOTIFY / ACT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Dashboard • alerts
CrowdSec ban after approval</a:t>
            </a:r>
          </a:p>
        </p:txBody>
      </p:sp>
      <p:sp>
        <p:nvSpPr>
          <p:cNvPr id="111" name="architecture-flow-labels">
            <a:extLst xmlns:a="http://schemas.openxmlformats.org/drawingml/2006/main">
              <a:ext uri="{FF2B5EF4-FFF2-40B4-BE49-F238E27FC236}">
                <a16:creationId xmlns:a16="http://schemas.microsoft.com/office/drawing/2014/main" id="{7FDBE8F4-28EF-423A-B30E-3E56F80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1" b="1">
                <a:solidFill>
                  <a:srgbClr val="C0A282"/>
                </a:solidFill>
                <a:latin typeface="Manrope"/>
                <a:ea typeface="Manrope"/>
                <a:cs typeface="Manrope"/>
              </a:defRPr>
            </a:pPr>
            <a:r>
              <a:rPr sz="731" b="1">
                <a:solidFill>
                  <a:srgbClr val="C0A282"/>
                </a:solidFill>
                <a:latin typeface="Manrope"/>
                <a:ea typeface="Manrope"/>
                <a:cs typeface="Manrope"/>
              </a:rPr>
              <a:t>collect                 analyse                 decide                 notify</a:t>
            </a:r>
          </a:p>
        </p:txBody>
      </p:sp>
      <p:sp>
        <p:nvSpPr>
          <p:cNvPr id="112" name="architecture-boundary">
            <a:extLst xmlns:a="http://schemas.openxmlformats.org/drawingml/2006/main">
              <a:ext uri="{FF2B5EF4-FFF2-40B4-BE49-F238E27FC236}">
                <a16:creationId xmlns:a16="http://schemas.microsoft.com/office/drawing/2014/main" id="{40655E6E-2865-451E-AB5D-9C6FCD5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096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E83831"/>
            </a:solidFill>
            <a:prstDash val="solid"/>
          </a:ln>
        </p:spPr>
        <p:txBody>
          <a:bodyPr xmlns:a="http://schemas.openxmlformats.org/drawingml/2006/main" wrap="square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ACTION BOUNDARY  •  the model never changes services or firewall rules</a:t>
            </a:r>
          </a:p>
        </p:txBody>
      </p:sp>
    </p:spTree>
    <p:extLst>
      <p:ext uri="{BB962C8B-B14F-4D97-AF65-F5344CB8AC3E}">
        <p14:creationId xmlns:p14="http://schemas.microsoft.com/office/powerpoint/2010/main" val="10083125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F6E9DE47-7A89-03FD-8838-AB32C51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" y="-152400"/>
            <a:ext cx="9421800" cy="530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50CF5E3E-E802-64F5-BC89-2D8335A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3573899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Fingerprints bind context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2BC2C388-10A3-D249-2B73-7D9B289B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" y="4038600"/>
            <a:ext cx="8214836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919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19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Limitation — only 10/24 scenarios (41.7%) had one stable signature; same-model identity creates circularity risk.</a:t>
            </a:r>
          </a:p>
        </p:txBody>
      </p:sp>
      <p:cxnSp>
        <p:nvCxnSpPr>
          <p:cNvPr id="153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4430A66-BD6A-1853-78AC-9C8941E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5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dbeb5d109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  <p:sp>
        <p:nvSpPr>
          <p:cNvPr id="104" name="fingerprint-formula">
            <a:extLst xmlns:a="http://schemas.openxmlformats.org/drawingml/2006/main">
              <a:ext uri="{FF2B5EF4-FFF2-40B4-BE49-F238E27FC236}">
                <a16:creationId xmlns:a16="http://schemas.microsoft.com/office/drawing/2014/main" id="{AB88911B-55B9-46A6-921A-574123EF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7762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fingerprint = SHA-256(signature | prompt version | model)</a:t>
            </a:r>
          </a:p>
        </p:txBody>
      </p:sp>
      <p:sp>
        <p:nvSpPr>
          <p:cNvPr id="105" name="fingerprint-inputs">
            <a:extLst xmlns:a="http://schemas.openxmlformats.org/drawingml/2006/main">
              <a:ext uri="{FF2B5EF4-FFF2-40B4-BE49-F238E27FC236}">
                <a16:creationId xmlns:a16="http://schemas.microsoft.com/office/drawing/2014/main" id="{AF1D5416-9BD7-4239-9EA3-37DD1C17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06" name="fingerprint-inputs-title">
            <a:extLst xmlns:a="http://schemas.openxmlformats.org/drawingml/2006/main">
              <a:ext uri="{FF2B5EF4-FFF2-40B4-BE49-F238E27FC236}">
                <a16:creationId xmlns:a16="http://schemas.microsoft.com/office/drawing/2014/main" id="{EBB0E476-13FA-4208-A532-6DEA2AD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3840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CONTEXT INPUTS</a:t>
            </a:r>
          </a:p>
        </p:txBody>
      </p:sp>
      <p:sp>
        <p:nvSpPr>
          <p:cNvPr id="107" name="fingerprint-inputs-body">
            <a:extLst xmlns:a="http://schemas.openxmlformats.org/drawingml/2006/main">
              <a:ext uri="{FF2B5EF4-FFF2-40B4-BE49-F238E27FC236}">
                <a16:creationId xmlns:a16="http://schemas.microsoft.com/office/drawing/2014/main" id="{8D8E011C-D386-4C7F-B3B5-48894AE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955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9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signature</a:t>
            </a:r>
          </a:p>
          <a:p xmlns:a="http://schemas.openxmlformats.org/drawingml/2006/main">
            <a:pPr algn="ctr">
              <a:buNone/>
              <a:defRPr sz="769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prompt version</a:t>
            </a:r>
          </a:p>
          <a:p xmlns:a="http://schemas.openxmlformats.org/drawingml/2006/main">
            <a:pPr algn="ctr">
              <a:buNone/>
              <a:defRPr sz="769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model</a:t>
            </a:r>
          </a:p>
        </p:txBody>
      </p:sp>
      <p:sp>
        <p:nvSpPr>
          <p:cNvPr id="108" name="fingerprint-arrow-1">
            <a:extLst xmlns:a="http://schemas.openxmlformats.org/drawingml/2006/main">
              <a:ext uri="{FF2B5EF4-FFF2-40B4-BE49-F238E27FC236}">
                <a16:creationId xmlns:a16="http://schemas.microsoft.com/office/drawing/2014/main" id="{222DDD23-FD56-4939-8CCD-AD58238D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241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9" name="fingerprint-hash">
            <a:extLst xmlns:a="http://schemas.openxmlformats.org/drawingml/2006/main">
              <a:ext uri="{FF2B5EF4-FFF2-40B4-BE49-F238E27FC236}">
                <a16:creationId xmlns:a16="http://schemas.microsoft.com/office/drawing/2014/main" id="{A991814E-E7F8-46FE-9411-2A5BE7D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24100"/>
            <a:ext cx="10953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10" name="fingerprint-hash-title">
            <a:extLst xmlns:a="http://schemas.openxmlformats.org/drawingml/2006/main">
              <a:ext uri="{FF2B5EF4-FFF2-40B4-BE49-F238E27FC236}">
                <a16:creationId xmlns:a16="http://schemas.microsoft.com/office/drawing/2014/main" id="{93CDBC2C-08A2-4E8C-8F58-92A2A86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38400"/>
            <a:ext cx="942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SHA-256</a:t>
            </a:r>
          </a:p>
        </p:txBody>
      </p:sp>
      <p:sp>
        <p:nvSpPr>
          <p:cNvPr id="111" name="fingerprint-hash-body">
            <a:extLst xmlns:a="http://schemas.openxmlformats.org/drawingml/2006/main">
              <a:ext uri="{FF2B5EF4-FFF2-40B4-BE49-F238E27FC236}">
                <a16:creationId xmlns:a16="http://schemas.microsoft.com/office/drawing/2014/main" id="{B2E45819-7AE5-4E2C-942F-1D6721B3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95575"/>
            <a:ext cx="942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9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bind context</a:t>
            </a:r>
          </a:p>
        </p:txBody>
      </p:sp>
      <p:sp>
        <p:nvSpPr>
          <p:cNvPr id="112" name="fingerprint-arrow-2">
            <a:extLst xmlns:a="http://schemas.openxmlformats.org/drawingml/2006/main">
              <a:ext uri="{FF2B5EF4-FFF2-40B4-BE49-F238E27FC236}">
                <a16:creationId xmlns:a16="http://schemas.microsoft.com/office/drawing/2014/main" id="{9D964F13-11B8-4318-B8D1-0C5E4355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3" name="fingerprint-fingerprint">
            <a:extLst xmlns:a="http://schemas.openxmlformats.org/drawingml/2006/main">
              <a:ext uri="{FF2B5EF4-FFF2-40B4-BE49-F238E27FC236}">
                <a16:creationId xmlns:a16="http://schemas.microsoft.com/office/drawing/2014/main" id="{C195D294-6D9D-48AB-A003-A7AF6AED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1333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14" name="fingerprint-fingerprint-title">
            <a:extLst xmlns:a="http://schemas.openxmlformats.org/drawingml/2006/main">
              <a:ext uri="{FF2B5EF4-FFF2-40B4-BE49-F238E27FC236}">
                <a16:creationId xmlns:a16="http://schemas.microsoft.com/office/drawing/2014/main" id="{9BA7AFAB-4D0F-4980-916D-007A225B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384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FINGERPRINT</a:t>
            </a:r>
          </a:p>
        </p:txBody>
      </p:sp>
      <p:sp>
        <p:nvSpPr>
          <p:cNvPr id="115" name="fingerprint-fingerprint-body">
            <a:extLst xmlns:a="http://schemas.openxmlformats.org/drawingml/2006/main">
              <a:ext uri="{FF2B5EF4-FFF2-40B4-BE49-F238E27FC236}">
                <a16:creationId xmlns:a16="http://schemas.microsoft.com/office/drawing/2014/main" id="{C86C2BD1-05E3-4C4B-9702-8D9E0778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95575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9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69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stored with review</a:t>
            </a:r>
          </a:p>
        </p:txBody>
      </p:sp>
      <p:sp>
        <p:nvSpPr>
          <p:cNvPr id="116" name="fingerprint-match-decision">
            <a:extLst xmlns:a="http://schemas.openxmlformats.org/drawingml/2006/main">
              <a:ext uri="{FF2B5EF4-FFF2-40B4-BE49-F238E27FC236}">
                <a16:creationId xmlns:a16="http://schemas.microsoft.com/office/drawing/2014/main" id="{0F50D0A7-92CC-46F3-BACC-947D8E6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9825"/>
            <a:ext cx="781050" cy="7810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5465F"/>
          </a:solidFill>
          <a:ln xmlns:a="http://schemas.openxmlformats.org/drawingml/2006/main" w="19050">
            <a:solidFill>
              <a:srgbClr val="C0A282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SAME?</a:t>
            </a:r>
          </a:p>
        </p:txBody>
      </p:sp>
      <p:sp>
        <p:nvSpPr>
          <p:cNvPr id="117" name="fingerprint-decision-arrow">
            <a:extLst xmlns:a="http://schemas.openxmlformats.org/drawingml/2006/main">
              <a:ext uri="{FF2B5EF4-FFF2-40B4-BE49-F238E27FC236}">
                <a16:creationId xmlns:a16="http://schemas.microsoft.com/office/drawing/2014/main" id="{A7FC704F-6CB3-45DC-8BF1-9136BFE0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8" name="fingerprint-match-yes">
            <a:extLst xmlns:a="http://schemas.openxmlformats.org/drawingml/2006/main">
              <a:ext uri="{FF2B5EF4-FFF2-40B4-BE49-F238E27FC236}">
                <a16:creationId xmlns:a16="http://schemas.microsoft.com/office/drawing/2014/main" id="{0D94B3F5-B5A2-46B0-8283-142A354C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171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C0A282"/>
            </a:solidFill>
            <a:prstDash val="solid"/>
          </a:ln>
        </p:spPr>
      </p:sp>
      <p:sp>
        <p:nvSpPr>
          <p:cNvPr id="119" name="fingerprint-match-yes-text">
            <a:extLst xmlns:a="http://schemas.openxmlformats.org/drawingml/2006/main">
              <a:ext uri="{FF2B5EF4-FFF2-40B4-BE49-F238E27FC236}">
                <a16:creationId xmlns:a16="http://schemas.microsoft.com/office/drawing/2014/main" id="{946ACED6-1777-44C3-8889-0670C7DC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9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YES  •  hide only from default view</a:t>
            </a:r>
          </a:p>
          <a:p xmlns:a="http://schemas.openxmlformats.org/drawingml/2006/main">
            <a:pPr algn="ctr">
              <a:buNone/>
              <a:defRPr sz="769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inference and record continue</a:t>
            </a:r>
          </a:p>
        </p:txBody>
      </p:sp>
      <p:sp>
        <p:nvSpPr>
          <p:cNvPr id="120" name="fingerprint-match-no">
            <a:extLst xmlns:a="http://schemas.openxmlformats.org/drawingml/2006/main">
              <a:ext uri="{FF2B5EF4-FFF2-40B4-BE49-F238E27FC236}">
                <a16:creationId xmlns:a16="http://schemas.microsoft.com/office/drawing/2014/main" id="{437B8259-DE0A-4F73-A7A7-C4958997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9525">
            <a:solidFill>
              <a:srgbClr val="F7A6A1"/>
            </a:solidFill>
            <a:prstDash val="solid"/>
          </a:ln>
        </p:spPr>
      </p:sp>
      <p:sp>
        <p:nvSpPr>
          <p:cNvPr id="121" name="fingerprint-match-no-text">
            <a:extLst xmlns:a="http://schemas.openxmlformats.org/drawingml/2006/main">
              <a:ext uri="{FF2B5EF4-FFF2-40B4-BE49-F238E27FC236}">
                <a16:creationId xmlns:a16="http://schemas.microsoft.com/office/drawing/2014/main" id="{9DD9EB43-941D-4D91-BD17-628D05EA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9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  •  fresh review</a:t>
            </a:r>
          </a:p>
          <a:p xmlns:a="http://schemas.openxmlformats.org/drawingml/2006/main">
            <a:pPr algn="ctr">
              <a:buNone/>
              <a:defRPr sz="769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prompt/model change also resets</a:t>
            </a:r>
          </a:p>
        </p:txBody>
      </p:sp>
      <p:sp>
        <p:nvSpPr>
          <p:cNvPr id="122" name="fingerprint-yes-branch">
            <a:extLst xmlns:a="http://schemas.openxmlformats.org/drawingml/2006/main">
              <a:ext uri="{FF2B5EF4-FFF2-40B4-BE49-F238E27FC236}">
                <a16:creationId xmlns:a16="http://schemas.microsoft.com/office/drawing/2014/main" id="{D8D9D16E-22CA-4478-B5A7-76DF0861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03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A282"/>
            </a:solidFill>
            <a:prstDash val="solid"/>
          </a:ln>
        </p:spPr>
      </p:sp>
      <p:sp>
        <p:nvSpPr>
          <p:cNvPr id="123" name="fingerprint-no-branch">
            <a:extLst xmlns:a="http://schemas.openxmlformats.org/drawingml/2006/main">
              <a:ext uri="{FF2B5EF4-FFF2-40B4-BE49-F238E27FC236}">
                <a16:creationId xmlns:a16="http://schemas.microsoft.com/office/drawing/2014/main" id="{0C93C0B1-527E-4293-BC1C-028B057F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90875"/>
            <a:ext cx="56197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3831"/>
            </a:solidFill>
            <a:prstDash val="solid"/>
          </a:ln>
        </p:spPr>
      </p:sp>
      <p:sp>
        <p:nvSpPr>
          <p:cNvPr id="124" name="fingerprint-chip-1">
            <a:extLst xmlns:a="http://schemas.openxmlformats.org/drawingml/2006/main">
              <a:ext uri="{FF2B5EF4-FFF2-40B4-BE49-F238E27FC236}">
                <a16:creationId xmlns:a16="http://schemas.microsoft.com/office/drawing/2014/main" id="{378CAF7D-8237-4819-B277-494E04C2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5700"/>
            <a:ext cx="2333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25" name="fingerprint-chip-text-1">
            <a:extLst xmlns:a="http://schemas.openxmlformats.org/drawingml/2006/main">
              <a:ext uri="{FF2B5EF4-FFF2-40B4-BE49-F238E27FC236}">
                <a16:creationId xmlns:a16="http://schemas.microsoft.com/office/drawing/2014/main" id="{7F51E42C-5911-474D-B6B7-9A144691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24275"/>
            <a:ext cx="2219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1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31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27/30 later warnings hidden</a:t>
            </a:r>
          </a:p>
        </p:txBody>
      </p:sp>
      <p:sp>
        <p:nvSpPr>
          <p:cNvPr id="126" name="fingerprint-chip-2">
            <a:extLst xmlns:a="http://schemas.openxmlformats.org/drawingml/2006/main">
              <a:ext uri="{FF2B5EF4-FFF2-40B4-BE49-F238E27FC236}">
                <a16:creationId xmlns:a16="http://schemas.microsoft.com/office/drawing/2014/main" id="{8A76DC2B-56A8-40C5-B6C3-EB0433EE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95700"/>
            <a:ext cx="2428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27" name="fingerprint-chip-text-2">
            <a:extLst xmlns:a="http://schemas.openxmlformats.org/drawingml/2006/main">
              <a:ext uri="{FF2B5EF4-FFF2-40B4-BE49-F238E27FC236}">
                <a16:creationId xmlns:a16="http://schemas.microsoft.com/office/drawing/2014/main" id="{9C01B4E4-C330-4F8C-A984-26D55542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24275"/>
            <a:ext cx="2314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1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31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30/30 calls and records retained</a:t>
            </a:r>
          </a:p>
        </p:txBody>
      </p:sp>
      <p:sp>
        <p:nvSpPr>
          <p:cNvPr id="128" name="fingerprint-chip-3">
            <a:extLst xmlns:a="http://schemas.openxmlformats.org/drawingml/2006/main">
              <a:ext uri="{FF2B5EF4-FFF2-40B4-BE49-F238E27FC236}">
                <a16:creationId xmlns:a16="http://schemas.microsoft.com/office/drawing/2014/main" id="{8481BCBF-63DE-439E-B147-266EEED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95700"/>
            <a:ext cx="2714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44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</p:sp>
      <p:sp>
        <p:nvSpPr>
          <p:cNvPr id="129" name="fingerprint-chip-text-3">
            <a:extLst xmlns:a="http://schemas.openxmlformats.org/drawingml/2006/main">
              <a:ext uri="{FF2B5EF4-FFF2-40B4-BE49-F238E27FC236}">
                <a16:creationId xmlns:a16="http://schemas.microsoft.com/office/drawing/2014/main" id="{A78BA8AF-FC5E-43F6-8B2E-9E3C65CD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24275"/>
            <a:ext cx="2600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31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731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high + critical always visible</a:t>
            </a:r>
          </a:p>
        </p:txBody>
      </p:sp>
    </p:spTree>
    <p:extLst>
      <p:ext uri="{BB962C8B-B14F-4D97-AF65-F5344CB8AC3E}">
        <p14:creationId xmlns:p14="http://schemas.microsoft.com/office/powerpoint/2010/main" val="20271363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5BB0AB44-08D6-1BF3-91CA-740D15696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406560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Evidence streams stay separate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97D9ADB7-0603-2DBC-A1B2-213E59870F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4114800"/>
            <a:ext cx="821483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994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994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Boundary — controlled verification and small human samples, not field effectiveness</a:t>
            </a:r>
          </a:p>
        </p:txBody>
      </p:sp>
      <p:cxnSp>
        <p:nvCxnSpPr>
          <p:cNvPr id="118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79DBF484-7568-C63F-3A19-08308D7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2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73104acf543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C164B81D-ABFE-43F1-BDED-DCDD60BB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22860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33350" tIns="123825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FROZEN MODEL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72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incident responses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24 fixtures × 3
RAG/no-RAG: 36 + 36</a:t>
            </a:r>
          </a:p>
        </p:txBody>
      </p:sp>
      <p:sp>
        <p:nvSpPr>
          <p:cNvPr id="92" name="evidence-card-accent-1">
            <a:extLst xmlns:a="http://schemas.openxmlformats.org/drawingml/2006/main">
              <a:ext uri="{FF2B5EF4-FFF2-40B4-BE49-F238E27FC236}">
                <a16:creationId xmlns:a16="http://schemas.microsoft.com/office/drawing/2014/main" id="{E727DA9C-0DA8-443C-AD98-1FE8659A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14F"/>
          </a:solidFill>
          <a:ln xmlns:a="http://schemas.openxmlformats.org/drawingml/2006/main" w="0">
            <a:solidFill>
              <a:srgbClr val="0B314F"/>
            </a:solidFill>
            <a:prstDash val="solid"/>
          </a:ln>
        </p:spPr>
      </p:sp>
      <p:sp>
        <p:nvSpPr>
          <p:cNvPr id="93" name="evidence-divider-1">
            <a:extLst xmlns:a="http://schemas.openxmlformats.org/drawingml/2006/main">
              <a:ext uri="{FF2B5EF4-FFF2-40B4-BE49-F238E27FC236}">
                <a16:creationId xmlns:a16="http://schemas.microsoft.com/office/drawing/2014/main" id="{6760A4FE-87F6-4848-BD9B-5F6FB567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4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98A7809E-C680-4720-B210-ECD6AE3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2860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33350" tIns="123825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QUALITATIVE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operations practitioners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144 retained outputs
separate scoring</a:t>
            </a:r>
          </a:p>
        </p:txBody>
      </p:sp>
      <p:sp>
        <p:nvSpPr>
          <p:cNvPr id="95" name="evidence-card-accent-2">
            <a:extLst xmlns:a="http://schemas.openxmlformats.org/drawingml/2006/main">
              <a:ext uri="{FF2B5EF4-FFF2-40B4-BE49-F238E27FC236}">
                <a16:creationId xmlns:a16="http://schemas.microsoft.com/office/drawing/2014/main" id="{2CA3A1E1-25AB-4CA9-AF4E-DF40B9BF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96" name="evidence-divider-2">
            <a:extLst xmlns:a="http://schemas.openxmlformats.org/drawingml/2006/main">
              <a:ext uri="{FF2B5EF4-FFF2-40B4-BE49-F238E27FC236}">
                <a16:creationId xmlns:a16="http://schemas.microsoft.com/office/drawing/2014/main" id="{8960A2EB-91B4-4CD7-9084-2587DFAB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7" name="evidence-card-3">
            <a:extLst xmlns:a="http://schemas.openxmlformats.org/drawingml/2006/main">
              <a:ext uri="{FF2B5EF4-FFF2-40B4-BE49-F238E27FC236}">
                <a16:creationId xmlns:a16="http://schemas.microsoft.com/office/drawing/2014/main" id="{C48DA3CE-B449-477A-92BB-8545712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81200"/>
            <a:ext cx="22860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  <p:txBody>
          <a:bodyPr xmlns:a="http://schemas.openxmlformats.org/drawingml/2006/main" wrap="square" lIns="133350" tIns="123825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SUS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10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complete responses</a:t>
            </a:r>
          </a:p>
          <a:p xmlns:a="http://schemas.openxmlformats.org/drawingml/2006/main">
            <a:pPr algn="ctr">
              <a:buNone/>
              <a:defRPr sz="788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11 consented
perceived usability</a:t>
            </a:r>
          </a:p>
        </p:txBody>
      </p:sp>
      <p:sp>
        <p:nvSpPr>
          <p:cNvPr id="98" name="evidence-card-accent-3">
            <a:extLst xmlns:a="http://schemas.openxmlformats.org/drawingml/2006/main">
              <a:ext uri="{FF2B5EF4-FFF2-40B4-BE49-F238E27FC236}">
                <a16:creationId xmlns:a16="http://schemas.microsoft.com/office/drawing/2014/main" id="{D632201C-0841-4625-AD93-9910132F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812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99" name="evidence-divider-3">
            <a:extLst xmlns:a="http://schemas.openxmlformats.org/drawingml/2006/main">
              <a:ext uri="{FF2B5EF4-FFF2-40B4-BE49-F238E27FC236}">
                <a16:creationId xmlns:a16="http://schemas.microsoft.com/office/drawing/2014/main" id="{627895AA-2B4B-47C4-82F4-073F271A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766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04022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E7749026-8990-A95E-5684-CF562DB49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406560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Targeted paths now pass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4132265A-49C1-EDF3-57A5-1E033FC18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4114800"/>
            <a:ext cx="8214836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956" b="1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956" b="1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Boundary — mocked-path coverage is software verification, not live-service, diagnostic or production effectiveness</a:t>
            </a:r>
          </a:p>
        </p:txBody>
      </p:sp>
      <p:cxnSp>
        <p:nvCxnSpPr>
          <p:cNvPr id="145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0EA5BED6-F809-286E-6B52-29C8DAF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21aca797c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tests-passed-surface">
            <a:extLst xmlns:a="http://schemas.openxmlformats.org/drawingml/2006/main">
              <a:ext uri="{FF2B5EF4-FFF2-40B4-BE49-F238E27FC236}">
                <a16:creationId xmlns:a16="http://schemas.microsoft.com/office/drawing/2014/main" id="{3CE3A393-5C21-486E-9F32-481B581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666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2" name="tests-passed-value">
            <a:extLst xmlns:a="http://schemas.openxmlformats.org/drawingml/2006/main">
              <a:ext uri="{FF2B5EF4-FFF2-40B4-BE49-F238E27FC236}">
                <a16:creationId xmlns:a16="http://schemas.microsoft.com/office/drawing/2014/main" id="{CF21C738-158F-414E-A734-C9A6C411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4787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148</a:t>
            </a:r>
          </a:p>
        </p:txBody>
      </p:sp>
      <p:sp>
        <p:nvSpPr>
          <p:cNvPr id="93" name="tests-passed-label">
            <a:extLst xmlns:a="http://schemas.openxmlformats.org/drawingml/2006/main">
              <a:ext uri="{FF2B5EF4-FFF2-40B4-BE49-F238E27FC236}">
                <a16:creationId xmlns:a16="http://schemas.microsoft.com/office/drawing/2014/main" id="{587343EF-15C5-45EA-BACF-83B1118D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28875"/>
            <a:ext cx="151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TESTS PASSED</a:t>
            </a:r>
          </a:p>
        </p:txBody>
      </p:sp>
      <p:sp>
        <p:nvSpPr>
          <p:cNvPr id="94" name="tests-failed-surface">
            <a:extLst xmlns:a="http://schemas.openxmlformats.org/drawingml/2006/main">
              <a:ext uri="{FF2B5EF4-FFF2-40B4-BE49-F238E27FC236}">
                <a16:creationId xmlns:a16="http://schemas.microsoft.com/office/drawing/2014/main" id="{847A2E92-54FA-4D4D-B711-7A1B50D8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52625"/>
            <a:ext cx="16668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5" name="tests-failed-value">
            <a:extLst xmlns:a="http://schemas.openxmlformats.org/drawingml/2006/main">
              <a:ext uri="{FF2B5EF4-FFF2-40B4-BE49-F238E27FC236}">
                <a16:creationId xmlns:a16="http://schemas.microsoft.com/office/drawing/2014/main" id="{11EECB29-6CB9-417F-B16E-D4D8C5DC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4787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96" name="tests-failed-label">
            <a:extLst xmlns:a="http://schemas.openxmlformats.org/drawingml/2006/main">
              <a:ext uri="{FF2B5EF4-FFF2-40B4-BE49-F238E27FC236}">
                <a16:creationId xmlns:a16="http://schemas.microsoft.com/office/drawing/2014/main" id="{96A43562-42A1-4ABC-AAA6-5195C183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28875"/>
            <a:ext cx="151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FAILED</a:t>
            </a:r>
          </a:p>
        </p:txBody>
      </p:sp>
      <p:sp>
        <p:nvSpPr>
          <p:cNvPr id="97" name="coverage-heading">
            <a:extLst xmlns:a="http://schemas.openxmlformats.org/drawingml/2006/main">
              <a:ext uri="{FF2B5EF4-FFF2-40B4-BE49-F238E27FC236}">
                <a16:creationId xmlns:a16="http://schemas.microsoft.com/office/drawing/2014/main" id="{703979FC-7B00-4CD8-80CA-BEAE3920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24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Overall line coverage</a:t>
            </a:r>
          </a:p>
        </p:txBody>
      </p:sp>
      <p:sp>
        <p:nvSpPr>
          <p:cNvPr id="98" name="coverage-bar-label-1">
            <a:extLst xmlns:a="http://schemas.openxmlformats.org/drawingml/2006/main">
              <a:ext uri="{FF2B5EF4-FFF2-40B4-BE49-F238E27FC236}">
                <a16:creationId xmlns:a16="http://schemas.microsoft.com/office/drawing/2014/main" id="{4855EED7-655A-41AB-B7C1-FD6A2721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1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16 Aug baseline</a:t>
            </a:r>
          </a:p>
        </p:txBody>
      </p:sp>
      <p:sp>
        <p:nvSpPr>
          <p:cNvPr id="99" name="coverage-bar-track-1">
            <a:extLst xmlns:a="http://schemas.openxmlformats.org/drawingml/2006/main">
              <a:ext uri="{FF2B5EF4-FFF2-40B4-BE49-F238E27FC236}">
                <a16:creationId xmlns:a16="http://schemas.microsoft.com/office/drawing/2014/main" id="{3603FD0D-0C9E-4216-BB1E-984EBD2C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9EC"/>
          </a:solidFill>
          <a:ln xmlns:a="http://schemas.openxmlformats.org/drawingml/2006/main" w="0">
            <a:solidFill>
              <a:srgbClr val="E3E9EC"/>
            </a:solidFill>
            <a:prstDash val="solid"/>
          </a:ln>
        </p:spPr>
      </p:sp>
      <p:sp>
        <p:nvSpPr>
          <p:cNvPr id="100" name="coverage-bar-fill-1">
            <a:extLst xmlns:a="http://schemas.openxmlformats.org/drawingml/2006/main">
              <a:ext uri="{FF2B5EF4-FFF2-40B4-BE49-F238E27FC236}">
                <a16:creationId xmlns:a16="http://schemas.microsoft.com/office/drawing/2014/main" id="{57238F0F-A671-43EC-9C2E-ED085EA7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24100"/>
            <a:ext cx="138303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1" name="coverage-bar-value-1">
            <a:extLst xmlns:a="http://schemas.openxmlformats.org/drawingml/2006/main">
              <a:ext uri="{FF2B5EF4-FFF2-40B4-BE49-F238E27FC236}">
                <a16:creationId xmlns:a16="http://schemas.microsoft.com/office/drawing/2014/main" id="{E518D1BC-B1B8-40BA-BB26-DB56024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66%</a:t>
            </a:r>
          </a:p>
        </p:txBody>
      </p:sp>
      <p:sp>
        <p:nvSpPr>
          <p:cNvPr id="102" name="coverage-bar-label-2">
            <a:extLst xmlns:a="http://schemas.openxmlformats.org/drawingml/2006/main">
              <a:ext uri="{FF2B5EF4-FFF2-40B4-BE49-F238E27FC236}">
                <a16:creationId xmlns:a16="http://schemas.microsoft.com/office/drawing/2014/main" id="{72C69AEE-000A-4826-B955-1E83BA54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1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28 Aug final</a:t>
            </a:r>
          </a:p>
        </p:txBody>
      </p:sp>
      <p:sp>
        <p:nvSpPr>
          <p:cNvPr id="103" name="coverage-bar-track-2">
            <a:extLst xmlns:a="http://schemas.openxmlformats.org/drawingml/2006/main">
              <a:ext uri="{FF2B5EF4-FFF2-40B4-BE49-F238E27FC236}">
                <a16:creationId xmlns:a16="http://schemas.microsoft.com/office/drawing/2014/main" id="{D4B97827-6185-4023-8BB7-ADF146A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24150"/>
            <a:ext cx="2095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9EC"/>
          </a:solidFill>
          <a:ln xmlns:a="http://schemas.openxmlformats.org/drawingml/2006/main" w="0">
            <a:solidFill>
              <a:srgbClr val="E3E9EC"/>
            </a:solidFill>
            <a:prstDash val="solid"/>
          </a:ln>
        </p:spPr>
      </p:sp>
      <p:sp>
        <p:nvSpPr>
          <p:cNvPr id="104" name="coverage-bar-fill-2">
            <a:extLst xmlns:a="http://schemas.openxmlformats.org/drawingml/2006/main">
              <a:ext uri="{FF2B5EF4-FFF2-40B4-BE49-F238E27FC236}">
                <a16:creationId xmlns:a16="http://schemas.microsoft.com/office/drawing/2014/main" id="{1F15EF07-9976-4585-9082-597CB469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24150"/>
            <a:ext cx="182308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5" name="coverage-bar-value-2">
            <a:extLst xmlns:a="http://schemas.openxmlformats.org/drawingml/2006/main">
              <a:ext uri="{FF2B5EF4-FFF2-40B4-BE49-F238E27FC236}">
                <a16:creationId xmlns:a16="http://schemas.microsoft.com/office/drawing/2014/main" id="{CB207BC3-A3F5-4B2E-884F-BDE678FB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63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863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87%</a:t>
            </a:r>
          </a:p>
        </p:txBody>
      </p:sp>
      <p:sp>
        <p:nvSpPr>
          <p:cNvPr id="106" name="targeted-heading">
            <a:extLst xmlns:a="http://schemas.openxmlformats.org/drawingml/2006/main">
              <a:ext uri="{FF2B5EF4-FFF2-40B4-BE49-F238E27FC236}">
                <a16:creationId xmlns:a16="http://schemas.microsoft.com/office/drawing/2014/main" id="{7D0BE67B-F79C-4A95-B5A5-FEB6CF2A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76575"/>
            <a:ext cx="7762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80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SUPERVISOR-TARGETED MODULES  •  100% EACH</a:t>
            </a:r>
          </a:p>
        </p:txBody>
      </p:sp>
      <p:sp>
        <p:nvSpPr>
          <p:cNvPr id="107" name="target-module-1">
            <a:extLst xmlns:a="http://schemas.openxmlformats.org/drawingml/2006/main">
              <a:ext uri="{FF2B5EF4-FFF2-40B4-BE49-F238E27FC236}">
                <a16:creationId xmlns:a16="http://schemas.microsoft.com/office/drawing/2014/main" id="{4BF2BDAA-AC13-4484-A9CE-E69970EF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40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08" name="target-module-accent-1">
            <a:extLst xmlns:a="http://schemas.openxmlformats.org/drawingml/2006/main">
              <a:ext uri="{FF2B5EF4-FFF2-40B4-BE49-F238E27FC236}">
                <a16:creationId xmlns:a16="http://schemas.microsoft.com/office/drawing/2014/main" id="{60C60613-2AC3-4F8D-8738-E98C2AAC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528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9" name="target-module-value-1">
            <a:extLst xmlns:a="http://schemas.openxmlformats.org/drawingml/2006/main">
              <a:ext uri="{FF2B5EF4-FFF2-40B4-BE49-F238E27FC236}">
                <a16:creationId xmlns:a16="http://schemas.microsoft.com/office/drawing/2014/main" id="{3A6BC67B-BCDB-428D-983B-0F95F1AE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85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10" name="target-module-label-1">
            <a:extLst xmlns:a="http://schemas.openxmlformats.org/drawingml/2006/main">
              <a:ext uri="{FF2B5EF4-FFF2-40B4-BE49-F238E27FC236}">
                <a16:creationId xmlns:a16="http://schemas.microsoft.com/office/drawing/2014/main" id="{6C7155DF-0E63-4343-A20D-D999F52F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LangChain</a:t>
            </a:r>
          </a:p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multi-tool agent</a:t>
            </a:r>
          </a:p>
        </p:txBody>
      </p:sp>
      <p:sp>
        <p:nvSpPr>
          <p:cNvPr id="111" name="target-module-2">
            <a:extLst xmlns:a="http://schemas.openxmlformats.org/drawingml/2006/main">
              <a:ext uri="{FF2B5EF4-FFF2-40B4-BE49-F238E27FC236}">
                <a16:creationId xmlns:a16="http://schemas.microsoft.com/office/drawing/2014/main" id="{71439D5C-7BBB-45BE-8C65-3C038D9F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40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2" name="target-module-accent-2">
            <a:extLst xmlns:a="http://schemas.openxmlformats.org/drawingml/2006/main">
              <a:ext uri="{FF2B5EF4-FFF2-40B4-BE49-F238E27FC236}">
                <a16:creationId xmlns:a16="http://schemas.microsoft.com/office/drawing/2014/main" id="{DA0D542B-7354-4370-9DED-65BCF381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3" name="target-module-value-2">
            <a:extLst xmlns:a="http://schemas.openxmlformats.org/drawingml/2006/main">
              <a:ext uri="{FF2B5EF4-FFF2-40B4-BE49-F238E27FC236}">
                <a16:creationId xmlns:a16="http://schemas.microsoft.com/office/drawing/2014/main" id="{66A6C923-615B-4A3F-AB23-3E3FCF55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385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14" name="target-module-label-2">
            <a:extLst xmlns:a="http://schemas.openxmlformats.org/drawingml/2006/main">
              <a:ext uri="{FF2B5EF4-FFF2-40B4-BE49-F238E27FC236}">
                <a16:creationId xmlns:a16="http://schemas.microsoft.com/office/drawing/2014/main" id="{0742B8A6-F45C-454A-84ED-83873D8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Scheduled agent</a:t>
            </a:r>
          </a:p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entry point</a:t>
            </a:r>
          </a:p>
        </p:txBody>
      </p:sp>
      <p:sp>
        <p:nvSpPr>
          <p:cNvPr id="115" name="target-module-3">
            <a:extLst xmlns:a="http://schemas.openxmlformats.org/drawingml/2006/main">
              <a:ext uri="{FF2B5EF4-FFF2-40B4-BE49-F238E27FC236}">
                <a16:creationId xmlns:a16="http://schemas.microsoft.com/office/drawing/2014/main" id="{C5391642-F66F-47A6-ADFC-1B3F5878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52800"/>
            <a:ext cx="140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6" name="target-module-accent-3">
            <a:extLst xmlns:a="http://schemas.openxmlformats.org/drawingml/2006/main">
              <a:ext uri="{FF2B5EF4-FFF2-40B4-BE49-F238E27FC236}">
                <a16:creationId xmlns:a16="http://schemas.microsoft.com/office/drawing/2014/main" id="{112EAB57-74C2-4FAD-AA86-C939F9B7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528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17" name="target-module-value-3">
            <a:extLst xmlns:a="http://schemas.openxmlformats.org/drawingml/2006/main">
              <a:ext uri="{FF2B5EF4-FFF2-40B4-BE49-F238E27FC236}">
                <a16:creationId xmlns:a16="http://schemas.microsoft.com/office/drawing/2014/main" id="{1869DDEF-40A3-4F9F-9CF7-22DD9E85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4385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18" name="target-module-label-3">
            <a:extLst xmlns:a="http://schemas.openxmlformats.org/drawingml/2006/main">
              <a:ext uri="{FF2B5EF4-FFF2-40B4-BE49-F238E27FC236}">
                <a16:creationId xmlns:a16="http://schemas.microsoft.com/office/drawing/2014/main" id="{EE959143-65F5-430C-96AD-FEA6278B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Docker API</a:t>
            </a:r>
          </a:p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collector</a:t>
            </a:r>
          </a:p>
        </p:txBody>
      </p:sp>
      <p:sp>
        <p:nvSpPr>
          <p:cNvPr id="119" name="target-module-4">
            <a:extLst xmlns:a="http://schemas.openxmlformats.org/drawingml/2006/main">
              <a:ext uri="{FF2B5EF4-FFF2-40B4-BE49-F238E27FC236}">
                <a16:creationId xmlns:a16="http://schemas.microsoft.com/office/drawing/2014/main" id="{48B99F88-77E9-4B1F-A399-BB909B1E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40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20" name="target-module-accent-4">
            <a:extLst xmlns:a="http://schemas.openxmlformats.org/drawingml/2006/main">
              <a:ext uri="{FF2B5EF4-FFF2-40B4-BE49-F238E27FC236}">
                <a16:creationId xmlns:a16="http://schemas.microsoft.com/office/drawing/2014/main" id="{A404287A-A62B-4E2F-B548-43E40351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528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21" name="target-module-value-4">
            <a:extLst xmlns:a="http://schemas.openxmlformats.org/drawingml/2006/main">
              <a:ext uri="{FF2B5EF4-FFF2-40B4-BE49-F238E27FC236}">
                <a16:creationId xmlns:a16="http://schemas.microsoft.com/office/drawing/2014/main" id="{50BD7B42-2A06-49A0-A32E-1F165A0A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385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22" name="target-module-label-4">
            <a:extLst xmlns:a="http://schemas.openxmlformats.org/drawingml/2006/main">
              <a:ext uri="{FF2B5EF4-FFF2-40B4-BE49-F238E27FC236}">
                <a16:creationId xmlns:a16="http://schemas.microsoft.com/office/drawing/2014/main" id="{849B4793-E081-4B95-9AE3-6491CD0A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Docker event</a:t>
            </a:r>
          </a:p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collector</a:t>
            </a:r>
          </a:p>
        </p:txBody>
      </p:sp>
      <p:sp>
        <p:nvSpPr>
          <p:cNvPr id="123" name="target-module-5">
            <a:extLst xmlns:a="http://schemas.openxmlformats.org/drawingml/2006/main">
              <a:ext uri="{FF2B5EF4-FFF2-40B4-BE49-F238E27FC236}">
                <a16:creationId xmlns:a16="http://schemas.microsoft.com/office/drawing/2014/main" id="{D9F31A27-3826-4188-BF50-63DE1324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52800"/>
            <a:ext cx="1409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24" name="target-module-accent-5">
            <a:extLst xmlns:a="http://schemas.openxmlformats.org/drawingml/2006/main">
              <a:ext uri="{FF2B5EF4-FFF2-40B4-BE49-F238E27FC236}">
                <a16:creationId xmlns:a16="http://schemas.microsoft.com/office/drawing/2014/main" id="{F97F917D-3AD4-4D21-AE7A-998FB5FD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52800"/>
            <a:ext cx="140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25" name="target-module-value-5">
            <a:extLst xmlns:a="http://schemas.openxmlformats.org/drawingml/2006/main">
              <a:ext uri="{FF2B5EF4-FFF2-40B4-BE49-F238E27FC236}">
                <a16:creationId xmlns:a16="http://schemas.microsoft.com/office/drawing/2014/main" id="{BB328A04-33E2-43BB-8D17-FF7B0807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385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100%</a:t>
            </a:r>
          </a:p>
        </p:txBody>
      </p:sp>
      <p:sp>
        <p:nvSpPr>
          <p:cNvPr id="126" name="target-module-label-5">
            <a:extLst xmlns:a="http://schemas.openxmlformats.org/drawingml/2006/main">
              <a:ext uri="{FF2B5EF4-FFF2-40B4-BE49-F238E27FC236}">
                <a16:creationId xmlns:a16="http://schemas.microsoft.com/office/drawing/2014/main" id="{60EE833B-C54C-42C5-944E-E22263A5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385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ChromaDB</a:t>
            </a:r>
          </a:p>
          <a:p xmlns:a="http://schemas.openxmlformats.org/drawingml/2006/main">
            <a:pPr algn="ctr">
              <a:buNone/>
              <a:defRPr sz="656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656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vector store</a:t>
            </a:r>
          </a:p>
        </p:txBody>
      </p:sp>
    </p:spTree>
    <p:extLst>
      <p:ext uri="{BB962C8B-B14F-4D97-AF65-F5344CB8AC3E}">
        <p14:creationId xmlns:p14="http://schemas.microsoft.com/office/powerpoint/2010/main" val="37035474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B59DA8BC-98DD-0625-DE1C-8EE11BC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-5196"/>
            <a:ext cx="9288450" cy="5320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34468AB8-7B5E-EFB9-0516-3F92B695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3573899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Severity is poorly calibrated</a:t>
            </a: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3353B898-44C9-9A9C-80E1-2B91EB5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" y="4038600"/>
            <a:ext cx="8214836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994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94" b="1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100% schema validity ≠ diagnostic calibration. Human review is mandatory; there is no unattended-triage claim.</a:t>
            </a:r>
          </a:p>
        </p:txBody>
      </p:sp>
      <p:cxnSp>
        <p:nvCxnSpPr>
          <p:cNvPr id="133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0DDA3CF-EF31-AC2E-EDFA-78ECF93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3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adb3622144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  <p:sp>
        <p:nvSpPr>
          <p:cNvPr id="104" name="severity-metric-1">
            <a:extLst xmlns:a="http://schemas.openxmlformats.org/drawingml/2006/main">
              <a:ext uri="{FF2B5EF4-FFF2-40B4-BE49-F238E27FC236}">
                <a16:creationId xmlns:a16="http://schemas.microsoft.com/office/drawing/2014/main" id="{60D5CBA3-384E-4795-A764-CC66803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40.3%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EXACT SEVERITY
ACCURACY</a:t>
            </a:r>
          </a:p>
        </p:txBody>
      </p:sp>
      <p:sp>
        <p:nvSpPr>
          <p:cNvPr id="105" name="severity-metric-2">
            <a:extLst xmlns:a="http://schemas.openxmlformats.org/drawingml/2006/main">
              <a:ext uri="{FF2B5EF4-FFF2-40B4-BE49-F238E27FC236}">
                <a16:creationId xmlns:a16="http://schemas.microsoft.com/office/drawing/2014/main" id="{D79A187F-6F4B-4D50-9228-F070C20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0.383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MACRO-F1</a:t>
            </a:r>
          </a:p>
        </p:txBody>
      </p:sp>
      <p:sp>
        <p:nvSpPr>
          <p:cNvPr id="106" name="severity-metric-3">
            <a:extLst xmlns:a="http://schemas.openxmlformats.org/drawingml/2006/main">
              <a:ext uri="{FF2B5EF4-FFF2-40B4-BE49-F238E27FC236}">
                <a16:creationId xmlns:a16="http://schemas.microsoft.com/office/drawing/2014/main" id="{DAEFE6B3-C667-42A9-A254-A10092E9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0%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WARNING RECALL</a:t>
            </a:r>
          </a:p>
        </p:txBody>
      </p:sp>
      <p:sp>
        <p:nvSpPr>
          <p:cNvPr id="107" name="severity-metric-4">
            <a:extLst xmlns:a="http://schemas.openxmlformats.org/drawingml/2006/main">
              <a:ext uri="{FF2B5EF4-FFF2-40B4-BE49-F238E27FC236}">
                <a16:creationId xmlns:a16="http://schemas.microsoft.com/office/drawing/2014/main" id="{F3C5C74C-A8EE-4C83-AC9C-CDE8DFC7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812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4F7185"/>
            </a:solidFill>
            <a:prstDash val="solid"/>
          </a:ln>
        </p:spPr>
        <p:txBody>
          <a:bodyPr xmlns:a="http://schemas.openxmlformats.org/drawingml/2006/main" wrap="square" lIns="76200" tIns="9525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100%</a:t>
            </a:r>
          </a:p>
          <a:p xmlns:a="http://schemas.openxmlformats.org/drawingml/2006/main">
            <a:pPr algn="ctr">
              <a:buNone/>
              <a:defRPr sz="825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CRITICAL RECALL</a:t>
            </a:r>
          </a:p>
        </p:txBody>
      </p:sp>
      <p:sp>
        <p:nvSpPr>
          <p:cNvPr id="108" name="severity-undercall">
            <a:extLst xmlns:a="http://schemas.openxmlformats.org/drawingml/2006/main">
              <a:ext uri="{FF2B5EF4-FFF2-40B4-BE49-F238E27FC236}">
                <a16:creationId xmlns:a16="http://schemas.microsoft.com/office/drawing/2014/main" id="{B6C5DE7C-B70F-4DAF-A931-F2DEFEF9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61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C2F3B"/>
          </a:solidFill>
          <a:ln xmlns:a="http://schemas.openxmlformats.org/drawingml/2006/main" w="9525">
            <a:solidFill>
              <a:srgbClr val="E83831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6 HIGH-SEVERITY CASES</a:t>
            </a:r>
          </a:p>
          <a:p xmlns:a="http://schemas.openxmlformats.org/drawingml/2006/main">
            <a:pPr algn="ctr">
              <a:buNone/>
              <a:defRPr sz="938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were under-classified</a:t>
            </a:r>
          </a:p>
        </p:txBody>
      </p:sp>
      <p:sp>
        <p:nvSpPr>
          <p:cNvPr id="109" name="severity-critical-precision">
            <a:extLst xmlns:a="http://schemas.openxmlformats.org/drawingml/2006/main">
              <a:ext uri="{FF2B5EF4-FFF2-40B4-BE49-F238E27FC236}">
                <a16:creationId xmlns:a16="http://schemas.microsoft.com/office/drawing/2014/main" id="{423A95C8-E8D9-41C7-B2DE-2C8E63AD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81350"/>
            <a:ext cx="361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5465F"/>
          </a:solidFill>
          <a:ln xmlns:a="http://schemas.openxmlformats.org/drawingml/2006/main" w="9525">
            <a:solidFill>
              <a:srgbClr val="C0A28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81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81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CRITICAL PRECISION  •  27.3%</a:t>
            </a:r>
          </a:p>
          <a:p xmlns:a="http://schemas.openxmlformats.org/drawingml/2006/main">
            <a:pPr algn="ctr">
              <a:buNone/>
              <a:defRPr sz="881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881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recall and precision tell different safety stories</a:t>
            </a:r>
          </a:p>
        </p:txBody>
      </p:sp>
    </p:spTree>
    <p:extLst>
      <p:ext uri="{BB962C8B-B14F-4D97-AF65-F5344CB8AC3E}">
        <p14:creationId xmlns:p14="http://schemas.microsoft.com/office/powerpoint/2010/main" val="7661100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A27235BD-4E5E-342A-510C-825F9EA13E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406560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RAG improves traceability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170A701B-5D26-E08C-A235-506D2768F5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4038600"/>
            <a:ext cx="8214836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919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919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Boundary — two human operations practitioners; no-RAG grounding had no source documents. This is exploratory traceability evidence, not population-level diagnostic proof.</a:t>
            </a:r>
          </a:p>
        </p:txBody>
      </p:sp>
      <p:cxnSp>
        <p:nvCxnSpPr>
          <p:cNvPr id="132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C336649F-617F-AA44-7F78-3F699697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3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55efce08746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rag-scale-title">
            <a:extLst xmlns:a="http://schemas.openxmlformats.org/drawingml/2006/main">
              <a:ext uri="{FF2B5EF4-FFF2-40B4-BE49-F238E27FC236}">
                <a16:creationId xmlns:a16="http://schemas.microsoft.com/office/drawing/2014/main" id="{28C55A88-294E-4772-8D84-564BA265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Mean practitioner score (0–2)</a:t>
            </a:r>
          </a:p>
        </p:txBody>
      </p:sp>
      <p:sp>
        <p:nvSpPr>
          <p:cNvPr id="92" name="rag-grid-0">
            <a:extLst xmlns:a="http://schemas.openxmlformats.org/drawingml/2006/main">
              <a:ext uri="{FF2B5EF4-FFF2-40B4-BE49-F238E27FC236}">
                <a16:creationId xmlns:a16="http://schemas.microsoft.com/office/drawing/2014/main" id="{90E3984D-9F9C-413C-894F-08263194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9075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3" name="rag-tick-0">
            <a:extLst xmlns:a="http://schemas.openxmlformats.org/drawingml/2006/main">
              <a:ext uri="{FF2B5EF4-FFF2-40B4-BE49-F238E27FC236}">
                <a16:creationId xmlns:a16="http://schemas.microsoft.com/office/drawing/2014/main" id="{1A5C21F6-2A4F-4B66-B74C-A667BFF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8100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713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94" name="rag-grid-1">
            <a:extLst xmlns:a="http://schemas.openxmlformats.org/drawingml/2006/main">
              <a:ext uri="{FF2B5EF4-FFF2-40B4-BE49-F238E27FC236}">
                <a16:creationId xmlns:a16="http://schemas.microsoft.com/office/drawing/2014/main" id="{4A96E171-FE61-41E3-8445-6515F151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9075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5" name="rag-tick-1">
            <a:extLst xmlns:a="http://schemas.openxmlformats.org/drawingml/2006/main">
              <a:ext uri="{FF2B5EF4-FFF2-40B4-BE49-F238E27FC236}">
                <a16:creationId xmlns:a16="http://schemas.microsoft.com/office/drawing/2014/main" id="{20B323FD-8325-4524-ABDD-202ED0DE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100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713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96" name="rag-grid-2">
            <a:extLst xmlns:a="http://schemas.openxmlformats.org/drawingml/2006/main">
              <a:ext uri="{FF2B5EF4-FFF2-40B4-BE49-F238E27FC236}">
                <a16:creationId xmlns:a16="http://schemas.microsoft.com/office/drawing/2014/main" id="{95E90EA3-07B7-4B1A-854E-EA707F23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90750"/>
            <a:ext cx="0" cy="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2"/>
            </a:solidFill>
            <a:prstDash val="solid"/>
          </a:ln>
        </p:spPr>
      </p:sp>
      <p:sp>
        <p:nvSpPr>
          <p:cNvPr id="97" name="rag-tick-2">
            <a:extLst xmlns:a="http://schemas.openxmlformats.org/drawingml/2006/main">
              <a:ext uri="{FF2B5EF4-FFF2-40B4-BE49-F238E27FC236}">
                <a16:creationId xmlns:a16="http://schemas.microsoft.com/office/drawing/2014/main" id="{0A77AB58-CA18-447A-A594-7E6DC7BE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100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13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713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98" name="rag-row-label-1">
            <a:extLst xmlns:a="http://schemas.openxmlformats.org/drawingml/2006/main">
              <a:ext uri="{FF2B5EF4-FFF2-40B4-BE49-F238E27FC236}">
                <a16:creationId xmlns:a16="http://schemas.microsoft.com/office/drawing/2014/main" id="{B7918D5D-5945-4BAB-B392-2394E607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Correctness</a:t>
            </a:r>
          </a:p>
        </p:txBody>
      </p:sp>
      <p:sp>
        <p:nvSpPr>
          <p:cNvPr id="99" name="rag-bar-1-1">
            <a:extLst xmlns:a="http://schemas.openxmlformats.org/drawingml/2006/main">
              <a:ext uri="{FF2B5EF4-FFF2-40B4-BE49-F238E27FC236}">
                <a16:creationId xmlns:a16="http://schemas.microsoft.com/office/drawing/2014/main" id="{657FF134-CCD0-48C3-AA40-9CB70509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24100"/>
            <a:ext cx="2321719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0" name="rag-bar-value-1-1">
            <a:extLst xmlns:a="http://schemas.openxmlformats.org/drawingml/2006/main">
              <a:ext uri="{FF2B5EF4-FFF2-40B4-BE49-F238E27FC236}">
                <a16:creationId xmlns:a16="http://schemas.microsoft.com/office/drawing/2014/main" id="{55F5BB5F-F5A9-409C-A1C3-E721243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955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1.625  RAG</a:t>
            </a:r>
          </a:p>
        </p:txBody>
      </p:sp>
      <p:sp>
        <p:nvSpPr>
          <p:cNvPr id="101" name="rag-bar-1-2">
            <a:extLst xmlns:a="http://schemas.openxmlformats.org/drawingml/2006/main">
              <a:ext uri="{FF2B5EF4-FFF2-40B4-BE49-F238E27FC236}">
                <a16:creationId xmlns:a16="http://schemas.microsoft.com/office/drawing/2014/main" id="{FA6F1AB0-1EEF-4923-884D-C5EEAD71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09850"/>
            <a:ext cx="105156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2" name="rag-bar-value-1-2">
            <a:extLst xmlns:a="http://schemas.openxmlformats.org/drawingml/2006/main">
              <a:ext uri="{FF2B5EF4-FFF2-40B4-BE49-F238E27FC236}">
                <a16:creationId xmlns:a16="http://schemas.microsoft.com/office/drawing/2014/main" id="{086395B2-A8E0-4B7F-8E45-1F21FD5D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812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0.736  no RAG</a:t>
            </a:r>
          </a:p>
        </p:txBody>
      </p:sp>
      <p:sp>
        <p:nvSpPr>
          <p:cNvPr id="103" name="rag-row-label-2">
            <a:extLst xmlns:a="http://schemas.openxmlformats.org/drawingml/2006/main">
              <a:ext uri="{FF2B5EF4-FFF2-40B4-BE49-F238E27FC236}">
                <a16:creationId xmlns:a16="http://schemas.microsoft.com/office/drawing/2014/main" id="{CF6F6D78-DF7C-4C18-B78E-213F0040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Grounding</a:t>
            </a:r>
          </a:p>
        </p:txBody>
      </p:sp>
      <p:sp>
        <p:nvSpPr>
          <p:cNvPr id="104" name="rag-bar-2-1">
            <a:extLst xmlns:a="http://schemas.openxmlformats.org/drawingml/2006/main">
              <a:ext uri="{FF2B5EF4-FFF2-40B4-BE49-F238E27FC236}">
                <a16:creationId xmlns:a16="http://schemas.microsoft.com/office/drawing/2014/main" id="{864F3899-16C4-4DC3-B60B-62DF340D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5150"/>
            <a:ext cx="2381726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3831"/>
          </a:solidFill>
          <a:ln xmlns:a="http://schemas.openxmlformats.org/drawingml/2006/main" w="0">
            <a:solidFill>
              <a:srgbClr val="E83831"/>
            </a:solidFill>
            <a:prstDash val="solid"/>
          </a:ln>
        </p:spPr>
      </p:sp>
      <p:sp>
        <p:nvSpPr>
          <p:cNvPr id="105" name="rag-bar-value-2-1">
            <a:extLst xmlns:a="http://schemas.openxmlformats.org/drawingml/2006/main">
              <a:ext uri="{FF2B5EF4-FFF2-40B4-BE49-F238E27FC236}">
                <a16:creationId xmlns:a16="http://schemas.microsoft.com/office/drawing/2014/main" id="{6BA7767C-47B0-4228-8F68-4291CD28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765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1.667  RAG</a:t>
            </a:r>
          </a:p>
        </p:txBody>
      </p:sp>
      <p:sp>
        <p:nvSpPr>
          <p:cNvPr id="106" name="rag-bar-2-2">
            <a:extLst xmlns:a="http://schemas.openxmlformats.org/drawingml/2006/main">
              <a:ext uri="{FF2B5EF4-FFF2-40B4-BE49-F238E27FC236}">
                <a16:creationId xmlns:a16="http://schemas.microsoft.com/office/drawing/2014/main" id="{EEE13532-CD9C-45F9-9C8F-303B1697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90900"/>
            <a:ext cx="190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7" name="rag-bar-value-2-2">
            <a:extLst xmlns:a="http://schemas.openxmlformats.org/drawingml/2006/main">
              <a:ext uri="{FF2B5EF4-FFF2-40B4-BE49-F238E27FC236}">
                <a16:creationId xmlns:a16="http://schemas.microsoft.com/office/drawing/2014/main" id="{2C88B4F8-1586-4744-90FA-A24B4605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623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0.000  no RAG</a:t>
            </a:r>
          </a:p>
        </p:txBody>
      </p:sp>
      <p:sp>
        <p:nvSpPr>
          <p:cNvPr id="108" name="rag-retrieval-surface">
            <a:extLst xmlns:a="http://schemas.openxmlformats.org/drawingml/2006/main">
              <a:ext uri="{FF2B5EF4-FFF2-40B4-BE49-F238E27FC236}">
                <a16:creationId xmlns:a16="http://schemas.microsoft.com/office/drawing/2014/main" id="{2AE18D52-6683-4411-931B-6EB1802B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33600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09" name="rag-retrieval-value">
            <a:extLst xmlns:a="http://schemas.openxmlformats.org/drawingml/2006/main">
              <a:ext uri="{FF2B5EF4-FFF2-40B4-BE49-F238E27FC236}">
                <a16:creationId xmlns:a16="http://schemas.microsoft.com/office/drawing/2014/main" id="{D73C4ED4-0019-4836-84DD-7AAA1F25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288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12/12</a:t>
            </a:r>
          </a:p>
        </p:txBody>
      </p:sp>
      <p:sp>
        <p:nvSpPr>
          <p:cNvPr id="110" name="rag-retrieval-label">
            <a:extLst xmlns:a="http://schemas.openxmlformats.org/drawingml/2006/main">
              <a:ext uri="{FF2B5EF4-FFF2-40B4-BE49-F238E27FC236}">
                <a16:creationId xmlns:a16="http://schemas.microsoft.com/office/drawing/2014/main" id="{9122F4AD-8DF0-4673-9EE3-DECFE2A5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0985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RELEVANT RUNBOOK</a:t>
            </a:r>
          </a:p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IN TOP FOUR</a:t>
            </a:r>
          </a:p>
        </p:txBody>
      </p:sp>
      <p:sp>
        <p:nvSpPr>
          <p:cNvPr id="111" name="rag-practitioners-surface">
            <a:extLst xmlns:a="http://schemas.openxmlformats.org/drawingml/2006/main">
              <a:ext uri="{FF2B5EF4-FFF2-40B4-BE49-F238E27FC236}">
                <a16:creationId xmlns:a16="http://schemas.microsoft.com/office/drawing/2014/main" id="{C21E71B7-8331-4E41-8B5E-D2AB60A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19526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12" name="rag-practitioners-value">
            <a:extLst xmlns:a="http://schemas.openxmlformats.org/drawingml/2006/main">
              <a:ext uri="{FF2B5EF4-FFF2-40B4-BE49-F238E27FC236}">
                <a16:creationId xmlns:a16="http://schemas.microsoft.com/office/drawing/2014/main" id="{A08DAC12-A937-4229-919C-30A05021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6230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13" name="rag-practitioners-label">
            <a:extLst xmlns:a="http://schemas.openxmlformats.org/drawingml/2006/main">
              <a:ext uri="{FF2B5EF4-FFF2-40B4-BE49-F238E27FC236}">
                <a16:creationId xmlns:a16="http://schemas.microsoft.com/office/drawing/2014/main" id="{6BA386E7-B64F-434F-847D-53C9EE6D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43300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HUMAN OPERATIONS</a:t>
            </a:r>
          </a:p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PRACTITIONERS</a:t>
            </a:r>
          </a:p>
        </p:txBody>
      </p:sp>
    </p:spTree>
    <p:extLst>
      <p:ext uri="{BB962C8B-B14F-4D97-AF65-F5344CB8AC3E}">
        <p14:creationId xmlns:p14="http://schemas.microsoft.com/office/powerpoint/2010/main" val="31451594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g3ba14ccda94_0_19">
            <a:extLst xmlns:a="http://schemas.openxmlformats.org/drawingml/2006/main">
              <a:ext uri="{FF2B5EF4-FFF2-40B4-BE49-F238E27FC236}">
                <a16:creationId xmlns:a16="http://schemas.microsoft.com/office/drawing/2014/main" id="{E7749026-8990-A95E-5684-CF562DB49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2375" y="965400"/>
            <a:ext cx="4065600" cy="47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>
                <a:solidFill>
                  <a:srgbClr val="E83831"/>
                </a:solidFill>
                <a:latin typeface="Afacad Flux"/>
                <a:ea typeface="Afacad Flux"/>
                <a:cs typeface="Afacad Flux"/>
              </a:rPr>
              <a:t>Usability is favourable</a:t>
            </a:r>
            <a:endParaRPr sz="2300" b="1">
              <a:solidFill>
                <a:srgbClr val="E83831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78" name="Google Shape;78;g3ba14ccda94_0_19">
            <a:extLst xmlns:a="http://schemas.openxmlformats.org/drawingml/2006/main">
              <a:ext uri="{FF2B5EF4-FFF2-40B4-BE49-F238E27FC236}">
                <a16:creationId xmlns:a16="http://schemas.microsoft.com/office/drawing/2014/main" id="{4132265A-49C1-EDF3-57A5-1E033FC18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7696" y="3943350"/>
            <a:ext cx="8214836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marL="15240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831"/>
              </a:buClr>
              <a:buSzPts val="1200"/>
              <a:buNone/>
              <a:defRPr sz="919">
                <a:solidFill>
                  <a:srgbClr val="09314F"/>
                </a:solidFill>
                <a:latin typeface="Manrope"/>
                <a:ea typeface="Manrope"/>
                <a:cs typeface="Manrope"/>
              </a:defRPr>
            </a:pPr>
            <a:r>
              <a:rPr sz="919">
                <a:solidFill>
                  <a:srgbClr val="09314F"/>
                </a:solidFill>
                <a:latin typeface="Manrope"/>
                <a:ea typeface="Manrope"/>
                <a:cs typeface="Manrope"/>
              </a:rPr>
              <a:t>Range 40.0–97.5; one incomplete response was excluded without imputation. Boundary — perceived usability in this group, not task performance, workload reduction or population usability.</a:t>
            </a:r>
          </a:p>
        </p:txBody>
      </p:sp>
      <p:cxnSp>
        <p:nvCxnSpPr>
          <p:cNvPr id="134" name="Google Shape;80;g3ba14ccda94_0_19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B699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g3ba14ccda94_0_19">
            <a:extLst xmlns:a="http://schemas.openxmlformats.org/drawingml/2006/main">
              <a:ext uri="{FF2B5EF4-FFF2-40B4-BE49-F238E27FC236}">
                <a16:creationId xmlns:a16="http://schemas.microsoft.com/office/drawing/2014/main" id="{0EA5BED6-F809-286E-6B52-29C8DAF2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073501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0B314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 i="0" u="none" cap="none">
                <a:solidFill>
                  <a:srgbClr val="0B314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rgbClr val="0B314F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3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b492030fd46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72" y="239527"/>
            <a:ext cx="1591055" cy="559355"/>
          </a:xfrm>
          <a:prstGeom xmlns:a="http://schemas.openxmlformats.org/drawingml/2006/main" prst="rect">
            <a:avLst/>
          </a:prstGeom>
        </p:spPr>
      </p:pic>
      <p:sp>
        <p:nvSpPr>
          <p:cNvPr id="91" name="sus-summary-1-surface">
            <a:extLst xmlns:a="http://schemas.openxmlformats.org/drawingml/2006/main">
              <a:ext uri="{FF2B5EF4-FFF2-40B4-BE49-F238E27FC236}">
                <a16:creationId xmlns:a16="http://schemas.microsoft.com/office/drawing/2014/main" id="{ED75B10F-4436-45CC-9317-3B9533D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2" name="sus-summary-1-value">
            <a:extLst xmlns:a="http://schemas.openxmlformats.org/drawingml/2006/main">
              <a:ext uri="{FF2B5EF4-FFF2-40B4-BE49-F238E27FC236}">
                <a16:creationId xmlns:a16="http://schemas.microsoft.com/office/drawing/2014/main" id="{4E7ADDA5-E4C8-4D35-87BB-74AF371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193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11 → 10</a:t>
            </a:r>
          </a:p>
        </p:txBody>
      </p:sp>
      <p:sp>
        <p:nvSpPr>
          <p:cNvPr id="93" name="sus-summary-1-label">
            <a:extLst xmlns:a="http://schemas.openxmlformats.org/drawingml/2006/main">
              <a:ext uri="{FF2B5EF4-FFF2-40B4-BE49-F238E27FC236}">
                <a16:creationId xmlns:a16="http://schemas.microsoft.com/office/drawing/2014/main" id="{AAA93791-7FAD-4654-BCDD-02AB2A24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0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CONSENTED → COMPLETE</a:t>
            </a:r>
          </a:p>
        </p:txBody>
      </p:sp>
      <p:sp>
        <p:nvSpPr>
          <p:cNvPr id="94" name="sus-summary-2-surface">
            <a:extLst xmlns:a="http://schemas.openxmlformats.org/drawingml/2006/main">
              <a:ext uri="{FF2B5EF4-FFF2-40B4-BE49-F238E27FC236}">
                <a16:creationId xmlns:a16="http://schemas.microsoft.com/office/drawing/2014/main" id="{EA1089D9-F506-433C-95ED-48CE889D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5" name="sus-summary-2-value">
            <a:extLst xmlns:a="http://schemas.openxmlformats.org/drawingml/2006/main">
              <a:ext uri="{FF2B5EF4-FFF2-40B4-BE49-F238E27FC236}">
                <a16:creationId xmlns:a16="http://schemas.microsoft.com/office/drawing/2014/main" id="{062E2703-5467-4478-934D-BE90039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193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96" name="sus-summary-2-label">
            <a:extLst xmlns:a="http://schemas.openxmlformats.org/drawingml/2006/main">
              <a:ext uri="{FF2B5EF4-FFF2-40B4-BE49-F238E27FC236}">
                <a16:creationId xmlns:a16="http://schemas.microsoft.com/office/drawing/2014/main" id="{260E12DF-3C92-4CB3-9652-E7703BE1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00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DEVOPS / DEVSECOPS</a:t>
            </a:r>
          </a:p>
        </p:txBody>
      </p:sp>
      <p:sp>
        <p:nvSpPr>
          <p:cNvPr id="97" name="sus-summary-3-surface">
            <a:extLst xmlns:a="http://schemas.openxmlformats.org/drawingml/2006/main">
              <a:ext uri="{FF2B5EF4-FFF2-40B4-BE49-F238E27FC236}">
                <a16:creationId xmlns:a16="http://schemas.microsoft.com/office/drawing/2014/main" id="{2F7269A7-EE40-4519-9304-80C61F35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98" name="sus-summary-3-value">
            <a:extLst xmlns:a="http://schemas.openxmlformats.org/drawingml/2006/main">
              <a:ext uri="{FF2B5EF4-FFF2-40B4-BE49-F238E27FC236}">
                <a16:creationId xmlns:a16="http://schemas.microsoft.com/office/drawing/2014/main" id="{245DFF6F-7170-4846-826F-95A1910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193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99" name="sus-summary-3-label">
            <a:extLst xmlns:a="http://schemas.openxmlformats.org/drawingml/2006/main">
              <a:ext uri="{FF2B5EF4-FFF2-40B4-BE49-F238E27FC236}">
                <a16:creationId xmlns:a16="http://schemas.microsoft.com/office/drawing/2014/main" id="{9AFA4367-5F73-4E46-8BAD-E129F63A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00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SRE</a:t>
            </a:r>
          </a:p>
        </p:txBody>
      </p:sp>
      <p:sp>
        <p:nvSpPr>
          <p:cNvPr id="100" name="sus-summary-4-surface">
            <a:extLst xmlns:a="http://schemas.openxmlformats.org/drawingml/2006/main">
              <a:ext uri="{FF2B5EF4-FFF2-40B4-BE49-F238E27FC236}">
                <a16:creationId xmlns:a16="http://schemas.microsoft.com/office/drawing/2014/main" id="{AD6F4183-B222-4DC3-B42B-EA7719D3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240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8"/>
            </a:solidFill>
            <a:prstDash val="solid"/>
          </a:ln>
        </p:spPr>
      </p:sp>
      <p:sp>
        <p:nvSpPr>
          <p:cNvPr id="101" name="sus-summary-4-value">
            <a:extLst xmlns:a="http://schemas.openxmlformats.org/drawingml/2006/main">
              <a:ext uri="{FF2B5EF4-FFF2-40B4-BE49-F238E27FC236}">
                <a16:creationId xmlns:a16="http://schemas.microsoft.com/office/drawing/2014/main" id="{C2EB6277-88A1-4BBA-BDA2-D708688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0193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18.18</a:t>
            </a:r>
          </a:p>
        </p:txBody>
      </p:sp>
      <p:sp>
        <p:nvSpPr>
          <p:cNvPr id="102" name="sus-summary-4-label">
            <a:extLst xmlns:a="http://schemas.openxmlformats.org/drawingml/2006/main">
              <a:ext uri="{FF2B5EF4-FFF2-40B4-BE49-F238E27FC236}">
                <a16:creationId xmlns:a16="http://schemas.microsoft.com/office/drawing/2014/main" id="{6CE892E3-6F06-4C27-9149-0D25DDBE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00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8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STANDARD DEVIATION</a:t>
            </a:r>
          </a:p>
        </p:txBody>
      </p:sp>
      <p:sp>
        <p:nvSpPr>
          <p:cNvPr id="103" name="sus-scale-title">
            <a:extLst xmlns:a="http://schemas.openxmlformats.org/drawingml/2006/main">
              <a:ext uri="{FF2B5EF4-FFF2-40B4-BE49-F238E27FC236}">
                <a16:creationId xmlns:a16="http://schemas.microsoft.com/office/drawing/2014/main" id="{37C49080-D3C7-4F2C-B148-BC0209DF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938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System Usability Scale (0–100)</a:t>
            </a:r>
          </a:p>
        </p:txBody>
      </p:sp>
      <p:sp>
        <p:nvSpPr>
          <p:cNvPr id="104" name="sus-scale-track">
            <a:extLst xmlns:a="http://schemas.openxmlformats.org/drawingml/2006/main">
              <a:ext uri="{FF2B5EF4-FFF2-40B4-BE49-F238E27FC236}">
                <a16:creationId xmlns:a16="http://schemas.microsoft.com/office/drawing/2014/main" id="{8973B556-E6C4-4B7B-A0EA-AAE9A2A5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6858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EE2"/>
          </a:solidFill>
          <a:ln xmlns:a="http://schemas.openxmlformats.org/drawingml/2006/main" w="0">
            <a:solidFill>
              <a:srgbClr val="D7DEE2"/>
            </a:solidFill>
            <a:prstDash val="solid"/>
          </a:ln>
        </p:spPr>
      </p:sp>
      <p:sp>
        <p:nvSpPr>
          <p:cNvPr id="105" name="sus-range">
            <a:extLst xmlns:a="http://schemas.openxmlformats.org/drawingml/2006/main">
              <a:ext uri="{FF2B5EF4-FFF2-40B4-BE49-F238E27FC236}">
                <a16:creationId xmlns:a16="http://schemas.microsoft.com/office/drawing/2014/main" id="{157C8776-6CF7-408A-A04D-E93EB1CB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05175"/>
            <a:ext cx="394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A282"/>
          </a:solidFill>
          <a:ln xmlns:a="http://schemas.openxmlformats.org/drawingml/2006/main" w="0">
            <a:solidFill>
              <a:srgbClr val="C0A282"/>
            </a:solidFill>
            <a:prstDash val="solid"/>
          </a:ln>
        </p:spPr>
      </p:sp>
      <p:sp>
        <p:nvSpPr>
          <p:cNvPr id="106" name="sus-mean-marker">
            <a:extLst xmlns:a="http://schemas.openxmlformats.org/drawingml/2006/main">
              <a:ext uri="{FF2B5EF4-FFF2-40B4-BE49-F238E27FC236}">
                <a16:creationId xmlns:a16="http://schemas.microsoft.com/office/drawing/2014/main" id="{F4105415-4A05-429B-9490-A2EA1C39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715" y="32194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3831"/>
            </a:solidFill>
            <a:prstDash val="solid"/>
          </a:ln>
        </p:spPr>
      </p:sp>
      <p:sp>
        <p:nvSpPr>
          <p:cNvPr id="107" name="sus-mean-label">
            <a:extLst xmlns:a="http://schemas.openxmlformats.org/drawingml/2006/main">
              <a:ext uri="{FF2B5EF4-FFF2-40B4-BE49-F238E27FC236}">
                <a16:creationId xmlns:a16="http://schemas.microsoft.com/office/drawing/2014/main" id="{07FA76C5-D864-4E6D-BE7C-7759EF77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265" y="30575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9" b="1">
                <a:solidFill>
                  <a:srgbClr val="E83831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E83831"/>
                </a:solidFill>
                <a:latin typeface="Manrope"/>
                <a:ea typeface="Manrope"/>
                <a:cs typeface="Manrope"/>
              </a:rPr>
              <a:t>Mean 79.25</a:t>
            </a:r>
          </a:p>
        </p:txBody>
      </p:sp>
      <p:sp>
        <p:nvSpPr>
          <p:cNvPr id="108" name="sus-median-marker">
            <a:extLst xmlns:a="http://schemas.openxmlformats.org/drawingml/2006/main">
              <a:ext uri="{FF2B5EF4-FFF2-40B4-BE49-F238E27FC236}">
                <a16:creationId xmlns:a16="http://schemas.microsoft.com/office/drawing/2014/main" id="{F863BD3C-C68E-4CFE-B85D-C0AEC947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194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314F"/>
            </a:solidFill>
            <a:prstDash val="solid"/>
          </a:ln>
        </p:spPr>
      </p:sp>
      <p:sp>
        <p:nvSpPr>
          <p:cNvPr id="109" name="sus-median-label">
            <a:extLst xmlns:a="http://schemas.openxmlformats.org/drawingml/2006/main">
              <a:ext uri="{FF2B5EF4-FFF2-40B4-BE49-F238E27FC236}">
                <a16:creationId xmlns:a16="http://schemas.microsoft.com/office/drawing/2014/main" id="{B8680F04-5044-4931-B462-28878D77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5282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69" b="1">
                <a:solidFill>
                  <a:srgbClr val="0B314F"/>
                </a:solidFill>
                <a:latin typeface="Manrope"/>
                <a:ea typeface="Manrope"/>
                <a:cs typeface="Manrope"/>
              </a:defRPr>
            </a:pPr>
            <a:r>
              <a:rPr sz="769" b="1">
                <a:solidFill>
                  <a:srgbClr val="0B314F"/>
                </a:solidFill>
                <a:latin typeface="Manrope"/>
                <a:ea typeface="Manrope"/>
                <a:cs typeface="Manrope"/>
              </a:rPr>
              <a:t>Median 83.75</a:t>
            </a:r>
          </a:p>
        </p:txBody>
      </p:sp>
      <p:sp>
        <p:nvSpPr>
          <p:cNvPr id="110" name="sus-tick-1">
            <a:extLst xmlns:a="http://schemas.openxmlformats.org/drawingml/2006/main">
              <a:ext uri="{FF2B5EF4-FFF2-40B4-BE49-F238E27FC236}">
                <a16:creationId xmlns:a16="http://schemas.microsoft.com/office/drawing/2014/main" id="{6DD9F661-49D2-459E-A025-78E0BD3F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796"/>
            </a:solidFill>
            <a:prstDash val="solid"/>
          </a:ln>
        </p:spPr>
      </p:sp>
      <p:sp>
        <p:nvSpPr>
          <p:cNvPr id="111" name="sus-tick-label-1">
            <a:extLst xmlns:a="http://schemas.openxmlformats.org/drawingml/2006/main">
              <a:ext uri="{FF2B5EF4-FFF2-40B4-BE49-F238E27FC236}">
                <a16:creationId xmlns:a16="http://schemas.microsoft.com/office/drawing/2014/main" id="{6FF815C9-69BA-4ADD-82F5-F050BB1F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656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112" name="sus-tick-2">
            <a:extLst xmlns:a="http://schemas.openxmlformats.org/drawingml/2006/main">
              <a:ext uri="{FF2B5EF4-FFF2-40B4-BE49-F238E27FC236}">
                <a16:creationId xmlns:a16="http://schemas.microsoft.com/office/drawing/2014/main" id="{E27E4A48-CC04-4364-B404-01F70AFB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796"/>
            </a:solidFill>
            <a:prstDash val="solid"/>
          </a:ln>
        </p:spPr>
      </p:sp>
      <p:sp>
        <p:nvSpPr>
          <p:cNvPr id="113" name="sus-tick-label-2">
            <a:extLst xmlns:a="http://schemas.openxmlformats.org/drawingml/2006/main">
              <a:ext uri="{FF2B5EF4-FFF2-40B4-BE49-F238E27FC236}">
                <a16:creationId xmlns:a16="http://schemas.microsoft.com/office/drawing/2014/main" id="{701B5F80-F4CD-45FF-861D-8E3DAFC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67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656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50</a:t>
            </a:r>
          </a:p>
        </p:txBody>
      </p:sp>
      <p:sp>
        <p:nvSpPr>
          <p:cNvPr id="114" name="sus-tick-3">
            <a:extLst xmlns:a="http://schemas.openxmlformats.org/drawingml/2006/main">
              <a:ext uri="{FF2B5EF4-FFF2-40B4-BE49-F238E27FC236}">
                <a16:creationId xmlns:a16="http://schemas.microsoft.com/office/drawing/2014/main" id="{A9169951-FA3D-4BD7-A58E-0E81BADE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796"/>
            </a:solidFill>
            <a:prstDash val="solid"/>
          </a:ln>
        </p:spPr>
      </p:sp>
      <p:sp>
        <p:nvSpPr>
          <p:cNvPr id="115" name="sus-tick-label-3">
            <a:extLst xmlns:a="http://schemas.openxmlformats.org/drawingml/2006/main">
              <a:ext uri="{FF2B5EF4-FFF2-40B4-BE49-F238E27FC236}">
                <a16:creationId xmlns:a16="http://schemas.microsoft.com/office/drawing/2014/main" id="{277136D9-43A2-44A8-849B-BA5F0482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28575" rIns="2857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6">
                <a:solidFill>
                  <a:srgbClr val="456477"/>
                </a:solidFill>
                <a:latin typeface="Manrope"/>
                <a:ea typeface="Manrope"/>
                <a:cs typeface="Manrope"/>
              </a:defRPr>
            </a:pPr>
            <a:r>
              <a:rPr sz="656">
                <a:solidFill>
                  <a:srgbClr val="456477"/>
                </a:solidFill>
                <a:latin typeface="Manrope"/>
                <a:ea typeface="Manrope"/>
                <a:cs typeface="Manrope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7035474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B59DA8BC-98DD-0625-DE1C-8EE11BC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-5196"/>
            <a:ext cx="9288450" cy="5320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34468AB8-7B5E-EFB9-0516-3F92B695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3573899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A bounded reference artefact</a:t>
            </a: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3353B898-44C9-9A9C-80E1-2B91EB5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100000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Engineering — inspectable operator-hosted implementation and stronger targeted coverage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Design — condition-and-ruleset acknowledgement with a severity safeguard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Empirical — reproducible baseline exposes retrieval strength and severity/signature weakness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Human evidence — exploratory two-practitioner interpretation and favourable SUS in ten complete responses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Defensible conclusion — supports operator decision-making; does not establish autonomous triage or production effectiveness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2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Next evidence — deterministic signatures, stronger models, live workloads and larger independent human studies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2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B0DDA3CF-EF31-AC2E-EDFA-78ECF93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2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bb46656f0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100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g3ba14ccda94_0_28">
            <a:extLst xmlns:a="http://schemas.openxmlformats.org/drawingml/2006/main">
              <a:ext uri="{FF2B5EF4-FFF2-40B4-BE49-F238E27FC236}">
                <a16:creationId xmlns:a16="http://schemas.microsoft.com/office/drawing/2014/main" id="{011733BF-9D57-8F93-7EC5-33BE5C94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" y="-152400"/>
            <a:ext cx="9440850" cy="5305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314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ba14ccda94_0_28">
            <a:extLst xmlns:a="http://schemas.openxmlformats.org/drawingml/2006/main">
              <a:ext uri="{FF2B5EF4-FFF2-40B4-BE49-F238E27FC236}">
                <a16:creationId xmlns:a16="http://schemas.microsoft.com/office/drawing/2014/main" id="{C4856BF4-18B4-81C6-0AA5-4D62756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74" y="942125"/>
            <a:ext cx="4762500" cy="53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sz="2300" b="1">
                <a:solidFill>
                  <a:srgbClr val="C0A282"/>
                </a:solidFill>
                <a:latin typeface="Afacad Flux"/>
                <a:ea typeface="Afacad Flux"/>
                <a:cs typeface="Afacad Flux"/>
              </a:defRPr>
            </a:pPr>
            <a:r>
              <a:rPr sz="2300" b="1" i="0" u="none" cap="none">
                <a:solidFill>
                  <a:srgbClr val="C0A282"/>
                </a:solidFill>
                <a:latin typeface="Afacad Flux"/>
                <a:ea typeface="Afacad Flux"/>
                <a:cs typeface="Afacad Flux"/>
              </a:rPr>
              <a:t>APA 7 Selected References</a:t>
            </a:r>
            <a:endParaRPr sz="2300" b="1" i="0" u="none" cap="none">
              <a:solidFill>
                <a:srgbClr val="C0A282"/>
              </a:solidFill>
              <a:latin typeface="Afacad Flux"/>
              <a:ea typeface="Afacad Flux"/>
              <a:cs typeface="Afacad Flux"/>
            </a:endParaRPr>
          </a:p>
        </p:txBody>
      </p:sp>
      <p:sp>
        <p:nvSpPr>
          <p:cNvPr id="89" name="Google Shape;89;g3ba14ccda94_0_28">
            <a:extLst xmlns:a="http://schemas.openxmlformats.org/drawingml/2006/main">
              <a:ext uri="{FF2B5EF4-FFF2-40B4-BE49-F238E27FC236}">
                <a16:creationId xmlns:a16="http://schemas.microsoft.com/office/drawing/2014/main" id="{2F88F4C8-49DA-2E5E-D406-6242B1DB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75" y="1881275"/>
            <a:ext cx="8214826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rmAutofit fontScale="96941"/>
          </a:bodyPr>
          <a:lstStyle xmlns:a="http://schemas.openxmlformats.org/drawingml/2006/main"/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Ahmed, T., Ghosh, S., Bansal, C., Zimmermann, T., Zhang, X., &amp; Rajmohan, S. (2023). Recommending root-cause and mitigation steps for cloud incidents using large language models. In 2023 IEEE/ACM 45th International Conference on Software Engineering (ICSE) (pp. 1737–1749). IEEE. https://doi.org/10.1109/ICSE48619.2023.00149</a:t>
            </a: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Es, S., James, J., Espinosa Anke, L., &amp; Schockaert, S. (2024). RAGAs: Automated evaluation of retrieval augmented generation. In Proceedings of the 18th Conference of the European Chapter of the Association for Computational Linguistics: System Demonstrations (pp. 150–158). Association for Computational Linguistics. https://doi.org/10.18653/v1/2024.eacl-demo.16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Hevner, A. R., March, S. T., Park, J., &amp; Ram, S. (2004). Design science in information systems research. MIS Quarterly, 28(1), 75–105. https://doi.org/10.2307/25148625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National Institute of Standards and Technology. (2024). Artificial intelligence risk management framework: Generative artificial intelligence profile (NIST AI 600-1). U.S. Department of Commerce. https://doi.org/10.6028/NIST.AI.600-1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/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  <a:p xmlns:a="http://schemas.openxmlformats.org/drawingml/2006/main">
            <a:pPr lvl="0" algn="l">
              <a:lnSpc>
                <a:spcPct val="115000"/>
              </a:lnSpc>
              <a:buSzPts val="1200"/>
              <a:buNone/>
              <a:defRPr sz="100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00" b="0" i="0" u="none" cap="none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Yuan, P., Tang, L., Liu, Y., Kobayashi, Y., Sato, M., &amp; Chen, H. (2025). Incident diagnosing and reporting system based on retrieval augmented large language model. Proceedings of the AAAI Conference on Artificial Intelligence, 39(28), 29721–29723. https://doi.org/10.1609/aaai.v39i28.35379</a:t>
            </a:r>
            <a:endParaRPr sz="1200" b="0" i="0" u="none" cap="none">
              <a:solidFill>
                <a:schemeClr val="lt1"/>
              </a:solidFill>
              <a:latin typeface="Manrope"/>
              <a:ea typeface="Manrope"/>
              <a:cs typeface="Manrope"/>
            </a:endParaRPr>
          </a:p>
        </p:txBody>
      </p:sp>
      <p:cxnSp>
        <p:nvCxnSpPr>
          <p:cNvPr id="127" name="Google Shape;91;g3ba14ccda94_0_28"/>
          <p:cNvCxnSpPr/>
          <p:nvPr/>
        </p:nvCxnSpPr>
        <p:spPr>
          <a:xfrm xmlns:a="http://schemas.openxmlformats.org/drawingml/2006/main">
            <a:off x="583800" y="685500"/>
            <a:ext cx="6114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8383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g3ba14ccda94_0_28">
            <a:extLst xmlns:a="http://schemas.openxmlformats.org/drawingml/2006/main">
              <a:ext uri="{FF2B5EF4-FFF2-40B4-BE49-F238E27FC236}">
                <a16:creationId xmlns:a16="http://schemas.microsoft.com/office/drawing/2014/main" id="{269058DF-CFFD-890D-335C-0280F997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24" y="349855"/>
            <a:ext cx="1254373" cy="338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40" tIns="91440" rIns="91440" bIns="9144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defRPr>
            </a:pPr>
            <a:r>
              <a:rPr sz="1000" b="1">
                <a:solidFill>
                  <a:srgbClr val="FFFFFF"/>
                </a:solidFill>
                <a:latin typeface="Afacad Flux"/>
                <a:ea typeface="Afacad Flux"/>
                <a:cs typeface="Afacad Flux"/>
              </a:rPr>
              <a:t>Project Defence</a:t>
            </a:r>
            <a:endParaRPr sz="1000" b="1" i="0" u="none" cap="none">
              <a:solidFill>
                <a:schemeClr val="lt1"/>
              </a:solidFill>
              <a:latin typeface="Afacad Flux"/>
              <a:ea typeface="Afacad Flux"/>
              <a:cs typeface="Afacad Flux"/>
            </a:endParaRPr>
          </a:p>
        </p:txBody>
      </p:sp>
      <p:pic>
        <p:nvPicPr>
          <p:cNvPr id="12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929c63eac49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7814" y="239115"/>
            <a:ext cx="1593400" cy="5601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23902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2026-08-28T10:17:50.7660000Z</dcterms:created>
  <dcterms:modified xsi:type="dcterms:W3CDTF">2026-08-28T10:17:50.7660000Z</dcterms:modified>
</coreProperties>
</file>