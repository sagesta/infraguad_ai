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5"/>
  </p:notesMasterIdLst>
  <p:sldIdLst>
    <p:sldId id="256" r:id="rId2"/>
    <p:sldId id="257" r:id="rId3"/>
    <p:sldId id="258" r:id="rId4"/>
    <p:sldId id="259" r:id="rId5"/>
    <p:sldId id="268" r:id="rId6"/>
    <p:sldId id="275" r:id="rId7"/>
    <p:sldId id="269" r:id="rId8"/>
    <p:sldId id="274" r:id="rId9"/>
    <p:sldId id="270" r:id="rId10"/>
    <p:sldId id="271" r:id="rId11"/>
    <p:sldId id="272" r:id="rId12"/>
    <p:sldId id="273" r:id="rId13"/>
    <p:sldId id="266" r:id="rId14"/>
  </p:sldIdLst>
  <p:sldSz cx="9144000" cy="5143500" type="screen16x9"/>
  <p:notesSz cx="6858000" cy="9144000"/>
  <p:embeddedFontLst>
    <p:embeddedFont>
      <p:font typeface="Afacad Flux" panose="020B0604020202020204" charset="0"/>
      <p:regular r:id="rId16"/>
      <p:bold r:id="rId1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108EEF56-4501-454D-B345-1A00D6F1FE3B}">
          <p14:sldIdLst>
            <p14:sldId id="256"/>
            <p14:sldId id="257"/>
            <p14:sldId id="258"/>
            <p14:sldId id="259"/>
            <p14:sldId id="268"/>
            <p14:sldId id="275"/>
            <p14:sldId id="269"/>
            <p14:sldId id="274"/>
            <p14:sldId id="270"/>
            <p14:sldId id="271"/>
            <p14:sldId id="272"/>
            <p14:sldId id="273"/>
            <p14:sldId id="266"/>
          </p14:sldIdLst>
        </p14:section>
      </p14:sectionLst>
    </p:ext>
    <p:ext uri="{EFAFB233-063F-42B5-8137-9DF3F51BA10A}">
      <p15:sldGuideLst xmlns:p15="http://schemas.microsoft.com/office/powerpoint/2012/main">
        <p15:guide id="1" pos="307">
          <p15:clr>
            <a:srgbClr val="747775"/>
          </p15:clr>
        </p15:guide>
        <p15:guide id="2" pos="445">
          <p15:clr>
            <a:srgbClr val="747775"/>
          </p15:clr>
        </p15:guide>
        <p15:guide id="3" orient="horz" pos="162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6" roundtripDataSignature="AMtx7mjZwDczfeqANWg7sVAZFOTWUVK7RA=="/>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2876D"/>
    <a:srgbClr val="08304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064"/>
    <p:restoredTop sz="91463"/>
  </p:normalViewPr>
  <p:slideViewPr>
    <p:cSldViewPr snapToGrid="0">
      <p:cViewPr varScale="1">
        <p:scale>
          <a:sx n="137" d="100"/>
          <a:sy n="137" d="100"/>
        </p:scale>
        <p:origin x="552" y="80"/>
      </p:cViewPr>
      <p:guideLst>
        <p:guide pos="307"/>
        <p:guide pos="445"/>
        <p:guide orient="horz" pos="162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9"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notesMaster" Target="notesMasters/notesMaster1.xml"/><Relationship Id="rId36" Type="http://customschemas.google.com/relationships/presentationmetadata" Target="metadata"/><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3ba208e1783_0_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 name="Google Shape;52;g3ba208e1783_0_8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t>Good morning/afternoon. My project is InfraGuard AI — an agentic platform that uses large language models to help small DevOps teams triage infrastructure incidents faster, while keeping all consequential actions under human control. Let me walk you through the problem, design, implementation, and results.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g3bb6db650b2_0_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 name="Google Shape;60;g3bb6db650b2_0_5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t>This is InfraGuard AI, my final project for the Master of Information Technology programme. The project addresses the challenge of infrastructure monitoring triage for small teams.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g3ba14ccda94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5" name="Google Shape;75;g3ba14ccda94_0_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t>The core problem is that small teams already have observability data, but they spend too long switching between Prometheus dashboards, Loki log queries, Docker events, and endpoint monitors to form a single diagnosis. InfraGuard AI addresses this by collecting all those signals, asking an LLM to assess them in a bounded prompt, and presenting one actionable verdict — without ever taking autonomous action.</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g3ba14ccda94_0_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5" name="Google Shape;85;g3ba14ccda94_0_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t>I had five clear objectives. First, build the platform. Second, create a verdict pipeline that returns structured JSON — not free text. Third, design a memory mechanism so operators can acknowledge recurring low-risk conditions without hiding new or severe events. Fourth, integrate threat detection with human-approved response. And fifth, rigorously evaluate the system across multiple evidence types.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a:extLst>
            <a:ext uri="{FF2B5EF4-FFF2-40B4-BE49-F238E27FC236}">
              <a16:creationId xmlns:a16="http://schemas.microsoft.com/office/drawing/2014/main" id="{CA4A7440-DF44-B894-AE9A-AF7FFF0B820B}"/>
            </a:ext>
          </a:extLst>
        </p:cNvPr>
        <p:cNvGrpSpPr/>
        <p:nvPr/>
      </p:nvGrpSpPr>
      <p:grpSpPr>
        <a:xfrm>
          <a:off x="0" y="0"/>
          <a:ext cx="0" cy="0"/>
          <a:chOff x="0" y="0"/>
          <a:chExt cx="0" cy="0"/>
        </a:xfrm>
      </p:grpSpPr>
      <p:sp>
        <p:nvSpPr>
          <p:cNvPr id="74" name="Google Shape;74;g3ba14ccda94_0_19:notes">
            <a:extLst>
              <a:ext uri="{FF2B5EF4-FFF2-40B4-BE49-F238E27FC236}">
                <a16:creationId xmlns:a16="http://schemas.microsoft.com/office/drawing/2014/main" id="{CAC9054A-6E2B-176B-68DC-72A735C237F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5" name="Google Shape;75;g3ba14ccda94_0_19:notes">
            <a:extLst>
              <a:ext uri="{FF2B5EF4-FFF2-40B4-BE49-F238E27FC236}">
                <a16:creationId xmlns:a16="http://schemas.microsoft.com/office/drawing/2014/main" id="{C5A2FDB6-F030-B4F2-EA80-AAFEB2B8C58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t>I reviewed 13 recent related systems and the broader AIOps, LLM agent, and human-factors literature. I identified seven gaps. The most significant are: no existing system provides a fingerprint-based condition memory that automatically self-invalidates; most lack operator-approval gates before enforcement; and few ground their LLM answers in organisation-specific runbooks. InfraGuard addresses all seven gaps.</a:t>
            </a:r>
          </a:p>
        </p:txBody>
      </p:sp>
    </p:spTree>
    <p:extLst>
      <p:ext uri="{BB962C8B-B14F-4D97-AF65-F5344CB8AC3E}">
        <p14:creationId xmlns:p14="http://schemas.microsoft.com/office/powerpoint/2010/main" val="16410175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a:extLst>
            <a:ext uri="{FF2B5EF4-FFF2-40B4-BE49-F238E27FC236}">
              <a16:creationId xmlns:a16="http://schemas.microsoft.com/office/drawing/2014/main" id="{22E917D4-7518-A3B5-18C8-6F3D3BC8799B}"/>
            </a:ext>
          </a:extLst>
        </p:cNvPr>
        <p:cNvGrpSpPr/>
        <p:nvPr/>
      </p:nvGrpSpPr>
      <p:grpSpPr>
        <a:xfrm>
          <a:off x="0" y="0"/>
          <a:ext cx="0" cy="0"/>
          <a:chOff x="0" y="0"/>
          <a:chExt cx="0" cy="0"/>
        </a:xfrm>
      </p:grpSpPr>
      <p:sp>
        <p:nvSpPr>
          <p:cNvPr id="84" name="Google Shape;84;g3ba14ccda94_0_28:notes">
            <a:extLst>
              <a:ext uri="{FF2B5EF4-FFF2-40B4-BE49-F238E27FC236}">
                <a16:creationId xmlns:a16="http://schemas.microsoft.com/office/drawing/2014/main" id="{79D2C37B-62AF-589E-7C0B-AA144B1C1EA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5" name="Google Shape;85;g3ba14ccda94_0_28:notes">
            <a:extLst>
              <a:ext uri="{FF2B5EF4-FFF2-40B4-BE49-F238E27FC236}">
                <a16:creationId xmlns:a16="http://schemas.microsoft.com/office/drawing/2014/main" id="{B885B11D-8D03-77FC-3F54-F764FDCB159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t>This is the system architecture. Every 120 seconds, the LangGraph orchestrator collects telemetry from all configured sources. The LLM receives a scope-bounded prompt and returns a strict JSON verdict. High and critical verdicts trigger push notifications. Threat detection is fully deterministic — no LLM in that path — and blocking requires the operator to click. The runbook assistant uses RAG with local embeddings and returns source titles. The verdict memory uses content-plus-ruleset fingerprints.</a:t>
            </a:r>
          </a:p>
        </p:txBody>
      </p:sp>
    </p:spTree>
    <p:extLst>
      <p:ext uri="{BB962C8B-B14F-4D97-AF65-F5344CB8AC3E}">
        <p14:creationId xmlns:p14="http://schemas.microsoft.com/office/powerpoint/2010/main" val="33054707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a:extLst>
            <a:ext uri="{FF2B5EF4-FFF2-40B4-BE49-F238E27FC236}">
              <a16:creationId xmlns:a16="http://schemas.microsoft.com/office/drawing/2014/main" id="{F87D4C03-D85A-F5E1-A5BC-0CC11F8B089D}"/>
            </a:ext>
          </a:extLst>
        </p:cNvPr>
        <p:cNvGrpSpPr/>
        <p:nvPr/>
      </p:nvGrpSpPr>
      <p:grpSpPr>
        <a:xfrm>
          <a:off x="0" y="0"/>
          <a:ext cx="0" cy="0"/>
          <a:chOff x="0" y="0"/>
          <a:chExt cx="0" cy="0"/>
        </a:xfrm>
      </p:grpSpPr>
      <p:sp>
        <p:nvSpPr>
          <p:cNvPr id="84" name="Google Shape;84;g3ba14ccda94_0_28:notes">
            <a:extLst>
              <a:ext uri="{FF2B5EF4-FFF2-40B4-BE49-F238E27FC236}">
                <a16:creationId xmlns:a16="http://schemas.microsoft.com/office/drawing/2014/main" id="{820FB2D1-37D4-FB03-A350-6624888622F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5" name="Google Shape;85;g3ba14ccda94_0_28:notes">
            <a:extLst>
              <a:ext uri="{FF2B5EF4-FFF2-40B4-BE49-F238E27FC236}">
                <a16:creationId xmlns:a16="http://schemas.microsoft.com/office/drawing/2014/main" id="{2149CCC8-5125-EF8A-266A-DA8D51525E4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t>The implementation is fully modular. The agent and API are independent containers sharing a SQLite volume. The LangGraph pipeline has four nodes — collect, analyze, decide, notify — with conditional notification routing. The API enforces cookie-based auth, rate limiting, and HTML-escapes all LLM output before rendering. Every request is audit-logged with timestamp, IP, method, route, user, status, and latency.</a:t>
            </a:r>
          </a:p>
        </p:txBody>
      </p:sp>
    </p:spTree>
    <p:extLst>
      <p:ext uri="{BB962C8B-B14F-4D97-AF65-F5344CB8AC3E}">
        <p14:creationId xmlns:p14="http://schemas.microsoft.com/office/powerpoint/2010/main" val="5033024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a:extLst>
            <a:ext uri="{FF2B5EF4-FFF2-40B4-BE49-F238E27FC236}">
              <a16:creationId xmlns:a16="http://schemas.microsoft.com/office/drawing/2014/main" id="{2F034F94-7EA0-DC43-FE37-F5F76DF22AC3}"/>
            </a:ext>
          </a:extLst>
        </p:cNvPr>
        <p:cNvGrpSpPr/>
        <p:nvPr/>
      </p:nvGrpSpPr>
      <p:grpSpPr>
        <a:xfrm>
          <a:off x="0" y="0"/>
          <a:ext cx="0" cy="0"/>
          <a:chOff x="0" y="0"/>
          <a:chExt cx="0" cy="0"/>
        </a:xfrm>
      </p:grpSpPr>
      <p:sp>
        <p:nvSpPr>
          <p:cNvPr id="74" name="Google Shape;74;g3ba14ccda94_0_19:notes">
            <a:extLst>
              <a:ext uri="{FF2B5EF4-FFF2-40B4-BE49-F238E27FC236}">
                <a16:creationId xmlns:a16="http://schemas.microsoft.com/office/drawing/2014/main" id="{6368C3B3-625A-AAAC-72A7-FC87BF1BD7E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5" name="Google Shape;75;g3ba14ccda94_0_19:notes">
            <a:extLst>
              <a:ext uri="{FF2B5EF4-FFF2-40B4-BE49-F238E27FC236}">
                <a16:creationId xmlns:a16="http://schemas.microsoft.com/office/drawing/2014/main" id="{6FD12271-C6FA-B238-DDA2-2B6E521FF5F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t>Two critical design decisions. First, the runbook assistant uses RAG with local embeddings — nothing leaves the network for embedding. The prompt instructs the model to answer only from retrieved documents and say when nothing matches. Second, I built multiple safety layers: the LLM never takes action, severity is whitelist-validated, threat detection is deterministic, and IP blocking always requires operator approval. High and critical verdicts can never be suppressed.</a:t>
            </a:r>
          </a:p>
        </p:txBody>
      </p:sp>
    </p:spTree>
    <p:extLst>
      <p:ext uri="{BB962C8B-B14F-4D97-AF65-F5344CB8AC3E}">
        <p14:creationId xmlns:p14="http://schemas.microsoft.com/office/powerpoint/2010/main" val="36350641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a:extLst>
            <a:ext uri="{FF2B5EF4-FFF2-40B4-BE49-F238E27FC236}">
              <a16:creationId xmlns:a16="http://schemas.microsoft.com/office/drawing/2014/main" id="{0255C541-2389-071C-B35F-6A96284E5328}"/>
            </a:ext>
          </a:extLst>
        </p:cNvPr>
        <p:cNvGrpSpPr/>
        <p:nvPr/>
      </p:nvGrpSpPr>
      <p:grpSpPr>
        <a:xfrm>
          <a:off x="0" y="0"/>
          <a:ext cx="0" cy="0"/>
          <a:chOff x="0" y="0"/>
          <a:chExt cx="0" cy="0"/>
        </a:xfrm>
      </p:grpSpPr>
      <p:sp>
        <p:nvSpPr>
          <p:cNvPr id="84" name="Google Shape;84;g3ba14ccda94_0_28:notes">
            <a:extLst>
              <a:ext uri="{FF2B5EF4-FFF2-40B4-BE49-F238E27FC236}">
                <a16:creationId xmlns:a16="http://schemas.microsoft.com/office/drawing/2014/main" id="{24B3ED4A-601C-F75E-483A-990C1E449C1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5" name="Google Shape;85;g3ba14ccda94_0_28:notes">
            <a:extLst>
              <a:ext uri="{FF2B5EF4-FFF2-40B4-BE49-F238E27FC236}">
                <a16:creationId xmlns:a16="http://schemas.microsoft.com/office/drawing/2014/main" id="{0EECF858-6712-80EF-CCCC-E8CB04334F7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t>The automated test suite has 180 passing tests with 89% overall line coverage. Six critical modules are at 100%, the orchestrator is at 95%, and the store at 94%. These tests verify implemented software behaviour using mocked external dependencies. They run on every PR and gate deployment, but they do not by themselves prove live reliability or diagnostic accuracy — that is what the benchmark and practitioner evaluation address.</a:t>
            </a:r>
          </a:p>
        </p:txBody>
      </p:sp>
    </p:spTree>
    <p:extLst>
      <p:ext uri="{BB962C8B-B14F-4D97-AF65-F5344CB8AC3E}">
        <p14:creationId xmlns:p14="http://schemas.microsoft.com/office/powerpoint/2010/main" val="39497717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a:extLst>
            <a:ext uri="{FF2B5EF4-FFF2-40B4-BE49-F238E27FC236}">
              <a16:creationId xmlns:a16="http://schemas.microsoft.com/office/drawing/2014/main" id="{71E5CB79-F0FE-467E-C7FA-1BFE10F6D2B3}"/>
            </a:ext>
          </a:extLst>
        </p:cNvPr>
        <p:cNvGrpSpPr/>
        <p:nvPr/>
      </p:nvGrpSpPr>
      <p:grpSpPr>
        <a:xfrm>
          <a:off x="0" y="0"/>
          <a:ext cx="0" cy="0"/>
          <a:chOff x="0" y="0"/>
          <a:chExt cx="0" cy="0"/>
        </a:xfrm>
      </p:grpSpPr>
      <p:sp>
        <p:nvSpPr>
          <p:cNvPr id="74" name="Google Shape;74;g3ba14ccda94_0_19:notes">
            <a:extLst>
              <a:ext uri="{FF2B5EF4-FFF2-40B4-BE49-F238E27FC236}">
                <a16:creationId xmlns:a16="http://schemas.microsoft.com/office/drawing/2014/main" id="{7951D505-DB54-BDE4-8EC8-F6DD7CF4630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5" name="Google Shape;75;g3ba14ccda94_0_19:notes">
            <a:extLst>
              <a:ext uri="{FF2B5EF4-FFF2-40B4-BE49-F238E27FC236}">
                <a16:creationId xmlns:a16="http://schemas.microsoft.com/office/drawing/2014/main" id="{F91F64FC-2D21-E9E8-E866-6115AE59412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t>The frozen benchmark tested 24 incident scenarios across 3 runs with a local 3-billion-parameter model. Schema validity was perfect — the pipeline never produces malformed output. Severity agreement was 40.3%, which I transparently report as inadequate for unattended triage. OK and critical classes had 100% recall, but the model struggles with the warning class. RAG retrieval succeeded for all 12 test questions. The SUS usability study with 10 complete responses yielded a mean of 79.25 — in the Good range. These are controlled results; a production model like Gemini Flash would perform significantly better.</a:t>
            </a:r>
          </a:p>
        </p:txBody>
      </p:sp>
    </p:spTree>
    <p:extLst>
      <p:ext uri="{BB962C8B-B14F-4D97-AF65-F5344CB8AC3E}">
        <p14:creationId xmlns:p14="http://schemas.microsoft.com/office/powerpoint/2010/main" val="11916554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a:extLst>
            <a:ext uri="{FF2B5EF4-FFF2-40B4-BE49-F238E27FC236}">
              <a16:creationId xmlns:a16="http://schemas.microsoft.com/office/drawing/2014/main" id="{926A7898-E8D4-2F11-4A58-343C26DB76BD}"/>
            </a:ext>
          </a:extLst>
        </p:cNvPr>
        <p:cNvGrpSpPr/>
        <p:nvPr/>
      </p:nvGrpSpPr>
      <p:grpSpPr>
        <a:xfrm>
          <a:off x="0" y="0"/>
          <a:ext cx="0" cy="0"/>
          <a:chOff x="0" y="0"/>
          <a:chExt cx="0" cy="0"/>
        </a:xfrm>
      </p:grpSpPr>
      <p:sp>
        <p:nvSpPr>
          <p:cNvPr id="84" name="Google Shape;84;g3ba14ccda94_0_28:notes">
            <a:extLst>
              <a:ext uri="{FF2B5EF4-FFF2-40B4-BE49-F238E27FC236}">
                <a16:creationId xmlns:a16="http://schemas.microsoft.com/office/drawing/2014/main" id="{C07B5AA4-0F42-DEDA-3FA9-04045817A85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5" name="Google Shape;85;g3ba14ccda94_0_28:notes">
            <a:extLst>
              <a:ext uri="{FF2B5EF4-FFF2-40B4-BE49-F238E27FC236}">
                <a16:creationId xmlns:a16="http://schemas.microsoft.com/office/drawing/2014/main" id="{07DE8A96-CF18-62F2-D27C-F5527A23FE2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t>The principal contribution is the fingerprint-based verdict memory — a pattern I have not found in the 13 systems I reviewed. I am transparent about limitations: the benchmark model scores 40.3%, which is not good enough for unattended triage. The SUS results are descriptive, not inferential. Future work should include independent label adjudication, a 30-day field pilot, and multi-site architecture. These are honest boundaries, not concessions.</a:t>
            </a:r>
          </a:p>
        </p:txBody>
      </p:sp>
    </p:spTree>
    <p:extLst>
      <p:ext uri="{BB962C8B-B14F-4D97-AF65-F5344CB8AC3E}">
        <p14:creationId xmlns:p14="http://schemas.microsoft.com/office/powerpoint/2010/main" val="5340291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3ba208e1783_0_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3" name="Google Shape;223;g3ba208e1783_0_9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t>Thank you. I am happy to take your questions.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2"/>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22"/>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3"/>
        <p:cNvGrpSpPr/>
        <p:nvPr/>
      </p:nvGrpSpPr>
      <p:grpSpPr>
        <a:xfrm>
          <a:off x="0" y="0"/>
          <a:ext cx="0" cy="0"/>
          <a:chOff x="0" y="0"/>
          <a:chExt cx="0" cy="0"/>
        </a:xfrm>
      </p:grpSpPr>
      <p:sp>
        <p:nvSpPr>
          <p:cNvPr id="14" name="Google Shape;14;p2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5" name="Google Shape;15;p2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6" name="Google Shape;16;p2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
        <p:cNvGrpSpPr/>
        <p:nvPr/>
      </p:nvGrpSpPr>
      <p:grpSpPr>
        <a:xfrm>
          <a:off x="0" y="0"/>
          <a:ext cx="0" cy="0"/>
          <a:chOff x="0" y="0"/>
          <a:chExt cx="0" cy="0"/>
        </a:xfrm>
      </p:grpSpPr>
      <p:sp>
        <p:nvSpPr>
          <p:cNvPr id="18" name="Google Shape;18;p24"/>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9" name="Google Shape;19;p2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2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25"/>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3" name="Google Shape;23;p25"/>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4" name="Google Shape;24;p2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2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 name="Google Shape;27;p2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27"/>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27"/>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1" name="Google Shape;31;p2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28"/>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2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2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29"/>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29"/>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29"/>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0" name="Google Shape;40;p2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30"/>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3" name="Google Shape;43;p3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31"/>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31"/>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7" name="Google Shape;47;p3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3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2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pic>
        <p:nvPicPr>
          <p:cNvPr id="54" name="Google Shape;54;g3ba208e1783_0_80" title="1.jpg"/>
          <p:cNvPicPr preferRelativeResize="0"/>
          <p:nvPr/>
        </p:nvPicPr>
        <p:blipFill rotWithShape="1">
          <a:blip r:embed="rId3">
            <a:alphaModFix/>
          </a:blip>
          <a:srcRect/>
          <a:stretch/>
        </p:blipFill>
        <p:spPr>
          <a:xfrm>
            <a:off x="0" y="0"/>
            <a:ext cx="9144000" cy="5143505"/>
          </a:xfrm>
          <a:prstGeom prst="rect">
            <a:avLst/>
          </a:prstGeom>
          <a:noFill/>
          <a:ln>
            <a:noFill/>
          </a:ln>
        </p:spPr>
      </p:pic>
      <p:sp>
        <p:nvSpPr>
          <p:cNvPr id="56" name="Google Shape;56;g3ba208e1783_0_80"/>
          <p:cNvSpPr txBox="1"/>
          <p:nvPr/>
        </p:nvSpPr>
        <p:spPr>
          <a:xfrm flipH="1">
            <a:off x="2651337" y="2968460"/>
            <a:ext cx="4270550" cy="1381619"/>
          </a:xfrm>
          <a:prstGeom prst="rect">
            <a:avLst/>
          </a:prstGeom>
          <a:noFill/>
          <a:ln>
            <a:noFill/>
          </a:ln>
        </p:spPr>
        <p:txBody>
          <a:bodyPr spcFirstLastPara="1" wrap="square" lIns="104150" tIns="104150" rIns="104150" bIns="104150" anchor="t" anchorCtr="0">
            <a:noAutofit/>
          </a:bodyPr>
          <a:lstStyle/>
          <a:p>
            <a:pPr marL="0" marR="0" lvl="0" indent="0" algn="ctr" rtl="0">
              <a:lnSpc>
                <a:spcPct val="100000"/>
              </a:lnSpc>
              <a:spcBef>
                <a:spcPts val="0"/>
              </a:spcBef>
              <a:spcAft>
                <a:spcPts val="0"/>
              </a:spcAft>
              <a:buClr>
                <a:srgbClr val="000000"/>
              </a:buClr>
              <a:buSzPts val="3645"/>
              <a:buFont typeface="Arial"/>
              <a:buNone/>
            </a:pPr>
            <a:r>
              <a:rPr lang="en" sz="3643" b="1" i="0" u="none" strike="noStrike" cap="none" dirty="0">
                <a:solidFill>
                  <a:srgbClr val="BF9F80"/>
                </a:solidFill>
                <a:latin typeface="Afacad Flux"/>
                <a:ea typeface="Afacad Flux"/>
                <a:cs typeface="Afacad Flux"/>
                <a:sym typeface="Afacad Flux"/>
              </a:rPr>
              <a:t>FINAL PROJECT DEFENCE</a:t>
            </a:r>
            <a:endParaRPr sz="3643" b="1" i="0" u="none" strike="noStrike" cap="none" dirty="0">
              <a:solidFill>
                <a:srgbClr val="BF9F80"/>
              </a:solidFill>
              <a:latin typeface="Afacad Flux"/>
              <a:ea typeface="Afacad Flux"/>
              <a:cs typeface="Afacad Flux"/>
              <a:sym typeface="Afacad Flux"/>
            </a:endParaRPr>
          </a:p>
        </p:txBody>
      </p:sp>
      <p:pic>
        <p:nvPicPr>
          <p:cNvPr id="5" name="Picture 4" descr="A logo with a letter and a leaf&#10;&#10;AI-generated content may be incorrect.">
            <a:extLst>
              <a:ext uri="{FF2B5EF4-FFF2-40B4-BE49-F238E27FC236}">
                <a16:creationId xmlns:a16="http://schemas.microsoft.com/office/drawing/2014/main" id="{35FD1EC9-7B61-28ED-2540-81A8507C574A}"/>
              </a:ext>
            </a:extLst>
          </p:cNvPr>
          <p:cNvPicPr>
            <a:picLocks noChangeAspect="1"/>
          </p:cNvPicPr>
          <p:nvPr/>
        </p:nvPicPr>
        <p:blipFill>
          <a:blip r:embed="rId4"/>
          <a:stretch>
            <a:fillRect/>
          </a:stretch>
        </p:blipFill>
        <p:spPr>
          <a:xfrm>
            <a:off x="1019231" y="1249133"/>
            <a:ext cx="5267380" cy="185181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5" name="Google Shape;65;g3bb6db650b2_0_55"/>
          <p:cNvSpPr/>
          <p:nvPr/>
        </p:nvSpPr>
        <p:spPr>
          <a:xfrm>
            <a:off x="3577350" y="4642350"/>
            <a:ext cx="1989300" cy="202200"/>
          </a:xfrm>
          <a:prstGeom prst="roundRect">
            <a:avLst>
              <a:gd name="adj" fmla="val 50000"/>
            </a:avLst>
          </a:prstGeom>
          <a:solidFill>
            <a:srgbClr val="E3383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 name="Picture 1" descr="A logo with a letter m and a laurel wreath&#10;&#10;AI-generated content may be incorrect.">
            <a:extLst>
              <a:ext uri="{FF2B5EF4-FFF2-40B4-BE49-F238E27FC236}">
                <a16:creationId xmlns:a16="http://schemas.microsoft.com/office/drawing/2014/main" id="{A9B9ADCE-D3D6-BA29-D017-D8BC9F908EAC}"/>
              </a:ext>
            </a:extLst>
          </p:cNvPr>
          <p:cNvPicPr>
            <a:picLocks noChangeAspect="1"/>
          </p:cNvPicPr>
          <p:nvPr/>
        </p:nvPicPr>
        <p:blipFill>
          <a:blip r:embed="rId3"/>
          <a:stretch>
            <a:fillRect/>
          </a:stretch>
        </p:blipFill>
        <p:spPr>
          <a:xfrm>
            <a:off x="7125672" y="239527"/>
            <a:ext cx="1591055" cy="559355"/>
          </a:xfrm>
          <a:prstGeom prst="rect">
            <a:avLst/>
          </a:prstGeom>
        </p:spPr>
      </p:pic>
      <p:sp>
        <p:nvSpPr>
          <p:cNvPr id="7" name="Google Shape;77;g3ba14ccda94_0_19">
            <a:extLst>
              <a:ext uri="{FF2B5EF4-FFF2-40B4-BE49-F238E27FC236}">
                <a16:creationId xmlns:a16="http://schemas.microsoft.com/office/drawing/2014/main" id="{52D65209-CA83-F3E2-3495-9CCDEF11EA5C}"/>
              </a:ext>
            </a:extLst>
          </p:cNvPr>
          <p:cNvSpPr txBox="1">
            <a:spLocks noGrp="1"/>
          </p:cNvSpPr>
          <p:nvPr>
            <p:ph type="ctrTitle"/>
          </p:nvPr>
        </p:nvSpPr>
        <p:spPr>
          <a:xfrm>
            <a:off x="311150" y="744538"/>
            <a:ext cx="8521700" cy="3998912"/>
          </a:xfrm>
          <a:prstGeom prst="rect">
            <a:avLst/>
          </a:prstGeom>
          <a:noFill/>
          <a:ln>
            <a:noFill/>
          </a:ln>
        </p:spPr>
        <p:txBody>
          <a:bodyPr spcFirstLastPara="1" wrap="square" lIns="91425" tIns="91425" rIns="91425" bIns="91425" anchor="t" anchorCtr="0">
            <a:noAutofit/>
          </a:bodyPr>
          <a:lstStyle/>
          <a:p>
            <a:br>
              <a:rPr lang="en-US" sz="1000" b="1" dirty="0">
                <a:solidFill>
                  <a:schemeClr val="accent1">
                    <a:lumMod val="50000"/>
                  </a:schemeClr>
                </a:solidFill>
                <a:latin typeface="Afacad Flux" panose="020B0604020202020204" charset="0"/>
                <a:cs typeface="Afacad Flux" panose="020B0604020202020204" charset="0"/>
              </a:rPr>
            </a:br>
            <a:r>
              <a:rPr lang="en-US" sz="2000" b="1" dirty="0">
                <a:solidFill>
                  <a:schemeClr val="accent1">
                    <a:lumMod val="50000"/>
                  </a:schemeClr>
                </a:solidFill>
                <a:latin typeface="Afacad Flux" panose="020B0604020202020204" charset="0"/>
                <a:cs typeface="Afacad Flux" panose="020B0604020202020204" charset="0"/>
              </a:rPr>
              <a:t>DESIGN AND EVALUATION OF INFRAGUARD AI: A </a:t>
            </a:r>
            <a:br>
              <a:rPr lang="en-US" sz="2000" b="1" dirty="0">
                <a:solidFill>
                  <a:schemeClr val="accent1">
                    <a:lumMod val="50000"/>
                  </a:schemeClr>
                </a:solidFill>
                <a:latin typeface="Afacad Flux" panose="020B0604020202020204" charset="0"/>
                <a:cs typeface="Afacad Flux" panose="020B0604020202020204" charset="0"/>
              </a:rPr>
            </a:br>
            <a:r>
              <a:rPr lang="en-US" sz="2000" b="1" dirty="0">
                <a:solidFill>
                  <a:schemeClr val="accent1">
                    <a:lumMod val="50000"/>
                  </a:schemeClr>
                </a:solidFill>
                <a:latin typeface="Afacad Flux" panose="020B0604020202020204" charset="0"/>
                <a:cs typeface="Afacad Flux" panose="020B0604020202020204" charset="0"/>
              </a:rPr>
              <a:t>GOVERNANCE-BY-DESIGN REFERENCE FRAMEWORK FOR </a:t>
            </a:r>
            <a:br>
              <a:rPr lang="en-US" sz="2000" b="1" dirty="0">
                <a:solidFill>
                  <a:schemeClr val="accent1">
                    <a:lumMod val="50000"/>
                  </a:schemeClr>
                </a:solidFill>
                <a:latin typeface="Afacad Flux" panose="020B0604020202020204" charset="0"/>
                <a:cs typeface="Afacad Flux" panose="020B0604020202020204" charset="0"/>
              </a:rPr>
            </a:br>
            <a:r>
              <a:rPr lang="en-US" sz="2000" b="1" dirty="0">
                <a:solidFill>
                  <a:schemeClr val="accent1">
                    <a:lumMod val="50000"/>
                  </a:schemeClr>
                </a:solidFill>
                <a:latin typeface="Afacad Flux" panose="020B0604020202020204" charset="0"/>
                <a:cs typeface="Afacad Flux" panose="020B0604020202020204" charset="0"/>
              </a:rPr>
              <a:t>BOUNDED LLM-ASSISTED INCIDENT TRIAGE</a:t>
            </a:r>
            <a:br>
              <a:rPr lang="en-US" sz="1000" b="1" dirty="0">
                <a:solidFill>
                  <a:schemeClr val="accent1">
                    <a:lumMod val="50000"/>
                  </a:schemeClr>
                </a:solidFill>
                <a:latin typeface="Afacad Flux" panose="020B0604020202020204" charset="0"/>
                <a:cs typeface="Afacad Flux" panose="020B0604020202020204" charset="0"/>
              </a:rPr>
            </a:br>
            <a:br>
              <a:rPr lang="en-US" sz="1000" b="1" dirty="0">
                <a:solidFill>
                  <a:schemeClr val="accent1">
                    <a:lumMod val="50000"/>
                  </a:schemeClr>
                </a:solidFill>
                <a:latin typeface="Afacad Flux" panose="020B0604020202020204" charset="0"/>
                <a:cs typeface="Afacad Flux" panose="020B0604020202020204" charset="0"/>
              </a:rPr>
            </a:br>
            <a:br>
              <a:rPr lang="en-US" sz="1000" b="1" dirty="0">
                <a:solidFill>
                  <a:schemeClr val="accent1">
                    <a:lumMod val="50000"/>
                  </a:schemeClr>
                </a:solidFill>
                <a:latin typeface="Afacad Flux" panose="020B0604020202020204" charset="0"/>
                <a:cs typeface="Afacad Flux" panose="020B0604020202020204" charset="0"/>
              </a:rPr>
            </a:br>
            <a:br>
              <a:rPr lang="en-US" sz="1000" b="1" dirty="0">
                <a:solidFill>
                  <a:schemeClr val="accent1">
                    <a:lumMod val="50000"/>
                  </a:schemeClr>
                </a:solidFill>
                <a:latin typeface="Afacad Flux" panose="020B0604020202020204" charset="0"/>
                <a:cs typeface="Afacad Flux" panose="020B0604020202020204" charset="0"/>
              </a:rPr>
            </a:br>
            <a:br>
              <a:rPr lang="en-US" sz="1000" b="1" dirty="0">
                <a:solidFill>
                  <a:schemeClr val="accent1">
                    <a:lumMod val="50000"/>
                  </a:schemeClr>
                </a:solidFill>
                <a:latin typeface="Afacad Flux" panose="020B0604020202020204" charset="0"/>
                <a:cs typeface="Afacad Flux" panose="020B0604020202020204" charset="0"/>
              </a:rPr>
            </a:br>
            <a:br>
              <a:rPr lang="en-US" sz="1000" b="1" dirty="0">
                <a:solidFill>
                  <a:schemeClr val="accent1">
                    <a:lumMod val="50000"/>
                  </a:schemeClr>
                </a:solidFill>
                <a:latin typeface="Afacad Flux" panose="020B0604020202020204" charset="0"/>
                <a:cs typeface="Afacad Flux" panose="020B0604020202020204" charset="0"/>
              </a:rPr>
            </a:br>
            <a:br>
              <a:rPr lang="en-US" sz="1000" b="1" dirty="0">
                <a:solidFill>
                  <a:schemeClr val="accent1">
                    <a:lumMod val="50000"/>
                  </a:schemeClr>
                </a:solidFill>
                <a:latin typeface="Afacad Flux" panose="020B0604020202020204" charset="0"/>
                <a:cs typeface="Afacad Flux" panose="020B0604020202020204" charset="0"/>
              </a:rPr>
            </a:br>
            <a:endParaRPr sz="1000" b="1" dirty="0">
              <a:solidFill>
                <a:schemeClr val="accent1">
                  <a:lumMod val="50000"/>
                </a:schemeClr>
              </a:solidFill>
              <a:latin typeface="Afacad Flux" panose="020B0604020202020204" charset="0"/>
              <a:cs typeface="Afacad Flux" panose="020B0604020202020204" charset="0"/>
            </a:endParaRPr>
          </a:p>
          <a:p>
            <a:pPr>
              <a:defRPr sz="2250" b="1">
                <a:solidFill>
                  <a:srgbClr val="104494"/>
                </a:solidFill>
                <a:latin typeface="Afacad Flux"/>
                <a:ea typeface="Afacad Flux"/>
                <a:cs typeface="Afacad Flux"/>
              </a:defRPr>
            </a:pPr>
            <a:r>
              <a:rPr lang="en-US" sz="1400" b="1" dirty="0">
                <a:solidFill>
                  <a:srgbClr val="104494"/>
                </a:solidFill>
                <a:latin typeface="Afacad Flux"/>
                <a:ea typeface="Afacad Flux"/>
                <a:cs typeface="Afacad Flux"/>
              </a:rPr>
              <a:t>PROJECT DEFENCE</a:t>
            </a:r>
            <a:br>
              <a:rPr lang="en-US" sz="1400" b="1" dirty="0">
                <a:solidFill>
                  <a:srgbClr val="104494"/>
                </a:solidFill>
                <a:latin typeface="Afacad Flux"/>
                <a:ea typeface="Afacad Flux"/>
                <a:cs typeface="Afacad Flux"/>
              </a:rPr>
            </a:br>
            <a:r>
              <a:rPr lang="en-US" sz="1400" b="1" dirty="0">
                <a:solidFill>
                  <a:srgbClr val="104494"/>
                </a:solidFill>
                <a:latin typeface="Afacad Flux"/>
                <a:ea typeface="Afacad Flux"/>
                <a:cs typeface="Afacad Flux"/>
              </a:rPr>
              <a:t>Adebodun Samuel Tomola  |  2025/A/MIT/0616</a:t>
            </a:r>
            <a:br>
              <a:rPr lang="en-US" sz="1400" b="1" dirty="0">
                <a:solidFill>
                  <a:srgbClr val="104494"/>
                </a:solidFill>
                <a:latin typeface="Afacad Flux"/>
                <a:ea typeface="Afacad Flux"/>
                <a:cs typeface="Afacad Flux"/>
              </a:rPr>
            </a:br>
            <a:r>
              <a:rPr lang="en-US" sz="1400" b="1" dirty="0">
                <a:solidFill>
                  <a:srgbClr val="104494"/>
                </a:solidFill>
                <a:latin typeface="Afacad Flux"/>
                <a:ea typeface="Afacad Flux"/>
                <a:cs typeface="Afacad Flux"/>
              </a:rPr>
              <a:t>Supervisor: Dr. Emmanuel </a:t>
            </a:r>
            <a:r>
              <a:rPr lang="en-US" sz="1400" b="1" dirty="0" err="1">
                <a:solidFill>
                  <a:srgbClr val="104494"/>
                </a:solidFill>
                <a:latin typeface="Afacad Flux"/>
                <a:ea typeface="Afacad Flux"/>
                <a:cs typeface="Afacad Flux"/>
              </a:rPr>
              <a:t>Mkpojiogu</a:t>
            </a:r>
            <a:br>
              <a:rPr lang="en-US" sz="1400" b="1" dirty="0">
                <a:solidFill>
                  <a:srgbClr val="104494"/>
                </a:solidFill>
                <a:latin typeface="Afacad Flux"/>
                <a:ea typeface="Afacad Flux"/>
                <a:cs typeface="Afacad Flux"/>
              </a:rPr>
            </a:br>
            <a:r>
              <a:rPr lang="en-US" sz="1400" b="1" dirty="0" err="1">
                <a:solidFill>
                  <a:srgbClr val="104494"/>
                </a:solidFill>
                <a:latin typeface="Afacad Flux"/>
                <a:ea typeface="Afacad Flux"/>
                <a:cs typeface="Afacad Flux"/>
              </a:rPr>
              <a:t>Miva</a:t>
            </a:r>
            <a:r>
              <a:rPr lang="en-US" sz="1400" b="1" dirty="0">
                <a:solidFill>
                  <a:srgbClr val="104494"/>
                </a:solidFill>
                <a:latin typeface="Afacad Flux"/>
                <a:ea typeface="Afacad Flux"/>
                <a:cs typeface="Afacad Flux"/>
              </a:rPr>
              <a:t> Open University  |  September 2026</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g3ba14ccda94_0_19"/>
          <p:cNvSpPr txBox="1">
            <a:spLocks noGrp="1"/>
          </p:cNvSpPr>
          <p:nvPr>
            <p:ph type="title"/>
          </p:nvPr>
        </p:nvSpPr>
        <p:spPr>
          <a:xfrm>
            <a:off x="612375" y="965399"/>
            <a:ext cx="5138598" cy="99336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b="1" dirty="0">
                <a:latin typeface="Afacad Flux" panose="020B0604020202020204" charset="0"/>
                <a:cs typeface="Afacad Flux" panose="020B0604020202020204" charset="0"/>
              </a:rPr>
              <a:t>Introduction &amp; Motivation</a:t>
            </a:r>
            <a:endParaRPr sz="2300" b="1" dirty="0">
              <a:solidFill>
                <a:srgbClr val="E83831"/>
              </a:solidFill>
              <a:latin typeface="Afacad Flux" panose="020B0604020202020204" charset="0"/>
              <a:ea typeface="Afacad Flux"/>
              <a:cs typeface="Afacad Flux" panose="020B0604020202020204" charset="0"/>
              <a:sym typeface="Afacad Flux"/>
            </a:endParaRPr>
          </a:p>
        </p:txBody>
      </p:sp>
      <p:sp>
        <p:nvSpPr>
          <p:cNvPr id="78" name="Google Shape;78;g3ba14ccda94_0_19"/>
          <p:cNvSpPr txBox="1">
            <a:spLocks noGrp="1"/>
          </p:cNvSpPr>
          <p:nvPr>
            <p:ph type="body" idx="1"/>
          </p:nvPr>
        </p:nvSpPr>
        <p:spPr>
          <a:xfrm>
            <a:off x="482074" y="1715950"/>
            <a:ext cx="8149459" cy="1812774"/>
          </a:xfrm>
          <a:prstGeom prst="rect">
            <a:avLst/>
          </a:prstGeom>
          <a:noFill/>
          <a:ln>
            <a:noFill/>
          </a:ln>
        </p:spPr>
        <p:txBody>
          <a:bodyPr spcFirstLastPara="1" wrap="square" lIns="91425" tIns="91425" rIns="91425" bIns="91425" anchor="t" anchorCtr="0">
            <a:spAutoFit/>
          </a:bodyPr>
          <a:lstStyle/>
          <a:p>
            <a:pPr marL="152400" indent="0" algn="l" rtl="0">
              <a:lnSpc>
                <a:spcPct val="100000"/>
              </a:lnSpc>
              <a:spcBef>
                <a:spcPts val="0"/>
              </a:spcBef>
              <a:spcAft>
                <a:spcPts val="600"/>
              </a:spcAft>
              <a:buClr>
                <a:srgbClr val="E83831"/>
              </a:buClr>
              <a:buSzPts val="1200"/>
              <a:buNone/>
              <a:defRPr sz="1300"/>
            </a:pPr>
            <a:r>
              <a:rPr dirty="0">
                <a:latin typeface="Afacad Flux" panose="020B0604020202020204" charset="0"/>
                <a:cs typeface="Afacad Flux" panose="020B0604020202020204" charset="0"/>
              </a:rPr>
              <a:t>Small engineering teams monitor infrastructure through multiple disconnected tools (Prometheus, Loki, Docker, uptime probes)</a:t>
            </a:r>
          </a:p>
          <a:p>
            <a:pPr>
              <a:spcAft>
                <a:spcPts val="600"/>
              </a:spcAft>
              <a:defRPr sz="1300"/>
            </a:pPr>
            <a:r>
              <a:rPr dirty="0">
                <a:latin typeface="Afacad Flux" panose="020B0604020202020204" charset="0"/>
                <a:cs typeface="Afacad Flux" panose="020B0604020202020204" charset="0"/>
              </a:rPr>
              <a:t>Correlating metrics, logs, and events across tools is time-consuming and requires specialist knowledge</a:t>
            </a:r>
          </a:p>
          <a:p>
            <a:pPr>
              <a:spcAft>
                <a:spcPts val="600"/>
              </a:spcAft>
              <a:defRPr sz="1300"/>
            </a:pPr>
            <a:r>
              <a:rPr dirty="0">
                <a:latin typeface="Afacad Flux" panose="020B0604020202020204" charset="0"/>
                <a:cs typeface="Afacad Flux" panose="020B0604020202020204" charset="0"/>
              </a:rPr>
              <a:t>Result: slow triage, alert fatigue, and pressure to automate destructive actions unsafely</a:t>
            </a:r>
          </a:p>
          <a:p>
            <a:pPr>
              <a:spcAft>
                <a:spcPts val="600"/>
              </a:spcAft>
              <a:defRPr sz="1300"/>
            </a:pPr>
            <a:r>
              <a:rPr dirty="0">
                <a:latin typeface="Afacad Flux" panose="020B0604020202020204" charset="0"/>
                <a:cs typeface="Afacad Flux" panose="020B0604020202020204" charset="0"/>
              </a:rPr>
              <a:t>Goal: A self-hosted AI assistant that aggregates telemetry, produces structured advisory verdicts, and keeps enforcement under operator approval</a:t>
            </a:r>
          </a:p>
        </p:txBody>
      </p:sp>
      <p:cxnSp>
        <p:nvCxnSpPr>
          <p:cNvPr id="80" name="Google Shape;80;g3ba14ccda94_0_19"/>
          <p:cNvCxnSpPr/>
          <p:nvPr/>
        </p:nvCxnSpPr>
        <p:spPr>
          <a:xfrm>
            <a:off x="612375" y="738541"/>
            <a:ext cx="6114600" cy="0"/>
          </a:xfrm>
          <a:prstGeom prst="straightConnector1">
            <a:avLst/>
          </a:prstGeom>
          <a:noFill/>
          <a:ln w="9525" cap="flat" cmpd="sng">
            <a:solidFill>
              <a:srgbClr val="B6997F"/>
            </a:solidFill>
            <a:prstDash val="solid"/>
            <a:round/>
            <a:headEnd type="none" w="med" len="med"/>
            <a:tailEnd type="none" w="med" len="med"/>
          </a:ln>
        </p:spPr>
      </p:cxnSp>
      <p:sp>
        <p:nvSpPr>
          <p:cNvPr id="81" name="Google Shape;81;g3ba14ccda94_0_19"/>
          <p:cNvSpPr txBox="1"/>
          <p:nvPr/>
        </p:nvSpPr>
        <p:spPr>
          <a:xfrm>
            <a:off x="594524" y="349855"/>
            <a:ext cx="1382808" cy="338524"/>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1000" b="1" i="0" u="none" strike="noStrike" cap="none" dirty="0">
                <a:solidFill>
                  <a:srgbClr val="0B314F"/>
                </a:solidFill>
                <a:latin typeface="Afacad Flux" panose="020B0604020202020204" charset="0"/>
                <a:ea typeface="Afacad Flux"/>
                <a:cs typeface="Afacad Flux" panose="020B0604020202020204" charset="0"/>
                <a:sym typeface="Afacad Flux"/>
              </a:rPr>
              <a:t>Final Project Defence</a:t>
            </a:r>
            <a:endParaRPr sz="1000" b="1" i="0" u="none" strike="noStrike" cap="none" dirty="0">
              <a:solidFill>
                <a:srgbClr val="0B314F"/>
              </a:solidFill>
              <a:latin typeface="Afacad Flux" panose="020B0604020202020204" charset="0"/>
              <a:ea typeface="Afacad Flux"/>
              <a:cs typeface="Afacad Flux" panose="020B0604020202020204" charset="0"/>
              <a:sym typeface="Afacad Flux"/>
            </a:endParaRPr>
          </a:p>
        </p:txBody>
      </p:sp>
      <p:pic>
        <p:nvPicPr>
          <p:cNvPr id="2" name="Picture 1" descr="A logo with a letter m and a laurel wreath&#10;&#10;AI-generated content may be incorrect.">
            <a:extLst>
              <a:ext uri="{FF2B5EF4-FFF2-40B4-BE49-F238E27FC236}">
                <a16:creationId xmlns:a16="http://schemas.microsoft.com/office/drawing/2014/main" id="{94016517-48E5-3B17-C800-6F76896183EF}"/>
              </a:ext>
            </a:extLst>
          </p:cNvPr>
          <p:cNvPicPr>
            <a:picLocks noChangeAspect="1"/>
          </p:cNvPicPr>
          <p:nvPr/>
        </p:nvPicPr>
        <p:blipFill>
          <a:blip r:embed="rId3"/>
          <a:stretch>
            <a:fillRect/>
          </a:stretch>
        </p:blipFill>
        <p:spPr>
          <a:xfrm>
            <a:off x="7125672" y="239527"/>
            <a:ext cx="1591055" cy="55935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6"/>
        <p:cNvGrpSpPr/>
        <p:nvPr/>
      </p:nvGrpSpPr>
      <p:grpSpPr>
        <a:xfrm>
          <a:off x="0" y="0"/>
          <a:ext cx="0" cy="0"/>
          <a:chOff x="0" y="0"/>
          <a:chExt cx="0" cy="0"/>
        </a:xfrm>
      </p:grpSpPr>
      <p:sp>
        <p:nvSpPr>
          <p:cNvPr id="87" name="Google Shape;87;g3ba14ccda94_0_28"/>
          <p:cNvSpPr/>
          <p:nvPr/>
        </p:nvSpPr>
        <p:spPr>
          <a:xfrm>
            <a:off x="-171450" y="-171450"/>
            <a:ext cx="9326550" cy="5324798"/>
          </a:xfrm>
          <a:prstGeom prst="rect">
            <a:avLst/>
          </a:prstGeom>
          <a:solidFill>
            <a:srgbClr val="09314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facad Flux" panose="020B0604020202020204" charset="0"/>
              <a:cs typeface="Afacad Flux" panose="020B0604020202020204" charset="0"/>
            </a:endParaRPr>
          </a:p>
        </p:txBody>
      </p:sp>
      <p:sp>
        <p:nvSpPr>
          <p:cNvPr id="88" name="Google Shape;88;g3ba14ccda94_0_28"/>
          <p:cNvSpPr txBox="1"/>
          <p:nvPr/>
        </p:nvSpPr>
        <p:spPr>
          <a:xfrm>
            <a:off x="585574" y="942125"/>
            <a:ext cx="3573899" cy="538579"/>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300"/>
              <a:buFont typeface="Arial"/>
              <a:buNone/>
            </a:pPr>
            <a:r>
              <a:rPr lang="en-GB" sz="2300" b="1" i="0" u="none" strike="noStrike" cap="none" dirty="0">
                <a:solidFill>
                  <a:srgbClr val="C0A282"/>
                </a:solidFill>
                <a:latin typeface="Afacad Flux" panose="020B0604020202020204" charset="0"/>
                <a:ea typeface="Afacad Flux"/>
                <a:cs typeface="Afacad Flux" panose="020B0604020202020204" charset="0"/>
                <a:sym typeface="Afacad Flux"/>
              </a:rPr>
              <a:t>Research Objectives</a:t>
            </a:r>
            <a:endParaRPr sz="2300" b="1" i="0" u="none" strike="noStrike" cap="none" dirty="0">
              <a:solidFill>
                <a:srgbClr val="C0A282"/>
              </a:solidFill>
              <a:latin typeface="Afacad Flux" panose="020B0604020202020204" charset="0"/>
              <a:ea typeface="Afacad Flux"/>
              <a:cs typeface="Afacad Flux" panose="020B0604020202020204" charset="0"/>
              <a:sym typeface="Afacad Flux"/>
            </a:endParaRPr>
          </a:p>
        </p:txBody>
      </p:sp>
      <p:sp>
        <p:nvSpPr>
          <p:cNvPr id="89" name="Google Shape;89;g3ba14ccda94_0_28"/>
          <p:cNvSpPr txBox="1"/>
          <p:nvPr/>
        </p:nvSpPr>
        <p:spPr>
          <a:xfrm>
            <a:off x="617675" y="1881275"/>
            <a:ext cx="8214826" cy="1927933"/>
          </a:xfrm>
          <a:prstGeom prst="rect">
            <a:avLst/>
          </a:prstGeom>
          <a:noFill/>
          <a:ln>
            <a:noFill/>
          </a:ln>
        </p:spPr>
        <p:txBody>
          <a:bodyPr spcFirstLastPara="1" wrap="square" lIns="91425" tIns="91425" rIns="91425" bIns="91425" anchor="t" anchorCtr="0">
            <a:spAutoFit/>
          </a:bodyPr>
          <a:lstStyle/>
          <a:p>
            <a:pPr lvl="0">
              <a:lnSpc>
                <a:spcPct val="115000"/>
              </a:lnSpc>
              <a:spcAft>
                <a:spcPts val="800"/>
              </a:spcAft>
              <a:buSzPts val="1200"/>
            </a:pPr>
            <a:r>
              <a:rPr sz="1300" dirty="0">
                <a:solidFill>
                  <a:srgbClr val="FFFFFF"/>
                </a:solidFill>
                <a:latin typeface="Afacad Flux" panose="020B0604020202020204" charset="0"/>
                <a:cs typeface="Afacad Flux" panose="020B0604020202020204" charset="0"/>
              </a:rPr>
              <a:t>1. Design and implement a self-hosted agentic observability platform using LangGraph, </a:t>
            </a:r>
            <a:r>
              <a:rPr sz="1300" dirty="0" err="1">
                <a:solidFill>
                  <a:srgbClr val="FFFFFF"/>
                </a:solidFill>
                <a:latin typeface="Afacad Flux" panose="020B0604020202020204" charset="0"/>
                <a:cs typeface="Afacad Flux" panose="020B0604020202020204" charset="0"/>
              </a:rPr>
              <a:t>LangChain</a:t>
            </a:r>
            <a:r>
              <a:rPr sz="1300" dirty="0">
                <a:solidFill>
                  <a:srgbClr val="FFFFFF"/>
                </a:solidFill>
                <a:latin typeface="Afacad Flux" panose="020B0604020202020204" charset="0"/>
                <a:cs typeface="Afacad Flux" panose="020B0604020202020204" charset="0"/>
              </a:rPr>
              <a:t>, and frontier LLMs</a:t>
            </a:r>
          </a:p>
          <a:p>
            <a:pPr>
              <a:spcAft>
                <a:spcPts val="800"/>
              </a:spcAft>
            </a:pPr>
            <a:r>
              <a:rPr sz="1300" dirty="0">
                <a:solidFill>
                  <a:srgbClr val="FFFFFF"/>
                </a:solidFill>
                <a:latin typeface="Afacad Flux" panose="020B0604020202020204" charset="0"/>
                <a:cs typeface="Afacad Flux" panose="020B0604020202020204" charset="0"/>
              </a:rPr>
              <a:t>2. Develop a structured verdict pipeline with severity classification, root-cause analysis, and actionable recommendations</a:t>
            </a:r>
          </a:p>
          <a:p>
            <a:pPr>
              <a:spcAft>
                <a:spcPts val="800"/>
              </a:spcAft>
            </a:pPr>
            <a:r>
              <a:rPr sz="1300" dirty="0">
                <a:solidFill>
                  <a:srgbClr val="FFFFFF"/>
                </a:solidFill>
                <a:latin typeface="Afacad Flux" panose="020B0604020202020204" charset="0"/>
                <a:cs typeface="Afacad Flux" panose="020B0604020202020204" charset="0"/>
              </a:rPr>
              <a:t>3. Implement a novel fingerprint-based verdict-memory mechanism with self-invalidating acknowledgements</a:t>
            </a:r>
          </a:p>
          <a:p>
            <a:pPr>
              <a:spcAft>
                <a:spcPts val="800"/>
              </a:spcAft>
            </a:pPr>
            <a:r>
              <a:rPr sz="1300" dirty="0">
                <a:solidFill>
                  <a:srgbClr val="FFFFFF"/>
                </a:solidFill>
                <a:latin typeface="Afacad Flux" panose="020B0604020202020204" charset="0"/>
                <a:cs typeface="Afacad Flux" panose="020B0604020202020204" charset="0"/>
              </a:rPr>
              <a:t>4. Integrate deterministic threat detection with human-approved </a:t>
            </a:r>
            <a:r>
              <a:rPr sz="1300" dirty="0" err="1">
                <a:solidFill>
                  <a:srgbClr val="FFFFFF"/>
                </a:solidFill>
                <a:latin typeface="Afacad Flux" panose="020B0604020202020204" charset="0"/>
                <a:cs typeface="Afacad Flux" panose="020B0604020202020204" charset="0"/>
              </a:rPr>
              <a:t>CrowdSec</a:t>
            </a:r>
            <a:r>
              <a:rPr sz="1300" dirty="0">
                <a:solidFill>
                  <a:srgbClr val="FFFFFF"/>
                </a:solidFill>
                <a:latin typeface="Afacad Flux" panose="020B0604020202020204" charset="0"/>
                <a:cs typeface="Afacad Flux" panose="020B0604020202020204" charset="0"/>
              </a:rPr>
              <a:t> enforcement</a:t>
            </a:r>
          </a:p>
          <a:p>
            <a:pPr>
              <a:spcAft>
                <a:spcPts val="800"/>
              </a:spcAft>
            </a:pPr>
            <a:r>
              <a:rPr sz="1300" dirty="0">
                <a:solidFill>
                  <a:srgbClr val="FFFFFF"/>
                </a:solidFill>
                <a:latin typeface="Afacad Flux" panose="020B0604020202020204" charset="0"/>
                <a:cs typeface="Afacad Flux" panose="020B0604020202020204" charset="0"/>
              </a:rPr>
              <a:t>5. Evaluate system quality through automated tests (180 tests, 89% coverage), a controlled benchmark, and a usability study</a:t>
            </a:r>
          </a:p>
        </p:txBody>
      </p:sp>
      <p:cxnSp>
        <p:nvCxnSpPr>
          <p:cNvPr id="91" name="Google Shape;91;g3ba14ccda94_0_28"/>
          <p:cNvCxnSpPr/>
          <p:nvPr/>
        </p:nvCxnSpPr>
        <p:spPr>
          <a:xfrm>
            <a:off x="583800" y="685500"/>
            <a:ext cx="6114600" cy="0"/>
          </a:xfrm>
          <a:prstGeom prst="straightConnector1">
            <a:avLst/>
          </a:prstGeom>
          <a:noFill/>
          <a:ln w="9525" cap="flat" cmpd="sng">
            <a:solidFill>
              <a:srgbClr val="E83831"/>
            </a:solidFill>
            <a:prstDash val="solid"/>
            <a:round/>
            <a:headEnd type="none" w="med" len="med"/>
            <a:tailEnd type="none" w="med" len="med"/>
          </a:ln>
        </p:spPr>
      </p:cxnSp>
      <p:sp>
        <p:nvSpPr>
          <p:cNvPr id="92" name="Google Shape;92;g3ba14ccda94_0_28"/>
          <p:cNvSpPr txBox="1"/>
          <p:nvPr/>
        </p:nvSpPr>
        <p:spPr>
          <a:xfrm>
            <a:off x="594524" y="349855"/>
            <a:ext cx="1254373" cy="338524"/>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1000" b="1" dirty="0">
                <a:solidFill>
                  <a:schemeClr val="lt1"/>
                </a:solidFill>
                <a:latin typeface="Afacad Flux" panose="020B0604020202020204" charset="0"/>
                <a:ea typeface="Afacad Flux"/>
                <a:cs typeface="Afacad Flux" panose="020B0604020202020204" charset="0"/>
                <a:sym typeface="Afacad Flux"/>
              </a:rPr>
              <a:t>Final Project Defence</a:t>
            </a:r>
            <a:endParaRPr sz="1000" b="1" i="0" u="none" strike="noStrike" cap="none" dirty="0">
              <a:solidFill>
                <a:schemeClr val="lt1"/>
              </a:solidFill>
              <a:latin typeface="Afacad Flux" panose="020B0604020202020204" charset="0"/>
              <a:ea typeface="Afacad Flux"/>
              <a:cs typeface="Afacad Flux" panose="020B0604020202020204" charset="0"/>
              <a:sym typeface="Afacad Flux"/>
            </a:endParaRPr>
          </a:p>
        </p:txBody>
      </p:sp>
      <p:pic>
        <p:nvPicPr>
          <p:cNvPr id="2" name="Picture 1" descr="A logo with a letter and a leaf&#10;&#10;AI-generated content may be incorrect.">
            <a:extLst>
              <a:ext uri="{FF2B5EF4-FFF2-40B4-BE49-F238E27FC236}">
                <a16:creationId xmlns:a16="http://schemas.microsoft.com/office/drawing/2014/main" id="{FB93F265-0564-D3F9-74A4-39A0451FBF52}"/>
              </a:ext>
            </a:extLst>
          </p:cNvPr>
          <p:cNvPicPr>
            <a:picLocks noChangeAspect="1"/>
          </p:cNvPicPr>
          <p:nvPr/>
        </p:nvPicPr>
        <p:blipFill>
          <a:blip r:embed="rId4"/>
          <a:stretch>
            <a:fillRect/>
          </a:stretch>
        </p:blipFill>
        <p:spPr>
          <a:xfrm>
            <a:off x="7127814" y="239115"/>
            <a:ext cx="1593400" cy="56017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6">
          <a:extLst>
            <a:ext uri="{FF2B5EF4-FFF2-40B4-BE49-F238E27FC236}">
              <a16:creationId xmlns:a16="http://schemas.microsoft.com/office/drawing/2014/main" id="{A0EDF674-B381-95D2-1C7A-350695B2E314}"/>
            </a:ext>
          </a:extLst>
        </p:cNvPr>
        <p:cNvGrpSpPr/>
        <p:nvPr/>
      </p:nvGrpSpPr>
      <p:grpSpPr>
        <a:xfrm>
          <a:off x="0" y="0"/>
          <a:ext cx="0" cy="0"/>
          <a:chOff x="0" y="0"/>
          <a:chExt cx="0" cy="0"/>
        </a:xfrm>
      </p:grpSpPr>
      <p:sp>
        <p:nvSpPr>
          <p:cNvPr id="77" name="Google Shape;77;g3ba14ccda94_0_19">
            <a:extLst>
              <a:ext uri="{FF2B5EF4-FFF2-40B4-BE49-F238E27FC236}">
                <a16:creationId xmlns:a16="http://schemas.microsoft.com/office/drawing/2014/main" id="{E7749026-8990-A95E-5684-CF562DB492B7}"/>
              </a:ext>
            </a:extLst>
          </p:cNvPr>
          <p:cNvSpPr txBox="1">
            <a:spLocks noGrp="1"/>
          </p:cNvSpPr>
          <p:nvPr>
            <p:ph type="title"/>
          </p:nvPr>
        </p:nvSpPr>
        <p:spPr>
          <a:xfrm>
            <a:off x="612374" y="965400"/>
            <a:ext cx="6513297" cy="933024"/>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b="1" dirty="0">
                <a:latin typeface="Afacad Flux" panose="020B0604020202020204" charset="0"/>
                <a:cs typeface="Afacad Flux" panose="020B0604020202020204" charset="0"/>
              </a:rPr>
              <a:t>Literature Review &amp; Gap Analysis</a:t>
            </a:r>
            <a:endParaRPr sz="2300" b="1" dirty="0">
              <a:solidFill>
                <a:srgbClr val="E83831"/>
              </a:solidFill>
              <a:latin typeface="Afacad Flux" panose="020B0604020202020204" charset="0"/>
              <a:ea typeface="Afacad Flux"/>
              <a:cs typeface="Afacad Flux" panose="020B0604020202020204" charset="0"/>
              <a:sym typeface="Afacad Flux"/>
            </a:endParaRPr>
          </a:p>
        </p:txBody>
      </p:sp>
      <p:sp>
        <p:nvSpPr>
          <p:cNvPr id="78" name="Google Shape;78;g3ba14ccda94_0_19">
            <a:extLst>
              <a:ext uri="{FF2B5EF4-FFF2-40B4-BE49-F238E27FC236}">
                <a16:creationId xmlns:a16="http://schemas.microsoft.com/office/drawing/2014/main" id="{4132265A-49C1-EDF3-57A5-1E033FC18F9C}"/>
              </a:ext>
            </a:extLst>
          </p:cNvPr>
          <p:cNvSpPr txBox="1">
            <a:spLocks noGrp="1"/>
          </p:cNvSpPr>
          <p:nvPr>
            <p:ph type="body" idx="1"/>
          </p:nvPr>
        </p:nvSpPr>
        <p:spPr>
          <a:xfrm>
            <a:off x="482074" y="1715950"/>
            <a:ext cx="8149459" cy="2686090"/>
          </a:xfrm>
          <a:prstGeom prst="rect">
            <a:avLst/>
          </a:prstGeom>
          <a:noFill/>
          <a:ln>
            <a:noFill/>
          </a:ln>
        </p:spPr>
        <p:txBody>
          <a:bodyPr spcFirstLastPara="1" wrap="square" lIns="91425" tIns="91425" rIns="91425" bIns="91425" anchor="t" anchorCtr="0">
            <a:spAutoFit/>
          </a:bodyPr>
          <a:lstStyle/>
          <a:p>
            <a:pPr marL="152400" lvl="0" indent="0" algn="l" rtl="0">
              <a:lnSpc>
                <a:spcPct val="100000"/>
              </a:lnSpc>
              <a:spcBef>
                <a:spcPts val="0"/>
              </a:spcBef>
              <a:spcAft>
                <a:spcPts val="300"/>
              </a:spcAft>
              <a:buClr>
                <a:srgbClr val="E83831"/>
              </a:buClr>
              <a:buSzPts val="1200"/>
              <a:buNone/>
              <a:defRPr sz="1300" b="1"/>
            </a:pPr>
            <a:r>
              <a:rPr dirty="0">
                <a:latin typeface="Afacad Flux" panose="020B0604020202020204" charset="0"/>
                <a:cs typeface="Afacad Flux" panose="020B0604020202020204" charset="0"/>
              </a:rPr>
              <a:t>Key Literature: AIOps &amp; observability, LLM agents (</a:t>
            </a:r>
            <a:r>
              <a:rPr dirty="0" err="1">
                <a:latin typeface="Afacad Flux" panose="020B0604020202020204" charset="0"/>
                <a:cs typeface="Afacad Flux" panose="020B0604020202020204" charset="0"/>
              </a:rPr>
              <a:t>LangChain</a:t>
            </a:r>
            <a:r>
              <a:rPr lang="en-US" dirty="0">
                <a:latin typeface="Afacad Flux" panose="020B0604020202020204" charset="0"/>
                <a:cs typeface="Afacad Flux" panose="020B0604020202020204" charset="0"/>
              </a:rPr>
              <a:t> </a:t>
            </a:r>
            <a:r>
              <a:rPr dirty="0">
                <a:latin typeface="Afacad Flux" panose="020B0604020202020204" charset="0"/>
                <a:cs typeface="Afacad Flux" panose="020B0604020202020204" charset="0"/>
              </a:rPr>
              <a:t>/</a:t>
            </a:r>
            <a:r>
              <a:rPr lang="en-US" dirty="0">
                <a:latin typeface="Afacad Flux" panose="020B0604020202020204" charset="0"/>
                <a:cs typeface="Afacad Flux" panose="020B0604020202020204" charset="0"/>
              </a:rPr>
              <a:t> </a:t>
            </a:r>
            <a:r>
              <a:rPr dirty="0">
                <a:latin typeface="Afacad Flux" panose="020B0604020202020204" charset="0"/>
                <a:cs typeface="Afacad Flux" panose="020B0604020202020204" charset="0"/>
              </a:rPr>
              <a:t>LangGraph), RAG, human</a:t>
            </a:r>
            <a:r>
              <a:rPr lang="en-US" dirty="0">
                <a:latin typeface="Afacad Flux" panose="020B0604020202020204" charset="0"/>
                <a:cs typeface="Afacad Flux" panose="020B0604020202020204" charset="0"/>
              </a:rPr>
              <a:t>-</a:t>
            </a:r>
            <a:r>
              <a:rPr dirty="0">
                <a:latin typeface="Afacad Flux" panose="020B0604020202020204" charset="0"/>
                <a:cs typeface="Afacad Flux" panose="020B0604020202020204" charset="0"/>
              </a:rPr>
              <a:t>automation trust</a:t>
            </a:r>
            <a:r>
              <a:rPr lang="en-US" dirty="0">
                <a:latin typeface="Afacad Flux" panose="020B0604020202020204" charset="0"/>
                <a:cs typeface="Afacad Flux" panose="020B0604020202020204" charset="0"/>
              </a:rPr>
              <a:t>, </a:t>
            </a:r>
            <a:r>
              <a:rPr dirty="0">
                <a:latin typeface="Afacad Flux" panose="020B0604020202020204" charset="0"/>
                <a:cs typeface="Afacad Flux" panose="020B0604020202020204" charset="0"/>
              </a:rPr>
              <a:t>alert fatigue</a:t>
            </a:r>
            <a:endParaRPr lang="en-US" dirty="0">
              <a:latin typeface="Afacad Flux" panose="020B0604020202020204" charset="0"/>
              <a:cs typeface="Afacad Flux" panose="020B0604020202020204" charset="0"/>
            </a:endParaRPr>
          </a:p>
          <a:p>
            <a:pPr marL="152400" lvl="0" indent="0" algn="l" rtl="0">
              <a:lnSpc>
                <a:spcPct val="100000"/>
              </a:lnSpc>
              <a:spcBef>
                <a:spcPts val="0"/>
              </a:spcBef>
              <a:spcAft>
                <a:spcPts val="300"/>
              </a:spcAft>
              <a:buClr>
                <a:srgbClr val="E83831"/>
              </a:buClr>
              <a:buSzPts val="1200"/>
              <a:buNone/>
              <a:defRPr sz="1300" b="1"/>
            </a:pPr>
            <a:endParaRPr dirty="0">
              <a:latin typeface="Afacad Flux" panose="020B0604020202020204" charset="0"/>
              <a:cs typeface="Afacad Flux" panose="020B0604020202020204" charset="0"/>
            </a:endParaRPr>
          </a:p>
          <a:p>
            <a:pPr marL="114300" indent="0">
              <a:spcAft>
                <a:spcPts val="300"/>
              </a:spcAft>
              <a:buNone/>
              <a:defRPr sz="1200"/>
            </a:pPr>
            <a:r>
              <a:rPr dirty="0">
                <a:latin typeface="Afacad Flux" panose="020B0604020202020204" charset="0"/>
                <a:cs typeface="Afacad Flux" panose="020B0604020202020204" charset="0"/>
              </a:rPr>
              <a:t>13 related systems reviewed (commercial + academic)</a:t>
            </a:r>
          </a:p>
          <a:p>
            <a:pPr marL="114300" indent="0">
              <a:spcAft>
                <a:spcPts val="300"/>
              </a:spcAft>
              <a:buNone/>
              <a:defRPr sz="1200"/>
            </a:pPr>
            <a:endParaRPr dirty="0">
              <a:latin typeface="Afacad Flux" panose="020B0604020202020204" charset="0"/>
              <a:cs typeface="Afacad Flux" panose="020B0604020202020204" charset="0"/>
            </a:endParaRPr>
          </a:p>
          <a:p>
            <a:pPr marL="114300" indent="0">
              <a:spcAft>
                <a:spcPts val="300"/>
              </a:spcAft>
              <a:buNone/>
              <a:defRPr sz="1300" b="1"/>
            </a:pPr>
            <a:r>
              <a:rPr dirty="0">
                <a:latin typeface="Afacad Flux" panose="020B0604020202020204" charset="0"/>
                <a:cs typeface="Afacad Flux" panose="020B0604020202020204" charset="0"/>
              </a:rPr>
              <a:t>Gaps Identified &amp; Addressed:</a:t>
            </a:r>
          </a:p>
          <a:p>
            <a:pPr marL="114300" indent="0">
              <a:spcAft>
                <a:spcPts val="300"/>
              </a:spcAft>
              <a:buNone/>
              <a:defRPr sz="1200"/>
            </a:pPr>
            <a:r>
              <a:rPr dirty="0">
                <a:latin typeface="Afacad Flux" panose="020B0604020202020204" charset="0"/>
                <a:cs typeface="Afacad Flux" panose="020B0604020202020204" charset="0"/>
              </a:rPr>
              <a:t>  ✅ No recurring-condition memory → Fingerprint + TTL acknowledgements</a:t>
            </a:r>
          </a:p>
          <a:p>
            <a:pPr marL="114300" indent="0">
              <a:spcAft>
                <a:spcPts val="300"/>
              </a:spcAft>
              <a:buNone/>
              <a:defRPr sz="1200"/>
            </a:pPr>
            <a:r>
              <a:rPr dirty="0">
                <a:latin typeface="Afacad Flux" panose="020B0604020202020204" charset="0"/>
                <a:cs typeface="Afacad Flux" panose="020B0604020202020204" charset="0"/>
              </a:rPr>
              <a:t>  ✅ Missing operator-approval enforcement → Human-in-the-loop </a:t>
            </a:r>
            <a:r>
              <a:rPr dirty="0" err="1">
                <a:latin typeface="Afacad Flux" panose="020B0604020202020204" charset="0"/>
                <a:cs typeface="Afacad Flux" panose="020B0604020202020204" charset="0"/>
              </a:rPr>
              <a:t>CrowdSec</a:t>
            </a:r>
            <a:endParaRPr dirty="0">
              <a:latin typeface="Afacad Flux" panose="020B0604020202020204" charset="0"/>
              <a:cs typeface="Afacad Flux" panose="020B0604020202020204" charset="0"/>
            </a:endParaRPr>
          </a:p>
          <a:p>
            <a:pPr marL="114300" indent="0">
              <a:spcAft>
                <a:spcPts val="300"/>
              </a:spcAft>
              <a:buNone/>
              <a:defRPr sz="1200"/>
            </a:pPr>
            <a:r>
              <a:rPr dirty="0">
                <a:latin typeface="Afacad Flux" panose="020B0604020202020204" charset="0"/>
                <a:cs typeface="Afacad Flux" panose="020B0604020202020204" charset="0"/>
              </a:rPr>
              <a:t>  ✅ No runbook grounding → RAG with local Markdown runbooks</a:t>
            </a:r>
          </a:p>
          <a:p>
            <a:pPr marL="114300" indent="0">
              <a:spcAft>
                <a:spcPts val="300"/>
              </a:spcAft>
              <a:buNone/>
              <a:defRPr sz="1200"/>
            </a:pPr>
            <a:r>
              <a:rPr dirty="0">
                <a:latin typeface="Afacad Flux" panose="020B0604020202020204" charset="0"/>
                <a:cs typeface="Afacad Flux" panose="020B0604020202020204" charset="0"/>
              </a:rPr>
              <a:t>  ✅ Uncontrolled LLM output → JSON schema + severity whitelist</a:t>
            </a:r>
          </a:p>
          <a:p>
            <a:pPr marL="114300" indent="0">
              <a:spcAft>
                <a:spcPts val="300"/>
              </a:spcAft>
              <a:buNone/>
              <a:defRPr sz="1200"/>
            </a:pPr>
            <a:r>
              <a:rPr dirty="0">
                <a:latin typeface="Afacad Flux" panose="020B0604020202020204" charset="0"/>
                <a:cs typeface="Afacad Flux" panose="020B0604020202020204" charset="0"/>
              </a:rPr>
              <a:t>  ✅ Reproducibility deficit → Frozen benchmark protocol with hash chain</a:t>
            </a:r>
          </a:p>
        </p:txBody>
      </p:sp>
      <p:cxnSp>
        <p:nvCxnSpPr>
          <p:cNvPr id="80" name="Google Shape;80;g3ba14ccda94_0_19">
            <a:extLst>
              <a:ext uri="{FF2B5EF4-FFF2-40B4-BE49-F238E27FC236}">
                <a16:creationId xmlns:a16="http://schemas.microsoft.com/office/drawing/2014/main" id="{30DB402B-A4A3-8DB6-DADB-1EDABD80A4BB}"/>
              </a:ext>
            </a:extLst>
          </p:cNvPr>
          <p:cNvCxnSpPr/>
          <p:nvPr/>
        </p:nvCxnSpPr>
        <p:spPr>
          <a:xfrm>
            <a:off x="583800" y="685500"/>
            <a:ext cx="6114600" cy="0"/>
          </a:xfrm>
          <a:prstGeom prst="straightConnector1">
            <a:avLst/>
          </a:prstGeom>
          <a:noFill/>
          <a:ln w="9525" cap="flat" cmpd="sng">
            <a:solidFill>
              <a:srgbClr val="B6997F"/>
            </a:solidFill>
            <a:prstDash val="solid"/>
            <a:round/>
            <a:headEnd type="none" w="med" len="med"/>
            <a:tailEnd type="none" w="med" len="med"/>
          </a:ln>
        </p:spPr>
      </p:cxnSp>
      <p:sp>
        <p:nvSpPr>
          <p:cNvPr id="81" name="Google Shape;81;g3ba14ccda94_0_19">
            <a:extLst>
              <a:ext uri="{FF2B5EF4-FFF2-40B4-BE49-F238E27FC236}">
                <a16:creationId xmlns:a16="http://schemas.microsoft.com/office/drawing/2014/main" id="{0EA5BED6-F809-286E-6B52-29C8DAF2BC8F}"/>
              </a:ext>
            </a:extLst>
          </p:cNvPr>
          <p:cNvSpPr txBox="1"/>
          <p:nvPr/>
        </p:nvSpPr>
        <p:spPr>
          <a:xfrm>
            <a:off x="594524" y="349855"/>
            <a:ext cx="1359600" cy="338524"/>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1000" b="1" i="0" u="none" strike="noStrike" cap="none" dirty="0">
                <a:solidFill>
                  <a:srgbClr val="0B314F"/>
                </a:solidFill>
                <a:latin typeface="Afacad Flux" panose="020B0604020202020204" charset="0"/>
                <a:ea typeface="Afacad Flux"/>
                <a:cs typeface="Afacad Flux" panose="020B0604020202020204" charset="0"/>
                <a:sym typeface="Afacad Flux"/>
              </a:rPr>
              <a:t>Final Project Defence</a:t>
            </a:r>
            <a:endParaRPr sz="1000" b="1" i="0" u="none" strike="noStrike" cap="none" dirty="0">
              <a:solidFill>
                <a:srgbClr val="0B314F"/>
              </a:solidFill>
              <a:latin typeface="Afacad Flux" panose="020B0604020202020204" charset="0"/>
              <a:ea typeface="Afacad Flux"/>
              <a:cs typeface="Afacad Flux" panose="020B0604020202020204" charset="0"/>
              <a:sym typeface="Afacad Flux"/>
            </a:endParaRPr>
          </a:p>
        </p:txBody>
      </p:sp>
      <p:pic>
        <p:nvPicPr>
          <p:cNvPr id="2" name="Picture 1" descr="A logo with a letter m and a laurel wreath&#10;&#10;AI-generated content may be incorrect.">
            <a:extLst>
              <a:ext uri="{FF2B5EF4-FFF2-40B4-BE49-F238E27FC236}">
                <a16:creationId xmlns:a16="http://schemas.microsoft.com/office/drawing/2014/main" id="{B079FC15-2E9F-BBB0-EBE5-DD83DCD25720}"/>
              </a:ext>
            </a:extLst>
          </p:cNvPr>
          <p:cNvPicPr>
            <a:picLocks noChangeAspect="1"/>
          </p:cNvPicPr>
          <p:nvPr/>
        </p:nvPicPr>
        <p:blipFill>
          <a:blip r:embed="rId3"/>
          <a:stretch>
            <a:fillRect/>
          </a:stretch>
        </p:blipFill>
        <p:spPr>
          <a:xfrm>
            <a:off x="7125672" y="239527"/>
            <a:ext cx="1591055" cy="559355"/>
          </a:xfrm>
          <a:prstGeom prst="rect">
            <a:avLst/>
          </a:prstGeom>
        </p:spPr>
      </p:pic>
    </p:spTree>
    <p:extLst>
      <p:ext uri="{BB962C8B-B14F-4D97-AF65-F5344CB8AC3E}">
        <p14:creationId xmlns:p14="http://schemas.microsoft.com/office/powerpoint/2010/main" val="37035474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3" name="Picture 92" descr="infraguard_architecture.jpg"/>
          <p:cNvPicPr>
            <a:picLocks noChangeAspect="1"/>
          </p:cNvPicPr>
          <p:nvPr/>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24331178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6">
          <a:extLst>
            <a:ext uri="{FF2B5EF4-FFF2-40B4-BE49-F238E27FC236}">
              <a16:creationId xmlns:a16="http://schemas.microsoft.com/office/drawing/2014/main" id="{FC86F9F8-EF67-E482-2552-AB57410618F5}"/>
            </a:ext>
          </a:extLst>
        </p:cNvPr>
        <p:cNvGrpSpPr/>
        <p:nvPr/>
      </p:nvGrpSpPr>
      <p:grpSpPr>
        <a:xfrm>
          <a:off x="0" y="0"/>
          <a:ext cx="0" cy="0"/>
          <a:chOff x="0" y="0"/>
          <a:chExt cx="0" cy="0"/>
        </a:xfrm>
      </p:grpSpPr>
      <p:sp>
        <p:nvSpPr>
          <p:cNvPr id="87" name="Google Shape;87;g3ba14ccda94_0_28">
            <a:extLst>
              <a:ext uri="{FF2B5EF4-FFF2-40B4-BE49-F238E27FC236}">
                <a16:creationId xmlns:a16="http://schemas.microsoft.com/office/drawing/2014/main" id="{F6E9DE47-7A89-03FD-8838-AB32C51F16BE}"/>
              </a:ext>
            </a:extLst>
          </p:cNvPr>
          <p:cNvSpPr/>
          <p:nvPr/>
        </p:nvSpPr>
        <p:spPr>
          <a:xfrm>
            <a:off x="-266700" y="-152400"/>
            <a:ext cx="9421800" cy="5305748"/>
          </a:xfrm>
          <a:prstGeom prst="rect">
            <a:avLst/>
          </a:prstGeom>
          <a:solidFill>
            <a:srgbClr val="09314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facad Flux" panose="020B0604020202020204" charset="0"/>
              <a:cs typeface="Afacad Flux" panose="020B0604020202020204" charset="0"/>
            </a:endParaRPr>
          </a:p>
        </p:txBody>
      </p:sp>
      <p:sp>
        <p:nvSpPr>
          <p:cNvPr id="88" name="Google Shape;88;g3ba14ccda94_0_28">
            <a:extLst>
              <a:ext uri="{FF2B5EF4-FFF2-40B4-BE49-F238E27FC236}">
                <a16:creationId xmlns:a16="http://schemas.microsoft.com/office/drawing/2014/main" id="{50CF5E3E-E802-64F5-BC89-2D8335A7B79A}"/>
              </a:ext>
            </a:extLst>
          </p:cNvPr>
          <p:cNvSpPr txBox="1"/>
          <p:nvPr/>
        </p:nvSpPr>
        <p:spPr>
          <a:xfrm>
            <a:off x="585574" y="942125"/>
            <a:ext cx="3573899" cy="538579"/>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300"/>
              <a:buFont typeface="Arial"/>
              <a:buNone/>
            </a:pPr>
            <a:r>
              <a:rPr lang="en-GB" sz="2300" b="1" i="0" u="none" strike="noStrike" cap="none" dirty="0">
                <a:solidFill>
                  <a:srgbClr val="C0A282"/>
                </a:solidFill>
                <a:latin typeface="Afacad Flux" panose="020B0604020202020204" charset="0"/>
                <a:ea typeface="Afacad Flux"/>
                <a:cs typeface="Afacad Flux" panose="020B0604020202020204" charset="0"/>
                <a:sym typeface="Afacad Flux"/>
              </a:rPr>
              <a:t>System Architecture</a:t>
            </a:r>
            <a:endParaRPr sz="2300" b="1" i="0" u="none" strike="noStrike" cap="none" dirty="0">
              <a:solidFill>
                <a:srgbClr val="C0A282"/>
              </a:solidFill>
              <a:latin typeface="Afacad Flux" panose="020B0604020202020204" charset="0"/>
              <a:ea typeface="Afacad Flux"/>
              <a:cs typeface="Afacad Flux" panose="020B0604020202020204" charset="0"/>
              <a:sym typeface="Afacad Flux"/>
            </a:endParaRPr>
          </a:p>
        </p:txBody>
      </p:sp>
      <p:sp>
        <p:nvSpPr>
          <p:cNvPr id="89" name="Google Shape;89;g3ba14ccda94_0_28">
            <a:extLst>
              <a:ext uri="{FF2B5EF4-FFF2-40B4-BE49-F238E27FC236}">
                <a16:creationId xmlns:a16="http://schemas.microsoft.com/office/drawing/2014/main" id="{2BC2C388-10A3-D249-2B73-7D9B289B1AB9}"/>
              </a:ext>
            </a:extLst>
          </p:cNvPr>
          <p:cNvSpPr txBox="1"/>
          <p:nvPr/>
        </p:nvSpPr>
        <p:spPr>
          <a:xfrm>
            <a:off x="617675" y="1881275"/>
            <a:ext cx="8214826" cy="1864070"/>
          </a:xfrm>
          <a:prstGeom prst="rect">
            <a:avLst/>
          </a:prstGeom>
          <a:noFill/>
          <a:ln>
            <a:noFill/>
          </a:ln>
        </p:spPr>
        <p:txBody>
          <a:bodyPr spcFirstLastPara="1" wrap="square" lIns="91425" tIns="91425" rIns="91425" bIns="91425" anchor="t" anchorCtr="0">
            <a:spAutoFit/>
          </a:bodyPr>
          <a:lstStyle/>
          <a:p>
            <a:pPr lvl="0" algn="just">
              <a:lnSpc>
                <a:spcPct val="115000"/>
              </a:lnSpc>
              <a:spcAft>
                <a:spcPts val="400"/>
              </a:spcAft>
              <a:buSzPts val="1200"/>
            </a:pPr>
            <a:r>
              <a:rPr sz="1200" dirty="0">
                <a:solidFill>
                  <a:srgbClr val="FFFFFF"/>
                </a:solidFill>
                <a:latin typeface="Afacad Flux" panose="020B0604020202020204" charset="0"/>
                <a:cs typeface="Afacad Flux" panose="020B0604020202020204" charset="0"/>
              </a:rPr>
              <a:t>● 4 Telemetry Sources: Prometheus metrics, Loki logs, HTTP probes, Docker events</a:t>
            </a:r>
          </a:p>
          <a:p>
            <a:pPr algn="just">
              <a:spcAft>
                <a:spcPts val="400"/>
              </a:spcAft>
            </a:pPr>
            <a:r>
              <a:rPr sz="1200" dirty="0">
                <a:solidFill>
                  <a:srgbClr val="FFFFFF"/>
                </a:solidFill>
                <a:latin typeface="Afacad Flux" panose="020B0604020202020204" charset="0"/>
                <a:cs typeface="Afacad Flux" panose="020B0604020202020204" charset="0"/>
              </a:rPr>
              <a:t>● LangGraph State Machine: collect → analyze → decide → notify pipeline</a:t>
            </a:r>
          </a:p>
          <a:p>
            <a:pPr algn="just">
              <a:spcAft>
                <a:spcPts val="400"/>
              </a:spcAft>
            </a:pPr>
            <a:r>
              <a:rPr sz="1200" dirty="0">
                <a:solidFill>
                  <a:srgbClr val="FFFFFF"/>
                </a:solidFill>
                <a:latin typeface="Afacad Flux" panose="020B0604020202020204" charset="0"/>
                <a:cs typeface="Afacad Flux" panose="020B0604020202020204" charset="0"/>
              </a:rPr>
              <a:t>● Dual Reasoning: Direct single-call or </a:t>
            </a:r>
            <a:r>
              <a:rPr sz="1200" dirty="0" err="1">
                <a:solidFill>
                  <a:srgbClr val="FFFFFF"/>
                </a:solidFill>
                <a:latin typeface="Afacad Flux" panose="020B0604020202020204" charset="0"/>
                <a:cs typeface="Afacad Flux" panose="020B0604020202020204" charset="0"/>
              </a:rPr>
              <a:t>LangChain</a:t>
            </a:r>
            <a:r>
              <a:rPr sz="1200" dirty="0">
                <a:solidFill>
                  <a:srgbClr val="FFFFFF"/>
                </a:solidFill>
                <a:latin typeface="Afacad Flux" panose="020B0604020202020204" charset="0"/>
                <a:cs typeface="Afacad Flux" panose="020B0604020202020204" charset="0"/>
              </a:rPr>
              <a:t> multi-tool agent</a:t>
            </a:r>
          </a:p>
          <a:p>
            <a:pPr algn="just">
              <a:spcAft>
                <a:spcPts val="400"/>
              </a:spcAft>
            </a:pPr>
            <a:r>
              <a:rPr sz="1200" dirty="0">
                <a:solidFill>
                  <a:srgbClr val="FFFFFF"/>
                </a:solidFill>
                <a:latin typeface="Afacad Flux" panose="020B0604020202020204" charset="0"/>
                <a:cs typeface="Afacad Flux" panose="020B0604020202020204" charset="0"/>
              </a:rPr>
              <a:t>● Human-in-the-Loop: Operator-approved </a:t>
            </a:r>
            <a:r>
              <a:rPr sz="1200" dirty="0" err="1">
                <a:solidFill>
                  <a:srgbClr val="FFFFFF"/>
                </a:solidFill>
                <a:latin typeface="Afacad Flux" panose="020B0604020202020204" charset="0"/>
                <a:cs typeface="Afacad Flux" panose="020B0604020202020204" charset="0"/>
              </a:rPr>
              <a:t>CrowdSec</a:t>
            </a:r>
            <a:r>
              <a:rPr sz="1200" dirty="0">
                <a:solidFill>
                  <a:srgbClr val="FFFFFF"/>
                </a:solidFill>
                <a:latin typeface="Afacad Flux" panose="020B0604020202020204" charset="0"/>
                <a:cs typeface="Afacad Flux" panose="020B0604020202020204" charset="0"/>
              </a:rPr>
              <a:t> threat response</a:t>
            </a:r>
          </a:p>
          <a:p>
            <a:pPr algn="just">
              <a:spcAft>
                <a:spcPts val="400"/>
              </a:spcAft>
            </a:pPr>
            <a:r>
              <a:rPr sz="1200" dirty="0">
                <a:solidFill>
                  <a:srgbClr val="FFFFFF"/>
                </a:solidFill>
                <a:latin typeface="Afacad Flux" panose="020B0604020202020204" charset="0"/>
                <a:cs typeface="Afacad Flux" panose="020B0604020202020204" charset="0"/>
              </a:rPr>
              <a:t>● RAG Pipeline: Local Markdown → ONNX embeddings → </a:t>
            </a:r>
            <a:r>
              <a:rPr sz="1200" dirty="0" err="1">
                <a:solidFill>
                  <a:srgbClr val="FFFFFF"/>
                </a:solidFill>
                <a:latin typeface="Afacad Flux" panose="020B0604020202020204" charset="0"/>
                <a:cs typeface="Afacad Flux" panose="020B0604020202020204" charset="0"/>
              </a:rPr>
              <a:t>ChromaDB</a:t>
            </a:r>
            <a:r>
              <a:rPr sz="1200" dirty="0">
                <a:solidFill>
                  <a:srgbClr val="FFFFFF"/>
                </a:solidFill>
                <a:latin typeface="Afacad Flux" panose="020B0604020202020204" charset="0"/>
                <a:cs typeface="Afacad Flux" panose="020B0604020202020204" charset="0"/>
              </a:rPr>
              <a:t> → LLM answer</a:t>
            </a:r>
          </a:p>
          <a:p>
            <a:pPr algn="just">
              <a:spcAft>
                <a:spcPts val="400"/>
              </a:spcAft>
            </a:pPr>
            <a:r>
              <a:rPr sz="1200" dirty="0">
                <a:solidFill>
                  <a:srgbClr val="FFFFFF"/>
                </a:solidFill>
                <a:latin typeface="Afacad Flux" panose="020B0604020202020204" charset="0"/>
                <a:cs typeface="Afacad Flux" panose="020B0604020202020204" charset="0"/>
              </a:rPr>
              <a:t>● Verdict Memory: Fingerprint-based acks with TTL self-invalidation</a:t>
            </a:r>
          </a:p>
          <a:p>
            <a:pPr algn="just">
              <a:spcAft>
                <a:spcPts val="400"/>
              </a:spcAft>
            </a:pPr>
            <a:r>
              <a:rPr sz="1200" dirty="0">
                <a:solidFill>
                  <a:srgbClr val="FFFFFF"/>
                </a:solidFill>
                <a:latin typeface="Afacad Flux" panose="020B0604020202020204" charset="0"/>
                <a:cs typeface="Afacad Flux" panose="020B0604020202020204" charset="0"/>
              </a:rPr>
              <a:t>● See architecture diagram handout for full data-flow detail</a:t>
            </a:r>
          </a:p>
        </p:txBody>
      </p:sp>
      <p:cxnSp>
        <p:nvCxnSpPr>
          <p:cNvPr id="91" name="Google Shape;91;g3ba14ccda94_0_28">
            <a:extLst>
              <a:ext uri="{FF2B5EF4-FFF2-40B4-BE49-F238E27FC236}">
                <a16:creationId xmlns:a16="http://schemas.microsoft.com/office/drawing/2014/main" id="{E84C0BDD-452D-6C34-77AE-4A147DEB2E8F}"/>
              </a:ext>
            </a:extLst>
          </p:cNvPr>
          <p:cNvCxnSpPr/>
          <p:nvPr/>
        </p:nvCxnSpPr>
        <p:spPr>
          <a:xfrm>
            <a:off x="583800" y="685500"/>
            <a:ext cx="6114600" cy="0"/>
          </a:xfrm>
          <a:prstGeom prst="straightConnector1">
            <a:avLst/>
          </a:prstGeom>
          <a:noFill/>
          <a:ln w="9525" cap="flat" cmpd="sng">
            <a:solidFill>
              <a:srgbClr val="E83831"/>
            </a:solidFill>
            <a:prstDash val="solid"/>
            <a:round/>
            <a:headEnd type="none" w="med" len="med"/>
            <a:tailEnd type="none" w="med" len="med"/>
          </a:ln>
        </p:spPr>
      </p:cxnSp>
      <p:sp>
        <p:nvSpPr>
          <p:cNvPr id="92" name="Google Shape;92;g3ba14ccda94_0_28">
            <a:extLst>
              <a:ext uri="{FF2B5EF4-FFF2-40B4-BE49-F238E27FC236}">
                <a16:creationId xmlns:a16="http://schemas.microsoft.com/office/drawing/2014/main" id="{B4430A66-BD6A-1853-78AC-9C8941EC619E}"/>
              </a:ext>
            </a:extLst>
          </p:cNvPr>
          <p:cNvSpPr txBox="1"/>
          <p:nvPr/>
        </p:nvSpPr>
        <p:spPr>
          <a:xfrm>
            <a:off x="594524" y="349855"/>
            <a:ext cx="1254373" cy="338524"/>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1000" b="1" dirty="0">
                <a:solidFill>
                  <a:schemeClr val="lt1"/>
                </a:solidFill>
                <a:latin typeface="Afacad Flux" panose="020B0604020202020204" charset="0"/>
                <a:ea typeface="Afacad Flux"/>
                <a:cs typeface="Afacad Flux" panose="020B0604020202020204" charset="0"/>
                <a:sym typeface="Afacad Flux"/>
              </a:rPr>
              <a:t>Final Project Defence</a:t>
            </a:r>
            <a:endParaRPr sz="1000" b="1" i="0" u="none" strike="noStrike" cap="none" dirty="0">
              <a:solidFill>
                <a:schemeClr val="lt1"/>
              </a:solidFill>
              <a:latin typeface="Afacad Flux" panose="020B0604020202020204" charset="0"/>
              <a:ea typeface="Afacad Flux"/>
              <a:cs typeface="Afacad Flux" panose="020B0604020202020204" charset="0"/>
              <a:sym typeface="Afacad Flux"/>
            </a:endParaRPr>
          </a:p>
        </p:txBody>
      </p:sp>
      <p:pic>
        <p:nvPicPr>
          <p:cNvPr id="2" name="Picture 1" descr="A logo with a letter and a leaf&#10;&#10;AI-generated content may be incorrect.">
            <a:extLst>
              <a:ext uri="{FF2B5EF4-FFF2-40B4-BE49-F238E27FC236}">
                <a16:creationId xmlns:a16="http://schemas.microsoft.com/office/drawing/2014/main" id="{CFCA288B-B61D-76FA-92D5-0275ACC6FD8C}"/>
              </a:ext>
            </a:extLst>
          </p:cNvPr>
          <p:cNvPicPr>
            <a:picLocks noChangeAspect="1"/>
          </p:cNvPicPr>
          <p:nvPr/>
        </p:nvPicPr>
        <p:blipFill>
          <a:blip r:embed="rId3"/>
          <a:stretch>
            <a:fillRect/>
          </a:stretch>
        </p:blipFill>
        <p:spPr>
          <a:xfrm>
            <a:off x="7127814" y="239115"/>
            <a:ext cx="1593400" cy="560179"/>
          </a:xfrm>
          <a:prstGeom prst="rect">
            <a:avLst/>
          </a:prstGeom>
        </p:spPr>
      </p:pic>
    </p:spTree>
    <p:extLst>
      <p:ext uri="{BB962C8B-B14F-4D97-AF65-F5344CB8AC3E}">
        <p14:creationId xmlns:p14="http://schemas.microsoft.com/office/powerpoint/2010/main" val="20271363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6">
          <a:extLst>
            <a:ext uri="{FF2B5EF4-FFF2-40B4-BE49-F238E27FC236}">
              <a16:creationId xmlns:a16="http://schemas.microsoft.com/office/drawing/2014/main" id="{D6553122-1289-21B6-9E80-D319939F4819}"/>
            </a:ext>
          </a:extLst>
        </p:cNvPr>
        <p:cNvGrpSpPr/>
        <p:nvPr/>
      </p:nvGrpSpPr>
      <p:grpSpPr>
        <a:xfrm>
          <a:off x="0" y="0"/>
          <a:ext cx="0" cy="0"/>
          <a:chOff x="0" y="0"/>
          <a:chExt cx="0" cy="0"/>
        </a:xfrm>
      </p:grpSpPr>
      <p:sp>
        <p:nvSpPr>
          <p:cNvPr id="87" name="Google Shape;87;g3ba14ccda94_0_28">
            <a:extLst>
              <a:ext uri="{FF2B5EF4-FFF2-40B4-BE49-F238E27FC236}">
                <a16:creationId xmlns:a16="http://schemas.microsoft.com/office/drawing/2014/main" id="{645AF418-B131-5A7F-8774-5DE464A13CD4}"/>
              </a:ext>
            </a:extLst>
          </p:cNvPr>
          <p:cNvSpPr/>
          <p:nvPr/>
        </p:nvSpPr>
        <p:spPr>
          <a:xfrm>
            <a:off x="-266700" y="-152400"/>
            <a:ext cx="9421800" cy="5305748"/>
          </a:xfrm>
          <a:prstGeom prst="rect">
            <a:avLst/>
          </a:prstGeom>
          <a:solidFill>
            <a:srgbClr val="09314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facad Flux" panose="020B0604020202020204" charset="0"/>
              <a:cs typeface="Afacad Flux" panose="020B0604020202020204" charset="0"/>
            </a:endParaRPr>
          </a:p>
        </p:txBody>
      </p:sp>
      <p:sp>
        <p:nvSpPr>
          <p:cNvPr id="88" name="Google Shape;88;g3ba14ccda94_0_28">
            <a:extLst>
              <a:ext uri="{FF2B5EF4-FFF2-40B4-BE49-F238E27FC236}">
                <a16:creationId xmlns:a16="http://schemas.microsoft.com/office/drawing/2014/main" id="{35F3549D-00CD-3796-2EF6-15B028DAB4FB}"/>
              </a:ext>
            </a:extLst>
          </p:cNvPr>
          <p:cNvSpPr txBox="1"/>
          <p:nvPr/>
        </p:nvSpPr>
        <p:spPr>
          <a:xfrm>
            <a:off x="585574" y="942125"/>
            <a:ext cx="3573899" cy="538579"/>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300"/>
              <a:buFont typeface="Arial"/>
              <a:buNone/>
            </a:pPr>
            <a:r>
              <a:rPr lang="en-GB" sz="2300" b="1" i="0" u="none" strike="noStrike" cap="none" dirty="0">
                <a:solidFill>
                  <a:srgbClr val="C0A282"/>
                </a:solidFill>
                <a:latin typeface="Afacad Flux" panose="020B0604020202020204" charset="0"/>
                <a:ea typeface="Afacad Flux"/>
                <a:cs typeface="Afacad Flux" panose="020B0604020202020204" charset="0"/>
                <a:sym typeface="Afacad Flux"/>
              </a:rPr>
              <a:t>Implementation Highlights</a:t>
            </a:r>
            <a:endParaRPr sz="2300" b="1" i="0" u="none" strike="noStrike" cap="none" dirty="0">
              <a:solidFill>
                <a:srgbClr val="C0A282"/>
              </a:solidFill>
              <a:latin typeface="Afacad Flux" panose="020B0604020202020204" charset="0"/>
              <a:ea typeface="Afacad Flux"/>
              <a:cs typeface="Afacad Flux" panose="020B0604020202020204" charset="0"/>
              <a:sym typeface="Afacad Flux"/>
            </a:endParaRPr>
          </a:p>
        </p:txBody>
      </p:sp>
      <p:sp>
        <p:nvSpPr>
          <p:cNvPr id="89" name="Google Shape;89;g3ba14ccda94_0_28">
            <a:extLst>
              <a:ext uri="{FF2B5EF4-FFF2-40B4-BE49-F238E27FC236}">
                <a16:creationId xmlns:a16="http://schemas.microsoft.com/office/drawing/2014/main" id="{2DAB5D14-9140-66DF-EC5D-0F95D5B43313}"/>
              </a:ext>
            </a:extLst>
          </p:cNvPr>
          <p:cNvSpPr txBox="1"/>
          <p:nvPr/>
        </p:nvSpPr>
        <p:spPr>
          <a:xfrm>
            <a:off x="617675" y="1881275"/>
            <a:ext cx="8214826" cy="1781996"/>
          </a:xfrm>
          <a:prstGeom prst="rect">
            <a:avLst/>
          </a:prstGeom>
          <a:noFill/>
          <a:ln>
            <a:noFill/>
          </a:ln>
        </p:spPr>
        <p:txBody>
          <a:bodyPr spcFirstLastPara="1" wrap="square" lIns="91425" tIns="91425" rIns="91425" bIns="91425" anchor="t" anchorCtr="0">
            <a:spAutoFit/>
          </a:bodyPr>
          <a:lstStyle/>
          <a:p>
            <a:pPr lvl="0">
              <a:lnSpc>
                <a:spcPct val="115000"/>
              </a:lnSpc>
              <a:spcAft>
                <a:spcPts val="600"/>
              </a:spcAft>
              <a:buSzPts val="1200"/>
            </a:pPr>
            <a:r>
              <a:rPr sz="1200" dirty="0">
                <a:solidFill>
                  <a:srgbClr val="FFFFFF"/>
                </a:solidFill>
                <a:latin typeface="Afacad Flux" panose="020B0604020202020204" charset="0"/>
                <a:cs typeface="Afacad Flux" panose="020B0604020202020204" charset="0"/>
              </a:rPr>
              <a:t>● Repository: ~8,500 lines Python; modular agent/, </a:t>
            </a:r>
            <a:r>
              <a:rPr sz="1200" dirty="0" err="1">
                <a:solidFill>
                  <a:srgbClr val="FFFFFF"/>
                </a:solidFill>
                <a:latin typeface="Afacad Flux" panose="020B0604020202020204" charset="0"/>
                <a:cs typeface="Afacad Flux" panose="020B0604020202020204" charset="0"/>
              </a:rPr>
              <a:t>api</a:t>
            </a:r>
            <a:r>
              <a:rPr sz="1200" dirty="0">
                <a:solidFill>
                  <a:srgbClr val="FFFFFF"/>
                </a:solidFill>
                <a:latin typeface="Afacad Flux" panose="020B0604020202020204" charset="0"/>
                <a:cs typeface="Afacad Flux" panose="020B0604020202020204" charset="0"/>
              </a:rPr>
              <a:t>/, dashboard/ structure</a:t>
            </a:r>
          </a:p>
          <a:p>
            <a:pPr>
              <a:spcAft>
                <a:spcPts val="600"/>
              </a:spcAft>
            </a:pPr>
            <a:r>
              <a:rPr sz="1200" dirty="0">
                <a:solidFill>
                  <a:srgbClr val="FFFFFF"/>
                </a:solidFill>
                <a:latin typeface="Afacad Flux" panose="020B0604020202020204" charset="0"/>
                <a:cs typeface="Afacad Flux" panose="020B0604020202020204" charset="0"/>
              </a:rPr>
              <a:t>● Agent: LangGraph </a:t>
            </a:r>
            <a:r>
              <a:rPr sz="1200" dirty="0" err="1">
                <a:solidFill>
                  <a:srgbClr val="FFFFFF"/>
                </a:solidFill>
                <a:latin typeface="Afacad Flux" panose="020B0604020202020204" charset="0"/>
                <a:cs typeface="Afacad Flux" panose="020B0604020202020204" charset="0"/>
              </a:rPr>
              <a:t>StateGraph</a:t>
            </a:r>
            <a:r>
              <a:rPr sz="1200" dirty="0">
                <a:solidFill>
                  <a:srgbClr val="FFFFFF"/>
                </a:solidFill>
                <a:latin typeface="Afacad Flux" panose="020B0604020202020204" charset="0"/>
                <a:cs typeface="Afacad Flux" panose="020B0604020202020204" charset="0"/>
              </a:rPr>
              <a:t> with 4 nodes; graceful degradation on any tool failure</a:t>
            </a:r>
          </a:p>
          <a:p>
            <a:pPr>
              <a:spcAft>
                <a:spcPts val="600"/>
              </a:spcAft>
            </a:pPr>
            <a:r>
              <a:rPr sz="1200" dirty="0">
                <a:solidFill>
                  <a:srgbClr val="FFFFFF"/>
                </a:solidFill>
                <a:latin typeface="Afacad Flux" panose="020B0604020202020204" charset="0"/>
                <a:cs typeface="Afacad Flux" panose="020B0604020202020204" charset="0"/>
              </a:rPr>
              <a:t>● API: </a:t>
            </a:r>
            <a:r>
              <a:rPr sz="1200" dirty="0" err="1">
                <a:solidFill>
                  <a:srgbClr val="FFFFFF"/>
                </a:solidFill>
                <a:latin typeface="Afacad Flux" panose="020B0604020202020204" charset="0"/>
                <a:cs typeface="Afacad Flux" panose="020B0604020202020204" charset="0"/>
              </a:rPr>
              <a:t>FastAPI</a:t>
            </a:r>
            <a:r>
              <a:rPr sz="1200" dirty="0">
                <a:solidFill>
                  <a:srgbClr val="FFFFFF"/>
                </a:solidFill>
                <a:latin typeface="Afacad Flux" panose="020B0604020202020204" charset="0"/>
                <a:cs typeface="Afacad Flux" panose="020B0604020202020204" charset="0"/>
              </a:rPr>
              <a:t> with signed cookie sessions, rate limiting (60/min), audit logging, security headers + CSP</a:t>
            </a:r>
          </a:p>
          <a:p>
            <a:pPr>
              <a:spcAft>
                <a:spcPts val="600"/>
              </a:spcAft>
            </a:pPr>
            <a:r>
              <a:rPr sz="1200" dirty="0">
                <a:solidFill>
                  <a:srgbClr val="FFFFFF"/>
                </a:solidFill>
                <a:latin typeface="Afacad Flux" panose="020B0604020202020204" charset="0"/>
                <a:cs typeface="Afacad Flux" panose="020B0604020202020204" charset="0"/>
              </a:rPr>
              <a:t>● Dashboard: Single-page dark-mode UI with real-time status, history, threats, runbook chat</a:t>
            </a:r>
          </a:p>
          <a:p>
            <a:pPr>
              <a:spcAft>
                <a:spcPts val="600"/>
              </a:spcAft>
            </a:pPr>
            <a:r>
              <a:rPr sz="1200" dirty="0">
                <a:solidFill>
                  <a:srgbClr val="FFFFFF"/>
                </a:solidFill>
                <a:latin typeface="Afacad Flux" panose="020B0604020202020204" charset="0"/>
                <a:cs typeface="Afacad Flux" panose="020B0604020202020204" charset="0"/>
              </a:rPr>
              <a:t>● Deployment: Docker Compose (2 containers + shared SQLite), Terraform for GCE, GitHub Actions CI/CD</a:t>
            </a:r>
          </a:p>
          <a:p>
            <a:pPr>
              <a:spcAft>
                <a:spcPts val="600"/>
              </a:spcAft>
            </a:pPr>
            <a:r>
              <a:rPr sz="1200" dirty="0">
                <a:solidFill>
                  <a:srgbClr val="FFFFFF"/>
                </a:solidFill>
                <a:latin typeface="Afacad Flux" panose="020B0604020202020204" charset="0"/>
                <a:cs typeface="Afacad Flux" panose="020B0604020202020204" charset="0"/>
              </a:rPr>
              <a:t>● LLM Providers: Gemini (default), Anthropic, OpenAI, </a:t>
            </a:r>
            <a:r>
              <a:rPr sz="1200" dirty="0" err="1">
                <a:solidFill>
                  <a:srgbClr val="FFFFFF"/>
                </a:solidFill>
                <a:latin typeface="Afacad Flux" panose="020B0604020202020204" charset="0"/>
                <a:cs typeface="Afacad Flux" panose="020B0604020202020204" charset="0"/>
              </a:rPr>
              <a:t>Ollama</a:t>
            </a:r>
            <a:r>
              <a:rPr lang="en-US" sz="1200" dirty="0">
                <a:solidFill>
                  <a:srgbClr val="FFFFFF"/>
                </a:solidFill>
                <a:latin typeface="Afacad Flux" panose="020B0604020202020204" charset="0"/>
                <a:cs typeface="Afacad Flux" panose="020B0604020202020204" charset="0"/>
              </a:rPr>
              <a:t>;</a:t>
            </a:r>
            <a:r>
              <a:rPr sz="1200" dirty="0">
                <a:solidFill>
                  <a:srgbClr val="FFFFFF"/>
                </a:solidFill>
                <a:latin typeface="Afacad Flux" panose="020B0604020202020204" charset="0"/>
                <a:cs typeface="Afacad Flux" panose="020B0604020202020204" charset="0"/>
              </a:rPr>
              <a:t> interchangeable via LLM_PROVIDER</a:t>
            </a:r>
          </a:p>
        </p:txBody>
      </p:sp>
      <p:cxnSp>
        <p:nvCxnSpPr>
          <p:cNvPr id="91" name="Google Shape;91;g3ba14ccda94_0_28">
            <a:extLst>
              <a:ext uri="{FF2B5EF4-FFF2-40B4-BE49-F238E27FC236}">
                <a16:creationId xmlns:a16="http://schemas.microsoft.com/office/drawing/2014/main" id="{1DDFA733-5916-5B31-5D44-BCA4ECE37F5A}"/>
              </a:ext>
            </a:extLst>
          </p:cNvPr>
          <p:cNvCxnSpPr/>
          <p:nvPr/>
        </p:nvCxnSpPr>
        <p:spPr>
          <a:xfrm>
            <a:off x="583800" y="685500"/>
            <a:ext cx="6114600" cy="0"/>
          </a:xfrm>
          <a:prstGeom prst="straightConnector1">
            <a:avLst/>
          </a:prstGeom>
          <a:noFill/>
          <a:ln w="9525" cap="flat" cmpd="sng">
            <a:solidFill>
              <a:srgbClr val="E83831"/>
            </a:solidFill>
            <a:prstDash val="solid"/>
            <a:round/>
            <a:headEnd type="none" w="med" len="med"/>
            <a:tailEnd type="none" w="med" len="med"/>
          </a:ln>
        </p:spPr>
      </p:cxnSp>
      <p:sp>
        <p:nvSpPr>
          <p:cNvPr id="92" name="Google Shape;92;g3ba14ccda94_0_28">
            <a:extLst>
              <a:ext uri="{FF2B5EF4-FFF2-40B4-BE49-F238E27FC236}">
                <a16:creationId xmlns:a16="http://schemas.microsoft.com/office/drawing/2014/main" id="{CF8735C6-DC82-2236-0FF6-5099C947C061}"/>
              </a:ext>
            </a:extLst>
          </p:cNvPr>
          <p:cNvSpPr txBox="1"/>
          <p:nvPr/>
        </p:nvSpPr>
        <p:spPr>
          <a:xfrm>
            <a:off x="594524" y="349855"/>
            <a:ext cx="1254373" cy="338524"/>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1000" b="1" dirty="0">
                <a:solidFill>
                  <a:schemeClr val="lt1"/>
                </a:solidFill>
                <a:latin typeface="Afacad Flux" panose="020B0604020202020204" charset="0"/>
                <a:ea typeface="Afacad Flux"/>
                <a:cs typeface="Afacad Flux" panose="020B0604020202020204" charset="0"/>
                <a:sym typeface="Afacad Flux"/>
              </a:rPr>
              <a:t>Final Project Defence</a:t>
            </a:r>
            <a:endParaRPr sz="1000" b="1" i="0" u="none" strike="noStrike" cap="none" dirty="0">
              <a:solidFill>
                <a:schemeClr val="lt1"/>
              </a:solidFill>
              <a:latin typeface="Afacad Flux" panose="020B0604020202020204" charset="0"/>
              <a:ea typeface="Afacad Flux"/>
              <a:cs typeface="Afacad Flux" panose="020B0604020202020204" charset="0"/>
              <a:sym typeface="Afacad Flux"/>
            </a:endParaRPr>
          </a:p>
        </p:txBody>
      </p:sp>
      <p:pic>
        <p:nvPicPr>
          <p:cNvPr id="2" name="Picture 1" descr="A logo with a letter and a leaf&#10;&#10;AI-generated content may be incorrect.">
            <a:extLst>
              <a:ext uri="{FF2B5EF4-FFF2-40B4-BE49-F238E27FC236}">
                <a16:creationId xmlns:a16="http://schemas.microsoft.com/office/drawing/2014/main" id="{EC611249-12E4-6506-9E1D-71555D7A8B91}"/>
              </a:ext>
            </a:extLst>
          </p:cNvPr>
          <p:cNvPicPr>
            <a:picLocks noChangeAspect="1"/>
          </p:cNvPicPr>
          <p:nvPr/>
        </p:nvPicPr>
        <p:blipFill>
          <a:blip r:embed="rId3"/>
          <a:stretch>
            <a:fillRect/>
          </a:stretch>
        </p:blipFill>
        <p:spPr>
          <a:xfrm>
            <a:off x="7127814" y="239115"/>
            <a:ext cx="1593400" cy="560179"/>
          </a:xfrm>
          <a:prstGeom prst="rect">
            <a:avLst/>
          </a:prstGeom>
        </p:spPr>
      </p:pic>
    </p:spTree>
    <p:extLst>
      <p:ext uri="{BB962C8B-B14F-4D97-AF65-F5344CB8AC3E}">
        <p14:creationId xmlns:p14="http://schemas.microsoft.com/office/powerpoint/2010/main" val="6121964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6">
          <a:extLst>
            <a:ext uri="{FF2B5EF4-FFF2-40B4-BE49-F238E27FC236}">
              <a16:creationId xmlns:a16="http://schemas.microsoft.com/office/drawing/2014/main" id="{70B8A987-E1C8-68E0-48AE-B94230C7365B}"/>
            </a:ext>
          </a:extLst>
        </p:cNvPr>
        <p:cNvGrpSpPr/>
        <p:nvPr/>
      </p:nvGrpSpPr>
      <p:grpSpPr>
        <a:xfrm>
          <a:off x="0" y="0"/>
          <a:ext cx="0" cy="0"/>
          <a:chOff x="0" y="0"/>
          <a:chExt cx="0" cy="0"/>
        </a:xfrm>
      </p:grpSpPr>
      <p:sp>
        <p:nvSpPr>
          <p:cNvPr id="77" name="Google Shape;77;g3ba14ccda94_0_19">
            <a:extLst>
              <a:ext uri="{FF2B5EF4-FFF2-40B4-BE49-F238E27FC236}">
                <a16:creationId xmlns:a16="http://schemas.microsoft.com/office/drawing/2014/main" id="{5BB0AB44-08D6-1BF3-91CA-740D156963FF}"/>
              </a:ext>
            </a:extLst>
          </p:cNvPr>
          <p:cNvSpPr txBox="1">
            <a:spLocks noGrp="1"/>
          </p:cNvSpPr>
          <p:nvPr>
            <p:ph type="title"/>
          </p:nvPr>
        </p:nvSpPr>
        <p:spPr>
          <a:xfrm>
            <a:off x="612375" y="965399"/>
            <a:ext cx="6939548" cy="998007"/>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b="1" dirty="0">
                <a:latin typeface="Afacad Flux" panose="020B0604020202020204" charset="0"/>
                <a:cs typeface="Afacad Flux" panose="020B0604020202020204" charset="0"/>
              </a:rPr>
              <a:t>Runbook Grounding &amp; Safety Controls</a:t>
            </a:r>
            <a:endParaRPr sz="2300" b="1" dirty="0">
              <a:solidFill>
                <a:srgbClr val="E83831"/>
              </a:solidFill>
              <a:latin typeface="Afacad Flux" panose="020B0604020202020204" charset="0"/>
              <a:ea typeface="Afacad Flux"/>
              <a:cs typeface="Afacad Flux" panose="020B0604020202020204" charset="0"/>
              <a:sym typeface="Afacad Flux"/>
            </a:endParaRPr>
          </a:p>
        </p:txBody>
      </p:sp>
      <p:sp>
        <p:nvSpPr>
          <p:cNvPr id="78" name="Google Shape;78;g3ba14ccda94_0_19">
            <a:extLst>
              <a:ext uri="{FF2B5EF4-FFF2-40B4-BE49-F238E27FC236}">
                <a16:creationId xmlns:a16="http://schemas.microsoft.com/office/drawing/2014/main" id="{97D9ADB7-0603-2DBC-A1B2-213E59870FF7}"/>
              </a:ext>
            </a:extLst>
          </p:cNvPr>
          <p:cNvSpPr txBox="1">
            <a:spLocks noGrp="1"/>
          </p:cNvSpPr>
          <p:nvPr>
            <p:ph type="body" idx="1"/>
          </p:nvPr>
        </p:nvSpPr>
        <p:spPr>
          <a:xfrm>
            <a:off x="454224" y="1650967"/>
            <a:ext cx="8149459" cy="2836131"/>
          </a:xfrm>
          <a:prstGeom prst="rect">
            <a:avLst/>
          </a:prstGeom>
          <a:noFill/>
          <a:ln>
            <a:noFill/>
          </a:ln>
        </p:spPr>
        <p:txBody>
          <a:bodyPr spcFirstLastPara="1" wrap="square" lIns="91425" tIns="91425" rIns="91425" bIns="91425" anchor="t" anchorCtr="0">
            <a:spAutoFit/>
          </a:bodyPr>
          <a:lstStyle/>
          <a:p>
            <a:pPr marL="152400" lvl="0" indent="0" algn="l" rtl="0">
              <a:lnSpc>
                <a:spcPct val="100000"/>
              </a:lnSpc>
              <a:spcBef>
                <a:spcPts val="0"/>
              </a:spcBef>
              <a:spcAft>
                <a:spcPts val="200"/>
              </a:spcAft>
              <a:buClr>
                <a:srgbClr val="E83831"/>
              </a:buClr>
              <a:buSzPts val="1200"/>
              <a:buNone/>
              <a:defRPr sz="1200" b="1"/>
            </a:pPr>
            <a:r>
              <a:rPr dirty="0">
                <a:latin typeface="Afacad Flux" panose="020B0604020202020204" charset="0"/>
                <a:cs typeface="Afacad Flux" panose="020B0604020202020204" charset="0"/>
              </a:rPr>
              <a:t>Runbook RAG:</a:t>
            </a:r>
            <a:endParaRPr lang="en-US" dirty="0">
              <a:latin typeface="Afacad Flux" panose="020B0604020202020204" charset="0"/>
              <a:cs typeface="Afacad Flux" panose="020B0604020202020204" charset="0"/>
            </a:endParaRPr>
          </a:p>
          <a:p>
            <a:pPr marL="114300" indent="0" algn="just">
              <a:spcAft>
                <a:spcPts val="200"/>
              </a:spcAft>
              <a:buNone/>
              <a:defRPr sz="1100"/>
            </a:pPr>
            <a:r>
              <a:rPr lang="en-US" dirty="0">
                <a:latin typeface="Afacad Flux" panose="020B0604020202020204" charset="0"/>
                <a:cs typeface="Afacad Flux" panose="020B0604020202020204" charset="0"/>
              </a:rPr>
              <a:t>  • Local Markdown runbooks indexed with ONNX all-MiniLM-L6-v2 into </a:t>
            </a:r>
            <a:r>
              <a:rPr lang="en-US" dirty="0" err="1">
                <a:latin typeface="Afacad Flux" panose="020B0604020202020204" charset="0"/>
                <a:cs typeface="Afacad Flux" panose="020B0604020202020204" charset="0"/>
              </a:rPr>
              <a:t>ChromaDB</a:t>
            </a:r>
            <a:endParaRPr lang="en-US" dirty="0">
              <a:latin typeface="Afacad Flux" panose="020B0604020202020204" charset="0"/>
              <a:cs typeface="Afacad Flux" panose="020B0604020202020204" charset="0"/>
            </a:endParaRPr>
          </a:p>
          <a:p>
            <a:pPr marL="114300" indent="0" algn="just">
              <a:spcAft>
                <a:spcPts val="200"/>
              </a:spcAft>
              <a:buNone/>
              <a:defRPr sz="1100"/>
            </a:pPr>
            <a:r>
              <a:rPr lang="en-US" dirty="0">
                <a:latin typeface="Afacad Flux" panose="020B0604020202020204" charset="0"/>
                <a:cs typeface="Afacad Flux" panose="020B0604020202020204" charset="0"/>
              </a:rPr>
              <a:t>  • Up to 4 documents retrieved per query; answer bounded to retrieved text only</a:t>
            </a:r>
          </a:p>
          <a:p>
            <a:pPr marL="114300" indent="0" algn="just">
              <a:spcAft>
                <a:spcPts val="200"/>
              </a:spcAft>
              <a:buNone/>
              <a:defRPr sz="1100"/>
            </a:pPr>
            <a:r>
              <a:rPr lang="en-US" dirty="0">
                <a:latin typeface="Afacad Flux" panose="020B0604020202020204" charset="0"/>
                <a:cs typeface="Afacad Flux" panose="020B0604020202020204" charset="0"/>
              </a:rPr>
              <a:t>  • Source titles returned alongside answer; idempotent re-indexing</a:t>
            </a:r>
          </a:p>
          <a:p>
            <a:pPr marL="114300" indent="0" algn="just">
              <a:spcAft>
                <a:spcPts val="200"/>
              </a:spcAft>
              <a:buNone/>
              <a:defRPr sz="1100"/>
            </a:pPr>
            <a:endParaRPr dirty="0">
              <a:latin typeface="Afacad Flux" panose="020B0604020202020204" charset="0"/>
              <a:cs typeface="Afacad Flux" panose="020B0604020202020204" charset="0"/>
            </a:endParaRPr>
          </a:p>
          <a:p>
            <a:pPr marL="114300" indent="0" algn="just">
              <a:spcAft>
                <a:spcPts val="200"/>
              </a:spcAft>
              <a:buNone/>
              <a:defRPr sz="1200" b="1"/>
            </a:pPr>
            <a:r>
              <a:rPr dirty="0">
                <a:latin typeface="Afacad Flux" panose="020B0604020202020204" charset="0"/>
                <a:cs typeface="Afacad Flux" panose="020B0604020202020204" charset="0"/>
              </a:rPr>
              <a:t>Safety Controls:</a:t>
            </a:r>
          </a:p>
          <a:p>
            <a:pPr marL="114300" indent="0" algn="just">
              <a:spcAft>
                <a:spcPts val="200"/>
              </a:spcAft>
              <a:buNone/>
              <a:defRPr sz="1100"/>
            </a:pPr>
            <a:r>
              <a:rPr dirty="0">
                <a:latin typeface="Afacad Flux" panose="020B0604020202020204" charset="0"/>
                <a:cs typeface="Afacad Flux" panose="020B0604020202020204" charset="0"/>
              </a:rPr>
              <a:t>  • No autonomous remediation</a:t>
            </a:r>
            <a:r>
              <a:rPr lang="en-US" dirty="0">
                <a:latin typeface="Afacad Flux" panose="020B0604020202020204" charset="0"/>
                <a:cs typeface="Afacad Flux" panose="020B0604020202020204" charset="0"/>
              </a:rPr>
              <a:t>;</a:t>
            </a:r>
            <a:r>
              <a:rPr dirty="0">
                <a:latin typeface="Afacad Flux" panose="020B0604020202020204" charset="0"/>
                <a:cs typeface="Afacad Flux" panose="020B0604020202020204" charset="0"/>
              </a:rPr>
              <a:t> all verdicts are advisory only</a:t>
            </a:r>
          </a:p>
          <a:p>
            <a:pPr marL="114300" indent="0" algn="just">
              <a:spcAft>
                <a:spcPts val="200"/>
              </a:spcAft>
              <a:buNone/>
              <a:defRPr sz="1100"/>
            </a:pPr>
            <a:r>
              <a:rPr dirty="0">
                <a:latin typeface="Afacad Flux" panose="020B0604020202020204" charset="0"/>
                <a:cs typeface="Afacad Flux" panose="020B0604020202020204" charset="0"/>
              </a:rPr>
              <a:t>  • Severity whitelist: ok | warning | high | critical (invalid → warning)</a:t>
            </a:r>
          </a:p>
          <a:p>
            <a:pPr marL="114300" indent="0" algn="just">
              <a:spcAft>
                <a:spcPts val="200"/>
              </a:spcAft>
              <a:buNone/>
              <a:defRPr sz="1100"/>
            </a:pPr>
            <a:r>
              <a:rPr dirty="0">
                <a:latin typeface="Afacad Flux" panose="020B0604020202020204" charset="0"/>
                <a:cs typeface="Afacad Flux" panose="020B0604020202020204" charset="0"/>
              </a:rPr>
              <a:t>  • Threat detection is fully deterministic (regex + thresholds, no LLM)</a:t>
            </a:r>
          </a:p>
          <a:p>
            <a:pPr marL="114300" indent="0" algn="just">
              <a:spcAft>
                <a:spcPts val="200"/>
              </a:spcAft>
              <a:buNone/>
              <a:defRPr sz="1100"/>
            </a:pPr>
            <a:r>
              <a:rPr dirty="0">
                <a:latin typeface="Afacad Flux" panose="020B0604020202020204" charset="0"/>
                <a:cs typeface="Afacad Flux" panose="020B0604020202020204" charset="0"/>
              </a:rPr>
              <a:t>  • </a:t>
            </a:r>
            <a:r>
              <a:rPr dirty="0" err="1">
                <a:latin typeface="Afacad Flux" panose="020B0604020202020204" charset="0"/>
                <a:cs typeface="Afacad Flux" panose="020B0604020202020204" charset="0"/>
              </a:rPr>
              <a:t>CrowdSec</a:t>
            </a:r>
            <a:r>
              <a:rPr dirty="0">
                <a:latin typeface="Afacad Flux" panose="020B0604020202020204" charset="0"/>
                <a:cs typeface="Afacad Flux" panose="020B0604020202020204" charset="0"/>
              </a:rPr>
              <a:t> bans require operator click; dry-run when unconfigured</a:t>
            </a:r>
          </a:p>
          <a:p>
            <a:pPr marL="114300" indent="0" algn="just">
              <a:spcAft>
                <a:spcPts val="200"/>
              </a:spcAft>
              <a:buNone/>
              <a:defRPr sz="1100"/>
            </a:pPr>
            <a:r>
              <a:rPr dirty="0">
                <a:latin typeface="Afacad Flux" panose="020B0604020202020204" charset="0"/>
                <a:cs typeface="Afacad Flux" panose="020B0604020202020204" charset="0"/>
              </a:rPr>
              <a:t>  • High/critical verdicts cannot be acknowledged or suppressed</a:t>
            </a:r>
          </a:p>
          <a:p>
            <a:pPr marL="114300" indent="0" algn="just">
              <a:spcAft>
                <a:spcPts val="200"/>
              </a:spcAft>
              <a:buNone/>
              <a:defRPr sz="1100"/>
            </a:pPr>
            <a:r>
              <a:rPr dirty="0">
                <a:latin typeface="Afacad Flux" panose="020B0604020202020204" charset="0"/>
                <a:cs typeface="Afacad Flux" panose="020B0604020202020204" charset="0"/>
              </a:rPr>
              <a:t>  • All LLM/log text HTML-escaped before dashboard rendering (anti-XSS)</a:t>
            </a:r>
          </a:p>
        </p:txBody>
      </p:sp>
      <p:cxnSp>
        <p:nvCxnSpPr>
          <p:cNvPr id="80" name="Google Shape;80;g3ba14ccda94_0_19">
            <a:extLst>
              <a:ext uri="{FF2B5EF4-FFF2-40B4-BE49-F238E27FC236}">
                <a16:creationId xmlns:a16="http://schemas.microsoft.com/office/drawing/2014/main" id="{F8D0BE77-7869-F57B-BD9D-DBB25224FFDC}"/>
              </a:ext>
            </a:extLst>
          </p:cNvPr>
          <p:cNvCxnSpPr/>
          <p:nvPr/>
        </p:nvCxnSpPr>
        <p:spPr>
          <a:xfrm>
            <a:off x="583800" y="685500"/>
            <a:ext cx="6114600" cy="0"/>
          </a:xfrm>
          <a:prstGeom prst="straightConnector1">
            <a:avLst/>
          </a:prstGeom>
          <a:noFill/>
          <a:ln w="9525" cap="flat" cmpd="sng">
            <a:solidFill>
              <a:srgbClr val="B6997F"/>
            </a:solidFill>
            <a:prstDash val="solid"/>
            <a:round/>
            <a:headEnd type="none" w="med" len="med"/>
            <a:tailEnd type="none" w="med" len="med"/>
          </a:ln>
        </p:spPr>
      </p:cxnSp>
      <p:sp>
        <p:nvSpPr>
          <p:cNvPr id="81" name="Google Shape;81;g3ba14ccda94_0_19">
            <a:extLst>
              <a:ext uri="{FF2B5EF4-FFF2-40B4-BE49-F238E27FC236}">
                <a16:creationId xmlns:a16="http://schemas.microsoft.com/office/drawing/2014/main" id="{79DBF484-7568-C63F-3A19-08308D7B586B}"/>
              </a:ext>
            </a:extLst>
          </p:cNvPr>
          <p:cNvSpPr txBox="1"/>
          <p:nvPr/>
        </p:nvSpPr>
        <p:spPr>
          <a:xfrm>
            <a:off x="594524" y="349855"/>
            <a:ext cx="1443149" cy="338524"/>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1000" b="1" i="0" u="none" strike="noStrike" cap="none" dirty="0">
                <a:solidFill>
                  <a:srgbClr val="0B314F"/>
                </a:solidFill>
                <a:latin typeface="Afacad Flux" panose="020B0604020202020204" charset="0"/>
                <a:ea typeface="Afacad Flux"/>
                <a:cs typeface="Afacad Flux" panose="020B0604020202020204" charset="0"/>
                <a:sym typeface="Afacad Flux"/>
              </a:rPr>
              <a:t>Final Project Defence</a:t>
            </a:r>
            <a:endParaRPr sz="1000" b="1" i="0" u="none" strike="noStrike" cap="none" dirty="0">
              <a:solidFill>
                <a:srgbClr val="0B314F"/>
              </a:solidFill>
              <a:latin typeface="Afacad Flux" panose="020B0604020202020204" charset="0"/>
              <a:ea typeface="Afacad Flux"/>
              <a:cs typeface="Afacad Flux" panose="020B0604020202020204" charset="0"/>
              <a:sym typeface="Afacad Flux"/>
            </a:endParaRPr>
          </a:p>
        </p:txBody>
      </p:sp>
      <p:pic>
        <p:nvPicPr>
          <p:cNvPr id="2" name="Picture 1" descr="A logo with a letter m and a laurel wreath&#10;&#10;AI-generated content may be incorrect.">
            <a:extLst>
              <a:ext uri="{FF2B5EF4-FFF2-40B4-BE49-F238E27FC236}">
                <a16:creationId xmlns:a16="http://schemas.microsoft.com/office/drawing/2014/main" id="{7D3CF95C-AEB3-F4F7-7B0C-50E80D2702BA}"/>
              </a:ext>
            </a:extLst>
          </p:cNvPr>
          <p:cNvPicPr>
            <a:picLocks noChangeAspect="1"/>
          </p:cNvPicPr>
          <p:nvPr/>
        </p:nvPicPr>
        <p:blipFill>
          <a:blip r:embed="rId3"/>
          <a:stretch>
            <a:fillRect/>
          </a:stretch>
        </p:blipFill>
        <p:spPr>
          <a:xfrm>
            <a:off x="7125672" y="239527"/>
            <a:ext cx="1591055" cy="559355"/>
          </a:xfrm>
          <a:prstGeom prst="rect">
            <a:avLst/>
          </a:prstGeom>
        </p:spPr>
      </p:pic>
    </p:spTree>
    <p:extLst>
      <p:ext uri="{BB962C8B-B14F-4D97-AF65-F5344CB8AC3E}">
        <p14:creationId xmlns:p14="http://schemas.microsoft.com/office/powerpoint/2010/main" val="9604022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6">
          <a:extLst>
            <a:ext uri="{FF2B5EF4-FFF2-40B4-BE49-F238E27FC236}">
              <a16:creationId xmlns:a16="http://schemas.microsoft.com/office/drawing/2014/main" id="{AFC82651-4D7F-CA7B-06EF-F72BC3B4EAC2}"/>
            </a:ext>
          </a:extLst>
        </p:cNvPr>
        <p:cNvGrpSpPr/>
        <p:nvPr/>
      </p:nvGrpSpPr>
      <p:grpSpPr>
        <a:xfrm>
          <a:off x="0" y="0"/>
          <a:ext cx="0" cy="0"/>
          <a:chOff x="0" y="0"/>
          <a:chExt cx="0" cy="0"/>
        </a:xfrm>
      </p:grpSpPr>
      <p:sp>
        <p:nvSpPr>
          <p:cNvPr id="87" name="Google Shape;87;g3ba14ccda94_0_28">
            <a:extLst>
              <a:ext uri="{FF2B5EF4-FFF2-40B4-BE49-F238E27FC236}">
                <a16:creationId xmlns:a16="http://schemas.microsoft.com/office/drawing/2014/main" id="{B59DA8BC-98DD-0625-DE1C-8EE11BC28C9A}"/>
              </a:ext>
            </a:extLst>
          </p:cNvPr>
          <p:cNvSpPr/>
          <p:nvPr/>
        </p:nvSpPr>
        <p:spPr>
          <a:xfrm>
            <a:off x="0" y="0"/>
            <a:ext cx="9288450" cy="5320146"/>
          </a:xfrm>
          <a:prstGeom prst="rect">
            <a:avLst/>
          </a:prstGeom>
          <a:solidFill>
            <a:srgbClr val="09314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facad Flux" panose="020B0604020202020204" charset="0"/>
              <a:cs typeface="Afacad Flux" panose="020B0604020202020204" charset="0"/>
            </a:endParaRPr>
          </a:p>
        </p:txBody>
      </p:sp>
      <p:sp>
        <p:nvSpPr>
          <p:cNvPr id="88" name="Google Shape;88;g3ba14ccda94_0_28">
            <a:extLst>
              <a:ext uri="{FF2B5EF4-FFF2-40B4-BE49-F238E27FC236}">
                <a16:creationId xmlns:a16="http://schemas.microsoft.com/office/drawing/2014/main" id="{34468AB8-7B5E-EFB9-0516-3F92B69506DE}"/>
              </a:ext>
            </a:extLst>
          </p:cNvPr>
          <p:cNvSpPr txBox="1"/>
          <p:nvPr/>
        </p:nvSpPr>
        <p:spPr>
          <a:xfrm>
            <a:off x="585574" y="942125"/>
            <a:ext cx="4715161" cy="538579"/>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300"/>
              <a:buFont typeface="Arial"/>
              <a:buNone/>
            </a:pPr>
            <a:r>
              <a:rPr lang="en-GB" sz="2300" b="1" i="0" u="none" strike="noStrike" cap="none" dirty="0">
                <a:solidFill>
                  <a:srgbClr val="C0A282"/>
                </a:solidFill>
                <a:latin typeface="Afacad Flux" panose="020B0604020202020204" charset="0"/>
                <a:ea typeface="Afacad Flux"/>
                <a:cs typeface="Afacad Flux" panose="020B0604020202020204" charset="0"/>
                <a:sym typeface="Afacad Flux"/>
              </a:rPr>
              <a:t>Automated Testing &amp; Verification</a:t>
            </a:r>
          </a:p>
        </p:txBody>
      </p:sp>
      <p:sp>
        <p:nvSpPr>
          <p:cNvPr id="89" name="Google Shape;89;g3ba14ccda94_0_28">
            <a:extLst>
              <a:ext uri="{FF2B5EF4-FFF2-40B4-BE49-F238E27FC236}">
                <a16:creationId xmlns:a16="http://schemas.microsoft.com/office/drawing/2014/main" id="{3353B898-44C9-9A9C-80E1-2B91EB5C59B6}"/>
              </a:ext>
            </a:extLst>
          </p:cNvPr>
          <p:cNvSpPr txBox="1"/>
          <p:nvPr/>
        </p:nvSpPr>
        <p:spPr>
          <a:xfrm>
            <a:off x="617675" y="1881275"/>
            <a:ext cx="8214826" cy="2736103"/>
          </a:xfrm>
          <a:prstGeom prst="rect">
            <a:avLst/>
          </a:prstGeom>
          <a:noFill/>
          <a:ln>
            <a:noFill/>
          </a:ln>
        </p:spPr>
        <p:txBody>
          <a:bodyPr spcFirstLastPara="1" wrap="square" lIns="91425" tIns="91425" rIns="91425" bIns="91425" anchor="t" anchorCtr="0">
            <a:spAutoFit/>
          </a:bodyPr>
          <a:lstStyle/>
          <a:p>
            <a:pPr lvl="0">
              <a:lnSpc>
                <a:spcPct val="115000"/>
              </a:lnSpc>
              <a:spcAft>
                <a:spcPts val="200"/>
              </a:spcAft>
              <a:buSzPts val="1200"/>
            </a:pPr>
            <a:r>
              <a:rPr lang="en-US" sz="1200" b="1" dirty="0">
                <a:solidFill>
                  <a:srgbClr val="FFFFFF"/>
                </a:solidFill>
                <a:latin typeface="Afacad Flux" panose="020B0604020202020204" charset="0"/>
                <a:cs typeface="Afacad Flux" panose="020B0604020202020204" charset="0"/>
              </a:rPr>
              <a:t>  </a:t>
            </a:r>
            <a:r>
              <a:rPr sz="1200" b="1" dirty="0">
                <a:solidFill>
                  <a:srgbClr val="FFFFFF"/>
                </a:solidFill>
                <a:latin typeface="Afacad Flux" panose="020B0604020202020204" charset="0"/>
                <a:cs typeface="Afacad Flux" panose="020B0604020202020204" charset="0"/>
              </a:rPr>
              <a:t>Software Verification (29 August 2026 snapshot):</a:t>
            </a:r>
          </a:p>
          <a:p>
            <a:pPr>
              <a:spcAft>
                <a:spcPts val="200"/>
              </a:spcAft>
            </a:pPr>
            <a:endParaRPr sz="1200" b="1" dirty="0">
              <a:solidFill>
                <a:srgbClr val="FFFFFF"/>
              </a:solidFill>
              <a:latin typeface="Afacad Flux" panose="020B0604020202020204" charset="0"/>
              <a:cs typeface="Afacad Flux" panose="020B0604020202020204" charset="0"/>
            </a:endParaRPr>
          </a:p>
          <a:p>
            <a:pPr>
              <a:spcAft>
                <a:spcPts val="200"/>
              </a:spcAft>
            </a:pPr>
            <a:r>
              <a:rPr sz="1200" dirty="0">
                <a:solidFill>
                  <a:srgbClr val="FFFFFF"/>
                </a:solidFill>
                <a:latin typeface="Afacad Flux" panose="020B0604020202020204" charset="0"/>
                <a:cs typeface="Afacad Flux" panose="020B0604020202020204" charset="0"/>
              </a:rPr>
              <a:t>  Total tests:                180 passed, 0 failed</a:t>
            </a:r>
          </a:p>
          <a:p>
            <a:pPr>
              <a:spcAft>
                <a:spcPts val="200"/>
              </a:spcAft>
            </a:pPr>
            <a:r>
              <a:rPr sz="1200" dirty="0">
                <a:solidFill>
                  <a:srgbClr val="FFFFFF"/>
                </a:solidFill>
                <a:latin typeface="Afacad Flux" panose="020B0604020202020204" charset="0"/>
                <a:cs typeface="Afacad Flux" panose="020B0604020202020204" charset="0"/>
              </a:rPr>
              <a:t>  Overall line coverage:   89% (1,655 statements, 190 missed)</a:t>
            </a:r>
          </a:p>
          <a:p>
            <a:pPr>
              <a:spcAft>
                <a:spcPts val="200"/>
              </a:spcAft>
            </a:pPr>
            <a:r>
              <a:rPr sz="1200" dirty="0">
                <a:solidFill>
                  <a:srgbClr val="FFFFFF"/>
                </a:solidFill>
                <a:latin typeface="Afacad Flux" panose="020B0604020202020204" charset="0"/>
                <a:cs typeface="Afacad Flux" panose="020B0604020202020204" charset="0"/>
              </a:rPr>
              <a:t>  Modules at 100%:          6 (tools, schema, RAG, etc.)</a:t>
            </a:r>
          </a:p>
          <a:p>
            <a:pPr>
              <a:spcAft>
                <a:spcPts val="200"/>
              </a:spcAft>
            </a:pPr>
            <a:r>
              <a:rPr sz="1200" dirty="0">
                <a:solidFill>
                  <a:srgbClr val="FFFFFF"/>
                </a:solidFill>
                <a:latin typeface="Afacad Flux" panose="020B0604020202020204" charset="0"/>
                <a:cs typeface="Afacad Flux" panose="020B0604020202020204" charset="0"/>
              </a:rPr>
              <a:t>  Orchestrator coverage:  95%</a:t>
            </a:r>
          </a:p>
          <a:p>
            <a:pPr>
              <a:spcAft>
                <a:spcPts val="200"/>
              </a:spcAft>
            </a:pPr>
            <a:r>
              <a:rPr sz="1200" dirty="0">
                <a:solidFill>
                  <a:srgbClr val="FFFFFF"/>
                </a:solidFill>
                <a:latin typeface="Afacad Flux" panose="020B0604020202020204" charset="0"/>
                <a:cs typeface="Afacad Flux" panose="020B0604020202020204" charset="0"/>
              </a:rPr>
              <a:t>  Store coverage:             94%</a:t>
            </a:r>
          </a:p>
          <a:p>
            <a:pPr>
              <a:spcAft>
                <a:spcPts val="200"/>
              </a:spcAft>
            </a:pPr>
            <a:r>
              <a:rPr sz="1200" dirty="0">
                <a:solidFill>
                  <a:srgbClr val="FFFFFF"/>
                </a:solidFill>
                <a:latin typeface="Afacad Flux" panose="020B0604020202020204" charset="0"/>
                <a:cs typeface="Afacad Flux" panose="020B0604020202020204" charset="0"/>
              </a:rPr>
              <a:t>  Framework:                    </a:t>
            </a:r>
            <a:r>
              <a:rPr sz="1200" dirty="0" err="1">
                <a:solidFill>
                  <a:srgbClr val="FFFFFF"/>
                </a:solidFill>
                <a:latin typeface="Afacad Flux" panose="020B0604020202020204" charset="0"/>
                <a:cs typeface="Afacad Flux" panose="020B0604020202020204" charset="0"/>
              </a:rPr>
              <a:t>pytest</a:t>
            </a:r>
            <a:r>
              <a:rPr sz="1200" dirty="0">
                <a:solidFill>
                  <a:srgbClr val="FFFFFF"/>
                </a:solidFill>
                <a:latin typeface="Afacad Flux" panose="020B0604020202020204" charset="0"/>
                <a:cs typeface="Afacad Flux" panose="020B0604020202020204" charset="0"/>
              </a:rPr>
              <a:t> + </a:t>
            </a:r>
            <a:r>
              <a:rPr sz="1200" dirty="0" err="1">
                <a:solidFill>
                  <a:srgbClr val="FFFFFF"/>
                </a:solidFill>
                <a:latin typeface="Afacad Flux" panose="020B0604020202020204" charset="0"/>
                <a:cs typeface="Afacad Flux" panose="020B0604020202020204" charset="0"/>
              </a:rPr>
              <a:t>respx</a:t>
            </a:r>
            <a:r>
              <a:rPr sz="1200" dirty="0">
                <a:solidFill>
                  <a:srgbClr val="FFFFFF"/>
                </a:solidFill>
                <a:latin typeface="Afacad Flux" panose="020B0604020202020204" charset="0"/>
                <a:cs typeface="Afacad Flux" panose="020B0604020202020204" charset="0"/>
              </a:rPr>
              <a:t> (</a:t>
            </a:r>
            <a:r>
              <a:rPr sz="1200" dirty="0" err="1">
                <a:solidFill>
                  <a:srgbClr val="FFFFFF"/>
                </a:solidFill>
                <a:latin typeface="Afacad Flux" panose="020B0604020202020204" charset="0"/>
                <a:cs typeface="Afacad Flux" panose="020B0604020202020204" charset="0"/>
              </a:rPr>
              <a:t>asyncio_mode</a:t>
            </a:r>
            <a:r>
              <a:rPr sz="1200" dirty="0">
                <a:solidFill>
                  <a:srgbClr val="FFFFFF"/>
                </a:solidFill>
                <a:latin typeface="Afacad Flux" panose="020B0604020202020204" charset="0"/>
                <a:cs typeface="Afacad Flux" panose="020B0604020202020204" charset="0"/>
              </a:rPr>
              <a:t>=auto)</a:t>
            </a:r>
          </a:p>
          <a:p>
            <a:pPr>
              <a:spcAft>
                <a:spcPts val="200"/>
              </a:spcAft>
            </a:pPr>
            <a:r>
              <a:rPr sz="1200" dirty="0">
                <a:solidFill>
                  <a:srgbClr val="FFFFFF"/>
                </a:solidFill>
                <a:latin typeface="Afacad Flux" panose="020B0604020202020204" charset="0"/>
                <a:cs typeface="Afacad Flux" panose="020B0604020202020204" charset="0"/>
              </a:rPr>
              <a:t>  CI/CD:                           GitHub Actions</a:t>
            </a:r>
            <a:r>
              <a:rPr lang="en-US" sz="1200" dirty="0">
                <a:solidFill>
                  <a:srgbClr val="FFFFFF"/>
                </a:solidFill>
                <a:latin typeface="Afacad Flux" panose="020B0604020202020204" charset="0"/>
                <a:cs typeface="Afacad Flux" panose="020B0604020202020204" charset="0"/>
              </a:rPr>
              <a:t>;</a:t>
            </a:r>
            <a:r>
              <a:rPr sz="1200" dirty="0">
                <a:solidFill>
                  <a:srgbClr val="FFFFFF"/>
                </a:solidFill>
                <a:latin typeface="Afacad Flux" panose="020B0604020202020204" charset="0"/>
                <a:cs typeface="Afacad Flux" panose="020B0604020202020204" charset="0"/>
              </a:rPr>
              <a:t> tests on PRs, gated deploy on main</a:t>
            </a:r>
          </a:p>
          <a:p>
            <a:pPr>
              <a:spcAft>
                <a:spcPts val="200"/>
              </a:spcAft>
            </a:pPr>
            <a:endParaRPr sz="1200" dirty="0">
              <a:solidFill>
                <a:srgbClr val="FFFFFF"/>
              </a:solidFill>
              <a:latin typeface="Afacad Flux" panose="020B0604020202020204" charset="0"/>
              <a:cs typeface="Afacad Flux" panose="020B0604020202020204" charset="0"/>
            </a:endParaRPr>
          </a:p>
          <a:p>
            <a:pPr>
              <a:spcAft>
                <a:spcPts val="200"/>
              </a:spcAft>
            </a:pPr>
            <a:r>
              <a:rPr sz="1200" b="1" dirty="0">
                <a:solidFill>
                  <a:srgbClr val="FFFFFF"/>
                </a:solidFill>
                <a:latin typeface="Afacad Flux" panose="020B0604020202020204" charset="0"/>
                <a:cs typeface="Afacad Flux" panose="020B0604020202020204" charset="0"/>
              </a:rPr>
              <a:t>Evidence boundary: These tests verify implemented software </a:t>
            </a:r>
            <a:r>
              <a:rPr sz="1200" b="1" dirty="0" err="1">
                <a:solidFill>
                  <a:srgbClr val="FFFFFF"/>
                </a:solidFill>
                <a:latin typeface="Afacad Flux" panose="020B0604020202020204" charset="0"/>
                <a:cs typeface="Afacad Flux" panose="020B0604020202020204" charset="0"/>
              </a:rPr>
              <a:t>behaviour</a:t>
            </a:r>
            <a:r>
              <a:rPr sz="1200" b="1" dirty="0">
                <a:solidFill>
                  <a:srgbClr val="FFFFFF"/>
                </a:solidFill>
                <a:latin typeface="Afacad Flux" panose="020B0604020202020204" charset="0"/>
                <a:cs typeface="Afacad Flux" panose="020B0604020202020204" charset="0"/>
              </a:rPr>
              <a:t> using mocked</a:t>
            </a:r>
          </a:p>
          <a:p>
            <a:pPr>
              <a:spcAft>
                <a:spcPts val="200"/>
              </a:spcAft>
            </a:pPr>
            <a:r>
              <a:rPr sz="1200" dirty="0">
                <a:solidFill>
                  <a:srgbClr val="FFFFFF"/>
                </a:solidFill>
                <a:latin typeface="Afacad Flux" panose="020B0604020202020204" charset="0"/>
                <a:cs typeface="Afacad Flux" panose="020B0604020202020204" charset="0"/>
              </a:rPr>
              <a:t>external dependencies. They do not prove live reliability or diagnostic accuracy.</a:t>
            </a:r>
          </a:p>
        </p:txBody>
      </p:sp>
      <p:cxnSp>
        <p:nvCxnSpPr>
          <p:cNvPr id="91" name="Google Shape;91;g3ba14ccda94_0_28">
            <a:extLst>
              <a:ext uri="{FF2B5EF4-FFF2-40B4-BE49-F238E27FC236}">
                <a16:creationId xmlns:a16="http://schemas.microsoft.com/office/drawing/2014/main" id="{E4F42227-03E2-3697-5EC9-141C0E6D23AC}"/>
              </a:ext>
            </a:extLst>
          </p:cNvPr>
          <p:cNvCxnSpPr/>
          <p:nvPr/>
        </p:nvCxnSpPr>
        <p:spPr>
          <a:xfrm>
            <a:off x="583800" y="685500"/>
            <a:ext cx="6114600" cy="0"/>
          </a:xfrm>
          <a:prstGeom prst="straightConnector1">
            <a:avLst/>
          </a:prstGeom>
          <a:noFill/>
          <a:ln w="9525" cap="flat" cmpd="sng">
            <a:solidFill>
              <a:srgbClr val="E83831"/>
            </a:solidFill>
            <a:prstDash val="solid"/>
            <a:round/>
            <a:headEnd type="none" w="med" len="med"/>
            <a:tailEnd type="none" w="med" len="med"/>
          </a:ln>
        </p:spPr>
      </p:cxnSp>
      <p:sp>
        <p:nvSpPr>
          <p:cNvPr id="92" name="Google Shape;92;g3ba14ccda94_0_28">
            <a:extLst>
              <a:ext uri="{FF2B5EF4-FFF2-40B4-BE49-F238E27FC236}">
                <a16:creationId xmlns:a16="http://schemas.microsoft.com/office/drawing/2014/main" id="{B0DDA3CF-EF31-AC2E-EDFA-78ECF9371A52}"/>
              </a:ext>
            </a:extLst>
          </p:cNvPr>
          <p:cNvSpPr txBox="1"/>
          <p:nvPr/>
        </p:nvSpPr>
        <p:spPr>
          <a:xfrm>
            <a:off x="594524" y="349855"/>
            <a:ext cx="1254373" cy="338524"/>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1000" b="1" dirty="0">
                <a:solidFill>
                  <a:schemeClr val="lt1"/>
                </a:solidFill>
                <a:latin typeface="Afacad Flux" panose="020B0604020202020204" charset="0"/>
                <a:ea typeface="Afacad Flux"/>
                <a:cs typeface="Afacad Flux" panose="020B0604020202020204" charset="0"/>
                <a:sym typeface="Afacad Flux"/>
              </a:rPr>
              <a:t>Final Project Defence</a:t>
            </a:r>
            <a:endParaRPr sz="1000" b="1" i="0" u="none" strike="noStrike" cap="none" dirty="0">
              <a:solidFill>
                <a:schemeClr val="lt1"/>
              </a:solidFill>
              <a:latin typeface="Afacad Flux" panose="020B0604020202020204" charset="0"/>
              <a:ea typeface="Afacad Flux"/>
              <a:cs typeface="Afacad Flux" panose="020B0604020202020204" charset="0"/>
              <a:sym typeface="Afacad Flux"/>
            </a:endParaRPr>
          </a:p>
        </p:txBody>
      </p:sp>
      <p:pic>
        <p:nvPicPr>
          <p:cNvPr id="2" name="Picture 1" descr="A logo with a letter and a leaf&#10;&#10;AI-generated content may be incorrect.">
            <a:extLst>
              <a:ext uri="{FF2B5EF4-FFF2-40B4-BE49-F238E27FC236}">
                <a16:creationId xmlns:a16="http://schemas.microsoft.com/office/drawing/2014/main" id="{69F79E9D-140A-D80C-AF41-914370767050}"/>
              </a:ext>
            </a:extLst>
          </p:cNvPr>
          <p:cNvPicPr>
            <a:picLocks noChangeAspect="1"/>
          </p:cNvPicPr>
          <p:nvPr/>
        </p:nvPicPr>
        <p:blipFill>
          <a:blip r:embed="rId3"/>
          <a:stretch>
            <a:fillRect/>
          </a:stretch>
        </p:blipFill>
        <p:spPr>
          <a:xfrm>
            <a:off x="7127814" y="239115"/>
            <a:ext cx="1593400" cy="560179"/>
          </a:xfrm>
          <a:prstGeom prst="rect">
            <a:avLst/>
          </a:prstGeom>
        </p:spPr>
      </p:pic>
    </p:spTree>
    <p:extLst>
      <p:ext uri="{BB962C8B-B14F-4D97-AF65-F5344CB8AC3E}">
        <p14:creationId xmlns:p14="http://schemas.microsoft.com/office/powerpoint/2010/main" val="7661100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76">
          <a:extLst>
            <a:ext uri="{FF2B5EF4-FFF2-40B4-BE49-F238E27FC236}">
              <a16:creationId xmlns:a16="http://schemas.microsoft.com/office/drawing/2014/main" id="{47E9EF28-2275-F678-895F-7C2219C7CBF7}"/>
            </a:ext>
          </a:extLst>
        </p:cNvPr>
        <p:cNvGrpSpPr/>
        <p:nvPr/>
      </p:nvGrpSpPr>
      <p:grpSpPr>
        <a:xfrm>
          <a:off x="0" y="0"/>
          <a:ext cx="0" cy="0"/>
          <a:chOff x="0" y="0"/>
          <a:chExt cx="0" cy="0"/>
        </a:xfrm>
      </p:grpSpPr>
      <p:sp>
        <p:nvSpPr>
          <p:cNvPr id="77" name="Google Shape;77;g3ba14ccda94_0_19">
            <a:extLst>
              <a:ext uri="{FF2B5EF4-FFF2-40B4-BE49-F238E27FC236}">
                <a16:creationId xmlns:a16="http://schemas.microsoft.com/office/drawing/2014/main" id="{A27235BD-4E5E-342A-510C-825F9EA13E53}"/>
              </a:ext>
            </a:extLst>
          </p:cNvPr>
          <p:cNvSpPr txBox="1">
            <a:spLocks noGrp="1"/>
          </p:cNvSpPr>
          <p:nvPr>
            <p:ph type="title"/>
          </p:nvPr>
        </p:nvSpPr>
        <p:spPr>
          <a:xfrm>
            <a:off x="612374" y="965400"/>
            <a:ext cx="6804941" cy="473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b="1" dirty="0"/>
              <a:t>Controlled Benchmark &amp; Evaluation</a:t>
            </a:r>
            <a:endParaRPr sz="2300" b="1" dirty="0">
              <a:solidFill>
                <a:srgbClr val="E83831"/>
              </a:solidFill>
              <a:latin typeface="Afacad Flux"/>
              <a:ea typeface="Afacad Flux"/>
              <a:cs typeface="Afacad Flux"/>
              <a:sym typeface="Afacad Flux"/>
            </a:endParaRPr>
          </a:p>
        </p:txBody>
      </p:sp>
      <p:sp>
        <p:nvSpPr>
          <p:cNvPr id="78" name="Google Shape;78;g3ba14ccda94_0_19">
            <a:extLst>
              <a:ext uri="{FF2B5EF4-FFF2-40B4-BE49-F238E27FC236}">
                <a16:creationId xmlns:a16="http://schemas.microsoft.com/office/drawing/2014/main" id="{170A701B-5D26-E08C-A235-506D2768F58F}"/>
              </a:ext>
            </a:extLst>
          </p:cNvPr>
          <p:cNvSpPr txBox="1">
            <a:spLocks noGrp="1"/>
          </p:cNvSpPr>
          <p:nvPr>
            <p:ph type="body" idx="1"/>
          </p:nvPr>
        </p:nvSpPr>
        <p:spPr>
          <a:xfrm>
            <a:off x="482074" y="1715950"/>
            <a:ext cx="8149459" cy="2853828"/>
          </a:xfrm>
          <a:prstGeom prst="rect">
            <a:avLst/>
          </a:prstGeom>
          <a:noFill/>
          <a:ln>
            <a:noFill/>
          </a:ln>
        </p:spPr>
        <p:txBody>
          <a:bodyPr spcFirstLastPara="1" wrap="square" lIns="91425" tIns="91425" rIns="91425" bIns="91425" anchor="t" anchorCtr="0">
            <a:spAutoFit/>
          </a:bodyPr>
          <a:lstStyle/>
          <a:p>
            <a:pPr marL="152400" lvl="0" indent="0" algn="l" rtl="0">
              <a:lnSpc>
                <a:spcPct val="100000"/>
              </a:lnSpc>
              <a:spcBef>
                <a:spcPts val="0"/>
              </a:spcBef>
              <a:spcAft>
                <a:spcPts val="200"/>
              </a:spcAft>
              <a:buClr>
                <a:srgbClr val="E83831"/>
              </a:buClr>
              <a:buSzPts val="1200"/>
              <a:buNone/>
              <a:defRPr sz="1200" b="1"/>
            </a:pPr>
            <a:r>
              <a:rPr dirty="0"/>
              <a:t>Frozen Benchmark (qwen2.5:3b, T=0.0, 3 runs × 24 scenarios)</a:t>
            </a:r>
          </a:p>
          <a:p>
            <a:pPr>
              <a:spcAft>
                <a:spcPts val="200"/>
              </a:spcAft>
              <a:buFont typeface="Arial" panose="020B0604020202020204" pitchFamily="34" charset="0"/>
              <a:buChar char="•"/>
              <a:defRPr sz="1100"/>
            </a:pPr>
            <a:r>
              <a:rPr dirty="0"/>
              <a:t>  Schema validity: 100% (72/72)</a:t>
            </a:r>
            <a:r>
              <a:rPr lang="en-US" dirty="0"/>
              <a:t>;</a:t>
            </a:r>
            <a:r>
              <a:rPr dirty="0"/>
              <a:t> pipeline never produces malformed output</a:t>
            </a:r>
          </a:p>
          <a:p>
            <a:pPr>
              <a:spcAft>
                <a:spcPts val="200"/>
              </a:spcAft>
              <a:buFont typeface="Arial" panose="020B0604020202020204" pitchFamily="34" charset="0"/>
              <a:buChar char="•"/>
              <a:defRPr sz="1100"/>
            </a:pPr>
            <a:r>
              <a:rPr dirty="0"/>
              <a:t>  Severity agreement: 40.3% (researcher-defined labels, not adjudicated)</a:t>
            </a:r>
          </a:p>
          <a:p>
            <a:pPr>
              <a:spcAft>
                <a:spcPts val="200"/>
              </a:spcAft>
              <a:buFont typeface="Arial" panose="020B0604020202020204" pitchFamily="34" charset="0"/>
              <a:buChar char="•"/>
              <a:defRPr sz="1100"/>
            </a:pPr>
            <a:r>
              <a:rPr dirty="0"/>
              <a:t>  Macro-F1: 0.383 | OK recall: 100% | Critical recall: 100%</a:t>
            </a:r>
          </a:p>
          <a:p>
            <a:pPr>
              <a:spcAft>
                <a:spcPts val="200"/>
              </a:spcAft>
              <a:buFont typeface="Arial" panose="020B0604020202020204" pitchFamily="34" charset="0"/>
              <a:buChar char="•"/>
              <a:defRPr sz="1100"/>
            </a:pPr>
            <a:r>
              <a:rPr dirty="0"/>
              <a:t>  Signature stability: 41.7% (10/24 scenarios repeat-stable)</a:t>
            </a:r>
          </a:p>
          <a:p>
            <a:pPr>
              <a:spcAft>
                <a:spcPts val="200"/>
              </a:spcAft>
              <a:buFont typeface="Arial" panose="020B0604020202020204" pitchFamily="34" charset="0"/>
              <a:buChar char="•"/>
              <a:defRPr sz="1100"/>
            </a:pPr>
            <a:r>
              <a:rPr dirty="0"/>
              <a:t>  Mean latency: 10.3s per verdict | RAG retrieval: 100% (12/12)</a:t>
            </a:r>
          </a:p>
          <a:p>
            <a:pPr>
              <a:spcAft>
                <a:spcPts val="200"/>
              </a:spcAft>
              <a:buFont typeface="Arial" panose="020B0604020202020204" pitchFamily="34" charset="0"/>
              <a:buChar char="•"/>
              <a:defRPr sz="1100"/>
            </a:pPr>
            <a:endParaRPr dirty="0"/>
          </a:p>
          <a:p>
            <a:pPr marL="114300" indent="0">
              <a:spcAft>
                <a:spcPts val="200"/>
              </a:spcAft>
              <a:buNone/>
              <a:defRPr sz="1200" b="1"/>
            </a:pPr>
            <a:r>
              <a:rPr dirty="0"/>
              <a:t>SUS Usability Study (10 complete convenience-sample responses)</a:t>
            </a:r>
          </a:p>
          <a:p>
            <a:pPr>
              <a:spcAft>
                <a:spcPts val="200"/>
              </a:spcAft>
              <a:buFont typeface="Arial" panose="020B0604020202020204" pitchFamily="34" charset="0"/>
              <a:buChar char="•"/>
              <a:defRPr sz="1100"/>
            </a:pPr>
            <a:r>
              <a:rPr dirty="0"/>
              <a:t>  Mean SUS score: 79.25 ("Good" to "Excellent" range) | Median: 83.75</a:t>
            </a:r>
          </a:p>
          <a:p>
            <a:pPr>
              <a:spcAft>
                <a:spcPts val="200"/>
              </a:spcAft>
              <a:buFont typeface="Arial" panose="020B0604020202020204" pitchFamily="34" charset="0"/>
              <a:buChar char="•"/>
              <a:defRPr sz="1100"/>
            </a:pPr>
            <a:endParaRPr dirty="0"/>
          </a:p>
          <a:p>
            <a:pPr marL="114300" indent="0">
              <a:spcAft>
                <a:spcPts val="200"/>
              </a:spcAft>
              <a:buNone/>
              <a:defRPr sz="1200" b="1"/>
            </a:pPr>
            <a:r>
              <a:rPr dirty="0"/>
              <a:t>Evidence boundary: 40.3% rejects unattended triage for this model</a:t>
            </a:r>
          </a:p>
          <a:p>
            <a:pPr>
              <a:spcAft>
                <a:spcPts val="200"/>
              </a:spcAft>
              <a:buFont typeface="Arial" panose="020B0604020202020204" pitchFamily="34" charset="0"/>
              <a:buChar char="•"/>
              <a:defRPr sz="1100"/>
            </a:pPr>
            <a:r>
              <a:rPr dirty="0"/>
              <a:t>SUS is descriptive perceived-usability evidence, not population-level.</a:t>
            </a:r>
          </a:p>
        </p:txBody>
      </p:sp>
      <p:cxnSp>
        <p:nvCxnSpPr>
          <p:cNvPr id="80" name="Google Shape;80;g3ba14ccda94_0_19">
            <a:extLst>
              <a:ext uri="{FF2B5EF4-FFF2-40B4-BE49-F238E27FC236}">
                <a16:creationId xmlns:a16="http://schemas.microsoft.com/office/drawing/2014/main" id="{1DF6E475-72DC-7B45-C1E0-0177881CD92E}"/>
              </a:ext>
            </a:extLst>
          </p:cNvPr>
          <p:cNvCxnSpPr/>
          <p:nvPr/>
        </p:nvCxnSpPr>
        <p:spPr>
          <a:xfrm>
            <a:off x="664148" y="688379"/>
            <a:ext cx="6114600" cy="0"/>
          </a:xfrm>
          <a:prstGeom prst="straightConnector1">
            <a:avLst/>
          </a:prstGeom>
          <a:noFill/>
          <a:ln w="9525" cap="flat" cmpd="sng">
            <a:solidFill>
              <a:srgbClr val="B6997F"/>
            </a:solidFill>
            <a:prstDash val="solid"/>
            <a:round/>
            <a:headEnd type="none" w="med" len="med"/>
            <a:tailEnd type="none" w="med" len="med"/>
          </a:ln>
        </p:spPr>
      </p:cxnSp>
      <p:sp>
        <p:nvSpPr>
          <p:cNvPr id="81" name="Google Shape;81;g3ba14ccda94_0_19">
            <a:extLst>
              <a:ext uri="{FF2B5EF4-FFF2-40B4-BE49-F238E27FC236}">
                <a16:creationId xmlns:a16="http://schemas.microsoft.com/office/drawing/2014/main" id="{C336649F-617F-AA44-7F78-3F69969715E9}"/>
              </a:ext>
            </a:extLst>
          </p:cNvPr>
          <p:cNvSpPr txBox="1"/>
          <p:nvPr/>
        </p:nvSpPr>
        <p:spPr>
          <a:xfrm>
            <a:off x="594524" y="349855"/>
            <a:ext cx="1549906" cy="338524"/>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1000" b="1" i="0" u="none" strike="noStrike" cap="none" dirty="0">
                <a:solidFill>
                  <a:srgbClr val="0B314F"/>
                </a:solidFill>
                <a:latin typeface="Afacad Flux"/>
                <a:ea typeface="Afacad Flux"/>
                <a:cs typeface="Afacad Flux"/>
                <a:sym typeface="Afacad Flux"/>
              </a:rPr>
              <a:t>Final Project Defence</a:t>
            </a:r>
            <a:endParaRPr sz="1000" b="1" i="0" u="none" strike="noStrike" cap="none" dirty="0">
              <a:solidFill>
                <a:srgbClr val="0B314F"/>
              </a:solidFill>
              <a:latin typeface="Afacad Flux"/>
              <a:ea typeface="Afacad Flux"/>
              <a:cs typeface="Afacad Flux"/>
              <a:sym typeface="Afacad Flux"/>
            </a:endParaRPr>
          </a:p>
        </p:txBody>
      </p:sp>
      <p:pic>
        <p:nvPicPr>
          <p:cNvPr id="2" name="Picture 1" descr="A logo with a letter m and a laurel wreath&#10;&#10;AI-generated content may be incorrect.">
            <a:extLst>
              <a:ext uri="{FF2B5EF4-FFF2-40B4-BE49-F238E27FC236}">
                <a16:creationId xmlns:a16="http://schemas.microsoft.com/office/drawing/2014/main" id="{63A4DFFA-FAE1-FC68-E578-301702EA5F44}"/>
              </a:ext>
            </a:extLst>
          </p:cNvPr>
          <p:cNvPicPr>
            <a:picLocks noChangeAspect="1"/>
          </p:cNvPicPr>
          <p:nvPr/>
        </p:nvPicPr>
        <p:blipFill>
          <a:blip r:embed="rId3"/>
          <a:stretch>
            <a:fillRect/>
          </a:stretch>
        </p:blipFill>
        <p:spPr>
          <a:xfrm>
            <a:off x="7125672" y="239527"/>
            <a:ext cx="1591055" cy="559355"/>
          </a:xfrm>
          <a:prstGeom prst="rect">
            <a:avLst/>
          </a:prstGeom>
        </p:spPr>
      </p:pic>
    </p:spTree>
    <p:extLst>
      <p:ext uri="{BB962C8B-B14F-4D97-AF65-F5344CB8AC3E}">
        <p14:creationId xmlns:p14="http://schemas.microsoft.com/office/powerpoint/2010/main" val="31451594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6">
          <a:extLst>
            <a:ext uri="{FF2B5EF4-FFF2-40B4-BE49-F238E27FC236}">
              <a16:creationId xmlns:a16="http://schemas.microsoft.com/office/drawing/2014/main" id="{D15377A6-5D95-9C33-14EB-D58F8DA38A87}"/>
            </a:ext>
          </a:extLst>
        </p:cNvPr>
        <p:cNvGrpSpPr/>
        <p:nvPr/>
      </p:nvGrpSpPr>
      <p:grpSpPr>
        <a:xfrm>
          <a:off x="0" y="0"/>
          <a:ext cx="0" cy="0"/>
          <a:chOff x="0" y="0"/>
          <a:chExt cx="0" cy="0"/>
        </a:xfrm>
      </p:grpSpPr>
      <p:sp>
        <p:nvSpPr>
          <p:cNvPr id="87" name="Google Shape;87;g3ba14ccda94_0_28">
            <a:extLst>
              <a:ext uri="{FF2B5EF4-FFF2-40B4-BE49-F238E27FC236}">
                <a16:creationId xmlns:a16="http://schemas.microsoft.com/office/drawing/2014/main" id="{011733BF-9D57-8F93-7EC5-33BE5C94D7BB}"/>
              </a:ext>
            </a:extLst>
          </p:cNvPr>
          <p:cNvSpPr/>
          <p:nvPr/>
        </p:nvSpPr>
        <p:spPr>
          <a:xfrm>
            <a:off x="-285750" y="-152400"/>
            <a:ext cx="9440850" cy="5305748"/>
          </a:xfrm>
          <a:prstGeom prst="rect">
            <a:avLst/>
          </a:prstGeom>
          <a:solidFill>
            <a:srgbClr val="09314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8" name="Google Shape;88;g3ba14ccda94_0_28">
            <a:extLst>
              <a:ext uri="{FF2B5EF4-FFF2-40B4-BE49-F238E27FC236}">
                <a16:creationId xmlns:a16="http://schemas.microsoft.com/office/drawing/2014/main" id="{C4856BF4-18B4-81C6-0AA5-4D627563A723}"/>
              </a:ext>
            </a:extLst>
          </p:cNvPr>
          <p:cNvSpPr txBox="1"/>
          <p:nvPr/>
        </p:nvSpPr>
        <p:spPr>
          <a:xfrm>
            <a:off x="585574" y="942125"/>
            <a:ext cx="5188607" cy="538579"/>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300"/>
              <a:buFont typeface="Arial"/>
              <a:buNone/>
            </a:pPr>
            <a:r>
              <a:rPr lang="en-GB" sz="2300" b="1" i="0" u="none" strike="noStrike" cap="none" dirty="0">
                <a:solidFill>
                  <a:srgbClr val="C0A282"/>
                </a:solidFill>
                <a:latin typeface="Afacad Flux"/>
                <a:ea typeface="Afacad Flux"/>
                <a:cs typeface="Afacad Flux"/>
                <a:sym typeface="Afacad Flux"/>
              </a:rPr>
              <a:t>Contributions, Limitations &amp; Future Work</a:t>
            </a:r>
            <a:endParaRPr sz="2300" b="1" i="0" u="none" strike="noStrike" cap="none" dirty="0">
              <a:solidFill>
                <a:srgbClr val="C0A282"/>
              </a:solidFill>
              <a:latin typeface="Afacad Flux"/>
              <a:ea typeface="Afacad Flux"/>
              <a:cs typeface="Afacad Flux"/>
              <a:sym typeface="Afacad Flux"/>
            </a:endParaRPr>
          </a:p>
        </p:txBody>
      </p:sp>
      <p:sp>
        <p:nvSpPr>
          <p:cNvPr id="89" name="Google Shape;89;g3ba14ccda94_0_28">
            <a:extLst>
              <a:ext uri="{FF2B5EF4-FFF2-40B4-BE49-F238E27FC236}">
                <a16:creationId xmlns:a16="http://schemas.microsoft.com/office/drawing/2014/main" id="{2F88F4C8-49DA-2E5E-D406-6242B1DBC356}"/>
              </a:ext>
            </a:extLst>
          </p:cNvPr>
          <p:cNvSpPr txBox="1"/>
          <p:nvPr/>
        </p:nvSpPr>
        <p:spPr>
          <a:xfrm>
            <a:off x="583800" y="1637194"/>
            <a:ext cx="8214826" cy="609367"/>
          </a:xfrm>
          <a:prstGeom prst="rect">
            <a:avLst/>
          </a:prstGeom>
          <a:noFill/>
          <a:ln>
            <a:noFill/>
          </a:ln>
        </p:spPr>
        <p:txBody>
          <a:bodyPr spcFirstLastPara="1" wrap="square" lIns="91425" tIns="91425" rIns="91425" bIns="91425" anchor="t" anchorCtr="0">
            <a:spAutoFit/>
          </a:bodyPr>
          <a:lstStyle/>
          <a:p>
            <a:pPr lvl="0">
              <a:lnSpc>
                <a:spcPct val="115000"/>
              </a:lnSpc>
              <a:spcAft>
                <a:spcPts val="200"/>
              </a:spcAft>
              <a:buSzPts val="1200"/>
            </a:pPr>
            <a:r>
              <a:rPr sz="1300" b="1" dirty="0">
                <a:solidFill>
                  <a:srgbClr val="FFFFFF"/>
                </a:solidFill>
              </a:rPr>
              <a:t>Contributions:</a:t>
            </a:r>
          </a:p>
          <a:p>
            <a:pPr>
              <a:spcAft>
                <a:spcPts val="200"/>
              </a:spcAft>
            </a:pPr>
            <a:r>
              <a:rPr sz="1100" dirty="0">
                <a:solidFill>
                  <a:srgbClr val="FFFFFF"/>
                </a:solidFill>
              </a:rPr>
              <a:t>  1. Fingerprint-based verdict memory — novel self-invalidating ack pattern (principal contribution)</a:t>
            </a:r>
          </a:p>
          <a:p>
            <a:pPr>
              <a:spcAft>
                <a:spcPts val="200"/>
              </a:spcAft>
            </a:pPr>
            <a:r>
              <a:rPr sz="1100" dirty="0">
                <a:solidFill>
                  <a:srgbClr val="FFFFFF"/>
                </a:solidFill>
              </a:rPr>
              <a:t>  2. End-to-end reference implementation — self-hosted AIOps + human-in-the-loop threat response</a:t>
            </a:r>
          </a:p>
          <a:p>
            <a:pPr>
              <a:spcAft>
                <a:spcPts val="200"/>
              </a:spcAft>
            </a:pPr>
            <a:r>
              <a:rPr sz="1100" dirty="0">
                <a:solidFill>
                  <a:srgbClr val="FFFFFF"/>
                </a:solidFill>
              </a:rPr>
              <a:t>  3. Bounded-evidence LLM prompting — scope-limited prompts, JSON schema, severity whitelist</a:t>
            </a:r>
          </a:p>
          <a:p>
            <a:pPr>
              <a:spcAft>
                <a:spcPts val="200"/>
              </a:spcAft>
            </a:pPr>
            <a:r>
              <a:rPr sz="1100" dirty="0">
                <a:solidFill>
                  <a:srgbClr val="FFFFFF"/>
                </a:solidFill>
              </a:rPr>
              <a:t>  4. Frozen reproducible benchmark — specification hash, model digest, append-only checkpoints</a:t>
            </a:r>
          </a:p>
          <a:p>
            <a:pPr>
              <a:spcAft>
                <a:spcPts val="200"/>
              </a:spcAft>
            </a:pPr>
            <a:endParaRPr sz="1100" dirty="0">
              <a:solidFill>
                <a:srgbClr val="FFFFFF"/>
              </a:solidFill>
            </a:endParaRPr>
          </a:p>
          <a:p>
            <a:pPr>
              <a:spcAft>
                <a:spcPts val="200"/>
              </a:spcAft>
            </a:pPr>
            <a:r>
              <a:rPr sz="1300" b="1" dirty="0">
                <a:solidFill>
                  <a:srgbClr val="FFFFFF"/>
                </a:solidFill>
              </a:rPr>
              <a:t>Limitations:</a:t>
            </a:r>
          </a:p>
          <a:p>
            <a:pPr>
              <a:spcAft>
                <a:spcPts val="200"/>
              </a:spcAft>
            </a:pPr>
            <a:r>
              <a:rPr sz="1100" dirty="0">
                <a:solidFill>
                  <a:srgbClr val="FFFFFF"/>
                </a:solidFill>
              </a:rPr>
              <a:t>  • 40.3% severity agreement rejects unattended triage for evaluated model</a:t>
            </a:r>
          </a:p>
          <a:p>
            <a:pPr>
              <a:spcAft>
                <a:spcPts val="200"/>
              </a:spcAft>
            </a:pPr>
            <a:r>
              <a:rPr sz="1100" dirty="0">
                <a:solidFill>
                  <a:srgbClr val="FFFFFF"/>
                </a:solidFill>
              </a:rPr>
              <a:t>  • SUS is convenience-sample descriptive evidence only</a:t>
            </a:r>
          </a:p>
          <a:p>
            <a:pPr>
              <a:spcAft>
                <a:spcPts val="200"/>
              </a:spcAft>
            </a:pPr>
            <a:r>
              <a:rPr sz="1100" dirty="0">
                <a:solidFill>
                  <a:srgbClr val="FFFFFF"/>
                </a:solidFill>
              </a:rPr>
              <a:t>  • External dependencies mocked in tests (no live integration tests)</a:t>
            </a:r>
          </a:p>
          <a:p>
            <a:pPr>
              <a:spcAft>
                <a:spcPts val="200"/>
              </a:spcAft>
            </a:pPr>
            <a:endParaRPr sz="1100" dirty="0">
              <a:solidFill>
                <a:srgbClr val="FFFFFF"/>
              </a:solidFill>
            </a:endParaRPr>
          </a:p>
          <a:p>
            <a:pPr>
              <a:spcAft>
                <a:spcPts val="200"/>
              </a:spcAft>
            </a:pPr>
            <a:r>
              <a:rPr sz="1300" b="1" dirty="0">
                <a:solidFill>
                  <a:srgbClr val="FFFFFF"/>
                </a:solidFill>
              </a:rPr>
              <a:t>Future Work:</a:t>
            </a:r>
          </a:p>
          <a:p>
            <a:pPr>
              <a:spcAft>
                <a:spcPts val="200"/>
              </a:spcAft>
            </a:pPr>
            <a:r>
              <a:rPr sz="1100" dirty="0">
                <a:solidFill>
                  <a:srgbClr val="FFFFFF"/>
                </a:solidFill>
              </a:rPr>
              <a:t>  • Independent gold-label adjudication and multi-model evaluation</a:t>
            </a:r>
          </a:p>
          <a:p>
            <a:pPr>
              <a:spcAft>
                <a:spcPts val="200"/>
              </a:spcAft>
            </a:pPr>
            <a:r>
              <a:rPr sz="1100" dirty="0">
                <a:solidFill>
                  <a:srgbClr val="FFFFFF"/>
                </a:solidFill>
              </a:rPr>
              <a:t>  • Live fault-injection and 30-day field pilot</a:t>
            </a:r>
          </a:p>
          <a:p>
            <a:pPr>
              <a:spcAft>
                <a:spcPts val="200"/>
              </a:spcAft>
            </a:pPr>
            <a:r>
              <a:rPr sz="1100" dirty="0">
                <a:solidFill>
                  <a:srgbClr val="FFFFFF"/>
                </a:solidFill>
              </a:rPr>
              <a:t>  • RBAC, OIDC/MFA, multi-site architecture with agent federation</a:t>
            </a:r>
          </a:p>
        </p:txBody>
      </p:sp>
      <p:cxnSp>
        <p:nvCxnSpPr>
          <p:cNvPr id="91" name="Google Shape;91;g3ba14ccda94_0_28">
            <a:extLst>
              <a:ext uri="{FF2B5EF4-FFF2-40B4-BE49-F238E27FC236}">
                <a16:creationId xmlns:a16="http://schemas.microsoft.com/office/drawing/2014/main" id="{3E568B4E-CB55-D102-4DA3-AF9D716D9610}"/>
              </a:ext>
            </a:extLst>
          </p:cNvPr>
          <p:cNvCxnSpPr/>
          <p:nvPr/>
        </p:nvCxnSpPr>
        <p:spPr>
          <a:xfrm>
            <a:off x="583800" y="685500"/>
            <a:ext cx="6114600" cy="0"/>
          </a:xfrm>
          <a:prstGeom prst="straightConnector1">
            <a:avLst/>
          </a:prstGeom>
          <a:noFill/>
          <a:ln w="9525" cap="flat" cmpd="sng">
            <a:solidFill>
              <a:srgbClr val="E83831"/>
            </a:solidFill>
            <a:prstDash val="solid"/>
            <a:round/>
            <a:headEnd type="none" w="med" len="med"/>
            <a:tailEnd type="none" w="med" len="med"/>
          </a:ln>
        </p:spPr>
      </p:cxnSp>
      <p:sp>
        <p:nvSpPr>
          <p:cNvPr id="92" name="Google Shape;92;g3ba14ccda94_0_28">
            <a:extLst>
              <a:ext uri="{FF2B5EF4-FFF2-40B4-BE49-F238E27FC236}">
                <a16:creationId xmlns:a16="http://schemas.microsoft.com/office/drawing/2014/main" id="{269058DF-CFFD-890D-335C-0280F997CC71}"/>
              </a:ext>
            </a:extLst>
          </p:cNvPr>
          <p:cNvSpPr txBox="1"/>
          <p:nvPr/>
        </p:nvSpPr>
        <p:spPr>
          <a:xfrm>
            <a:off x="594524" y="349855"/>
            <a:ext cx="1254373" cy="338524"/>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1000" b="1" dirty="0">
                <a:solidFill>
                  <a:schemeClr val="lt1"/>
                </a:solidFill>
                <a:latin typeface="Afacad Flux"/>
                <a:ea typeface="Afacad Flux"/>
                <a:cs typeface="Afacad Flux"/>
                <a:sym typeface="Afacad Flux"/>
              </a:rPr>
              <a:t>Final Project Defence</a:t>
            </a:r>
            <a:endParaRPr sz="1000" b="1" i="0" u="none" strike="noStrike" cap="none" dirty="0">
              <a:solidFill>
                <a:schemeClr val="lt1"/>
              </a:solidFill>
              <a:latin typeface="Afacad Flux"/>
              <a:ea typeface="Afacad Flux"/>
              <a:cs typeface="Afacad Flux"/>
              <a:sym typeface="Afacad Flux"/>
            </a:endParaRPr>
          </a:p>
        </p:txBody>
      </p:sp>
      <p:pic>
        <p:nvPicPr>
          <p:cNvPr id="2" name="Picture 1" descr="A logo with a letter and a leaf&#10;&#10;AI-generated content may be incorrect.">
            <a:extLst>
              <a:ext uri="{FF2B5EF4-FFF2-40B4-BE49-F238E27FC236}">
                <a16:creationId xmlns:a16="http://schemas.microsoft.com/office/drawing/2014/main" id="{BE76C44E-FDFA-D79A-2492-06CE5F452591}"/>
              </a:ext>
            </a:extLst>
          </p:cNvPr>
          <p:cNvPicPr>
            <a:picLocks noChangeAspect="1"/>
          </p:cNvPicPr>
          <p:nvPr/>
        </p:nvPicPr>
        <p:blipFill>
          <a:blip r:embed="rId3"/>
          <a:stretch>
            <a:fillRect/>
          </a:stretch>
        </p:blipFill>
        <p:spPr>
          <a:xfrm>
            <a:off x="7127814" y="239115"/>
            <a:ext cx="1593400" cy="560179"/>
          </a:xfrm>
          <a:prstGeom prst="rect">
            <a:avLst/>
          </a:prstGeom>
        </p:spPr>
      </p:pic>
    </p:spTree>
    <p:extLst>
      <p:ext uri="{BB962C8B-B14F-4D97-AF65-F5344CB8AC3E}">
        <p14:creationId xmlns:p14="http://schemas.microsoft.com/office/powerpoint/2010/main" val="20613239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g3ba208e1783_0_99"/>
          <p:cNvSpPr/>
          <p:nvPr/>
        </p:nvSpPr>
        <p:spPr>
          <a:xfrm>
            <a:off x="0" y="-20356"/>
            <a:ext cx="9144000" cy="5161200"/>
          </a:xfrm>
          <a:prstGeom prst="rect">
            <a:avLst/>
          </a:prstGeom>
          <a:solidFill>
            <a:srgbClr val="E9E0D7"/>
          </a:solidFill>
          <a:ln>
            <a:noFill/>
          </a:ln>
        </p:spPr>
        <p:txBody>
          <a:bodyPr spcFirstLastPara="1" wrap="square" lIns="22850" tIns="22850" rIns="22850" bIns="22850" anchor="ctr" anchorCtr="0">
            <a:noAutofit/>
          </a:bodyPr>
          <a:lstStyle/>
          <a:p>
            <a:pPr marL="0" lvl="0" indent="0" algn="ctr" rtl="0">
              <a:spcBef>
                <a:spcPts val="0"/>
              </a:spcBef>
              <a:spcAft>
                <a:spcPts val="0"/>
              </a:spcAft>
              <a:buNone/>
            </a:pPr>
            <a:endParaRPr sz="400">
              <a:latin typeface="Afacad Flux" panose="020B0604020202020204" charset="0"/>
              <a:cs typeface="Afacad Flux" panose="020B0604020202020204" charset="0"/>
            </a:endParaRPr>
          </a:p>
        </p:txBody>
      </p:sp>
      <p:sp>
        <p:nvSpPr>
          <p:cNvPr id="226" name="Google Shape;226;g3ba208e1783_0_99"/>
          <p:cNvSpPr txBox="1"/>
          <p:nvPr/>
        </p:nvSpPr>
        <p:spPr>
          <a:xfrm>
            <a:off x="2193352" y="1975394"/>
            <a:ext cx="4757295" cy="2154406"/>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700"/>
              <a:buFont typeface="Arial"/>
              <a:buNone/>
            </a:pPr>
            <a:r>
              <a:rPr lang="en" sz="6400" dirty="0">
                <a:solidFill>
                  <a:srgbClr val="E33830"/>
                </a:solidFill>
                <a:latin typeface="Afacad Flux" panose="020B0604020202020204" charset="0"/>
                <a:ea typeface="Afacad Flux SemiBold"/>
                <a:cs typeface="Afacad Flux" panose="020B0604020202020204" charset="0"/>
                <a:sym typeface="Afacad Flux SemiBold"/>
              </a:rPr>
              <a:t>THANK</a:t>
            </a:r>
          </a:p>
          <a:p>
            <a:pPr marL="0" marR="0" lvl="0" indent="0" algn="ctr" rtl="0">
              <a:lnSpc>
                <a:spcPct val="100000"/>
              </a:lnSpc>
              <a:spcBef>
                <a:spcPts val="0"/>
              </a:spcBef>
              <a:spcAft>
                <a:spcPts val="0"/>
              </a:spcAft>
              <a:buClr>
                <a:srgbClr val="000000"/>
              </a:buClr>
              <a:buSzPts val="1700"/>
              <a:buFont typeface="Arial"/>
              <a:buNone/>
            </a:pPr>
            <a:r>
              <a:rPr lang="en" sz="6400" dirty="0">
                <a:solidFill>
                  <a:srgbClr val="E33830"/>
                </a:solidFill>
                <a:latin typeface="Afacad Flux" panose="020B0604020202020204" charset="0"/>
                <a:ea typeface="Afacad Flux SemiBold"/>
                <a:cs typeface="Afacad Flux" panose="020B0604020202020204" charset="0"/>
                <a:sym typeface="Afacad Flux SemiBold"/>
              </a:rPr>
              <a:t>YOU</a:t>
            </a:r>
            <a:endParaRPr sz="6000" i="0" u="none" strike="noStrike" cap="none" dirty="0">
              <a:solidFill>
                <a:srgbClr val="E33830"/>
              </a:solidFill>
              <a:latin typeface="Afacad Flux" panose="020B0604020202020204" charset="0"/>
              <a:ea typeface="Afacad Flux SemiBold"/>
              <a:cs typeface="Afacad Flux" panose="020B0604020202020204" charset="0"/>
              <a:sym typeface="Afacad Flux SemiBold"/>
            </a:endParaRPr>
          </a:p>
        </p:txBody>
      </p:sp>
      <p:cxnSp>
        <p:nvCxnSpPr>
          <p:cNvPr id="227" name="Google Shape;227;g3ba208e1783_0_99"/>
          <p:cNvCxnSpPr/>
          <p:nvPr/>
        </p:nvCxnSpPr>
        <p:spPr>
          <a:xfrm>
            <a:off x="583800" y="685500"/>
            <a:ext cx="6114600" cy="0"/>
          </a:xfrm>
          <a:prstGeom prst="straightConnector1">
            <a:avLst/>
          </a:prstGeom>
          <a:noFill/>
          <a:ln w="9525" cap="flat" cmpd="sng">
            <a:solidFill>
              <a:srgbClr val="B6997F"/>
            </a:solidFill>
            <a:prstDash val="solid"/>
            <a:round/>
            <a:headEnd type="none" w="med" len="med"/>
            <a:tailEnd type="none" w="med" len="med"/>
          </a:ln>
        </p:spPr>
      </p:cxnSp>
      <p:sp>
        <p:nvSpPr>
          <p:cNvPr id="228" name="Google Shape;228;g3ba208e1783_0_99"/>
          <p:cNvSpPr txBox="1"/>
          <p:nvPr/>
        </p:nvSpPr>
        <p:spPr>
          <a:xfrm>
            <a:off x="594524" y="349855"/>
            <a:ext cx="1329525" cy="338524"/>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1000" b="1" i="0" u="none" strike="noStrike" cap="none" dirty="0">
                <a:solidFill>
                  <a:srgbClr val="0B314F"/>
                </a:solidFill>
                <a:latin typeface="Afacad Flux" panose="020B0604020202020204" charset="0"/>
                <a:ea typeface="Afacad Flux"/>
                <a:cs typeface="Afacad Flux" panose="020B0604020202020204" charset="0"/>
                <a:sym typeface="Afacad Flux"/>
              </a:rPr>
              <a:t>Final Project Defence</a:t>
            </a:r>
            <a:endParaRPr sz="1000" b="1" i="0" u="none" strike="noStrike" cap="none" dirty="0">
              <a:solidFill>
                <a:srgbClr val="0B314F"/>
              </a:solidFill>
              <a:latin typeface="Afacad Flux" panose="020B0604020202020204" charset="0"/>
              <a:ea typeface="Afacad Flux"/>
              <a:cs typeface="Afacad Flux" panose="020B0604020202020204" charset="0"/>
              <a:sym typeface="Afacad Flux"/>
            </a:endParaRPr>
          </a:p>
        </p:txBody>
      </p:sp>
      <p:pic>
        <p:nvPicPr>
          <p:cNvPr id="3" name="Picture 2" descr="A logo with a letter m and a laurel wreath&#10;&#10;AI-generated content may be incorrect.">
            <a:extLst>
              <a:ext uri="{FF2B5EF4-FFF2-40B4-BE49-F238E27FC236}">
                <a16:creationId xmlns:a16="http://schemas.microsoft.com/office/drawing/2014/main" id="{09868C6E-8501-8CC8-7AA1-FC359E0B8168}"/>
              </a:ext>
            </a:extLst>
          </p:cNvPr>
          <p:cNvPicPr>
            <a:picLocks noChangeAspect="1"/>
          </p:cNvPicPr>
          <p:nvPr/>
        </p:nvPicPr>
        <p:blipFill>
          <a:blip r:embed="rId3"/>
          <a:stretch>
            <a:fillRect/>
          </a:stretch>
        </p:blipFill>
        <p:spPr>
          <a:xfrm>
            <a:off x="7125672" y="239527"/>
            <a:ext cx="1591055" cy="559355"/>
          </a:xfrm>
          <a:prstGeom prst="rect">
            <a:avLst/>
          </a:prstGeom>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489</TotalTime>
  <Words>1833</Words>
  <Application>Microsoft Office PowerPoint</Application>
  <PresentationFormat>On-screen Show (16:9)</PresentationFormat>
  <Paragraphs>119</Paragraphs>
  <Slides>13</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Afacad Flux</vt:lpstr>
      <vt:lpstr>Simple Light</vt:lpstr>
      <vt:lpstr>PowerPoint Presentation</vt:lpstr>
      <vt:lpstr> DESIGN AND EVALUATION OF INFRAGUARD AI: A  GOVERNANCE-BY-DESIGN REFERENCE FRAMEWORK FOR  BOUNDED LLM-ASSISTED INCIDENT TRIAGE        PROJECT DEFENCE Adebodun Samuel Tomola  |  2025/A/MIT/0616 Supervisor: Dr. Emmanuel Mkpojiogu Miva Open University  |  September 2026</vt:lpstr>
      <vt:lpstr>Introduction &amp; Motivation</vt:lpstr>
      <vt:lpstr>PowerPoint Presentation</vt:lpstr>
      <vt:lpstr>Literature Review &amp; Gap Analysis</vt:lpstr>
      <vt:lpstr>PowerPoint Presentation</vt:lpstr>
      <vt:lpstr>PowerPoint Presentation</vt:lpstr>
      <vt:lpstr>PowerPoint Presentation</vt:lpstr>
      <vt:lpstr>Runbook Grounding &amp; Safety Controls</vt:lpstr>
      <vt:lpstr>PowerPoint Presentation</vt:lpstr>
      <vt:lpstr>Controlled Benchmark &amp; Evaluation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samuel adebodun</cp:lastModifiedBy>
  <cp:revision>22</cp:revision>
  <dcterms:modified xsi:type="dcterms:W3CDTF">2026-09-11T16:08:05Z</dcterms:modified>
</cp:coreProperties>
</file>