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13d4952104817" /><Relationship Type="http://schemas.openxmlformats.org/officeDocument/2006/relationships/extended-properties" Target="/docProps/app.xml" Id="R202d31c5c0474d23" /><Relationship Type="http://schemas.openxmlformats.org/officeDocument/2006/relationships/officeDocument" Target="/ppt/presentation.xml" Id="R97f62b73c21d474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0c139f6a1a14f90"/>
  </p:sldMasterIdLst>
  <p:notesMasterIdLst>
    <p:notesMasterId xmlns:r="http://schemas.openxmlformats.org/officeDocument/2006/relationships" r:id="R556f59cec37a46c6"/>
  </p:notesMasterIdLst>
  <p:sldIdLst>
    <p:sldId xmlns:r="http://schemas.openxmlformats.org/officeDocument/2006/relationships" id="256" r:id="R1f521913a78d408a"/>
    <p:sldId xmlns:r="http://schemas.openxmlformats.org/officeDocument/2006/relationships" id="257" r:id="R99352e72fb3f4dfa"/>
    <p:sldId xmlns:r="http://schemas.openxmlformats.org/officeDocument/2006/relationships" id="258" r:id="Rf66deda65db2418f"/>
    <p:sldId xmlns:r="http://schemas.openxmlformats.org/officeDocument/2006/relationships" id="259" r:id="R948b08fbb94e406c"/>
    <p:sldId xmlns:r="http://schemas.openxmlformats.org/officeDocument/2006/relationships" id="260" r:id="Rbba59b32a91f4032"/>
    <p:sldId xmlns:r="http://schemas.openxmlformats.org/officeDocument/2006/relationships" id="261" r:id="R6d14655b6f1144ed"/>
    <p:sldId xmlns:r="http://schemas.openxmlformats.org/officeDocument/2006/relationships" id="262" r:id="Rb17dc9d4170d46fa"/>
    <p:sldId xmlns:r="http://schemas.openxmlformats.org/officeDocument/2006/relationships" id="263" r:id="R81bb6d5425f14ded"/>
    <p:sldId xmlns:r="http://schemas.openxmlformats.org/officeDocument/2006/relationships" id="264" r:id="R3f8c40ea8b724d53"/>
    <p:sldId xmlns:r="http://schemas.openxmlformats.org/officeDocument/2006/relationships" id="265" r:id="Rd2aae88841a74905"/>
    <p:sldId xmlns:r="http://schemas.openxmlformats.org/officeDocument/2006/relationships" id="266" r:id="R6cd07e1ea22d4d74"/>
    <p:sldId xmlns:r="http://schemas.openxmlformats.org/officeDocument/2006/relationships" id="267" r:id="Rc6777dc7705d4e96"/>
    <p:sldId xmlns:r="http://schemas.openxmlformats.org/officeDocument/2006/relationships" id="268" r:id="Rf887c5795be64954"/>
    <p:sldId xmlns:r="http://schemas.openxmlformats.org/officeDocument/2006/relationships" id="269" r:id="R0f955dd024e24f31"/>
    <p:sldId xmlns:r="http://schemas.openxmlformats.org/officeDocument/2006/relationships" id="270" r:id="Rf2be6a2be9064eb2"/>
  </p:sldIdLst>
  <p:sldSz cx="9144000" cy="5143500"/>
  <p:notesSz cx="6858000" cy="9144000"/>
  <p:embeddedFontLst>
    <p:embeddedFont>
      <p:font typeface="Afacad Flux"/>
      <p:regular xmlns:r="http://schemas.openxmlformats.org/officeDocument/2006/relationships" r:id="R02aebc9e949e4cc8"/>
      <p:bold xmlns:r="http://schemas.openxmlformats.org/officeDocument/2006/relationships" r:id="R4ee7d6dace2a4985"/>
    </p:embeddedFont>
    <p:embeddedFont>
      <p:font typeface="Afacad Flux SemiBold"/>
      <p:regular xmlns:r="http://schemas.openxmlformats.org/officeDocument/2006/relationships" r:id="R2d9e72bca20a4c97"/>
      <p:bold xmlns:r="http://schemas.openxmlformats.org/officeDocument/2006/relationships" r:id="Rb3b3180e17be4d9a"/>
    </p:embeddedFont>
    <p:embeddedFont>
      <p:font typeface="Manrope"/>
      <p:regular xmlns:r="http://schemas.openxmlformats.org/officeDocument/2006/relationships" r:id="R8a34c741632f48db"/>
      <p:bold xmlns:r="http://schemas.openxmlformats.org/officeDocument/2006/relationships" r:id="R35083609c7b048a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01d15e46a842d2" /><Relationship Type="http://schemas.openxmlformats.org/officeDocument/2006/relationships/slideMaster" Target="/ppt/slideMasters/slideMaster1.xml" Id="Rf0c139f6a1a14f90" /><Relationship Type="http://schemas.openxmlformats.org/officeDocument/2006/relationships/notesMaster" Target="/ppt/notesMasters/notesMaster1.xml" Id="R556f59cec37a46c6" /><Relationship Type="http://schemas.openxmlformats.org/officeDocument/2006/relationships/presProps" Target="/ppt/presProps.xml" Id="R3dbb6c73dd6448c1" /><Relationship Type="http://schemas.openxmlformats.org/officeDocument/2006/relationships/viewProps" Target="/ppt/viewProps.xml" Id="Rf4d36af074af4cb3" /><Relationship Type="http://schemas.openxmlformats.org/officeDocument/2006/relationships/tableStyles" Target="/ppt/tableStyles.xml" Id="R00bf974009cb448f" /><Relationship Type="http://schemas.openxmlformats.org/officeDocument/2006/relationships/font" Target="/ppt/fonts/font.dat" Id="R02aebc9e949e4cc8" /><Relationship Type="http://schemas.openxmlformats.org/officeDocument/2006/relationships/font" Target="/ppt/fonts/font2.dat" Id="R4ee7d6dace2a4985" /><Relationship Type="http://schemas.openxmlformats.org/officeDocument/2006/relationships/font" Target="/ppt/fonts/font3.dat" Id="R2d9e72bca20a4c97" /><Relationship Type="http://schemas.openxmlformats.org/officeDocument/2006/relationships/font" Target="/ppt/fonts/font4.dat" Id="Rb3b3180e17be4d9a" /><Relationship Type="http://schemas.openxmlformats.org/officeDocument/2006/relationships/font" Target="/ppt/fonts/font5.dat" Id="R8a34c741632f48db" /><Relationship Type="http://schemas.openxmlformats.org/officeDocument/2006/relationships/font" Target="/ppt/fonts/font6.dat" Id="R35083609c7b048a8" /><Relationship Type="http://schemas.openxmlformats.org/officeDocument/2006/relationships/slide" Target="/ppt/slides/slide1.xml" Id="R1f521913a78d408a" /><Relationship Type="http://schemas.openxmlformats.org/officeDocument/2006/relationships/slide" Target="/ppt/slides/slide2.xml" Id="R99352e72fb3f4dfa" /><Relationship Type="http://schemas.openxmlformats.org/officeDocument/2006/relationships/slide" Target="/ppt/slides/slide3.xml" Id="Rf66deda65db2418f" /><Relationship Type="http://schemas.openxmlformats.org/officeDocument/2006/relationships/slide" Target="/ppt/slides/slide4.xml" Id="R948b08fbb94e406c" /><Relationship Type="http://schemas.openxmlformats.org/officeDocument/2006/relationships/slide" Target="/ppt/slides/slide5.xml" Id="Rbba59b32a91f4032" /><Relationship Type="http://schemas.openxmlformats.org/officeDocument/2006/relationships/slide" Target="/ppt/slides/slide6.xml" Id="R6d14655b6f1144ed" /><Relationship Type="http://schemas.openxmlformats.org/officeDocument/2006/relationships/slide" Target="/ppt/slides/slide7.xml" Id="Rb17dc9d4170d46fa" /><Relationship Type="http://schemas.openxmlformats.org/officeDocument/2006/relationships/slide" Target="/ppt/slides/slide8.xml" Id="R81bb6d5425f14ded" /><Relationship Type="http://schemas.openxmlformats.org/officeDocument/2006/relationships/slide" Target="/ppt/slides/slide9.xml" Id="R3f8c40ea8b724d53" /><Relationship Type="http://schemas.openxmlformats.org/officeDocument/2006/relationships/slide" Target="/ppt/slides/slide10.xml" Id="Rd2aae88841a74905" /><Relationship Type="http://schemas.openxmlformats.org/officeDocument/2006/relationships/slide" Target="/ppt/slides/slide11.xml" Id="R6cd07e1ea22d4d74" /><Relationship Type="http://schemas.openxmlformats.org/officeDocument/2006/relationships/slide" Target="/ppt/slides/slide12.xml" Id="Rc6777dc7705d4e96" /><Relationship Type="http://schemas.openxmlformats.org/officeDocument/2006/relationships/slide" Target="/ppt/slides/slide13.xml" Id="Rf887c5795be64954" /><Relationship Type="http://schemas.openxmlformats.org/officeDocument/2006/relationships/slide" Target="/ppt/slides/slide14.xml" Id="R0f955dd024e24f31" /><Relationship Type="http://schemas.openxmlformats.org/officeDocument/2006/relationships/slide" Target="/ppt/slides/slide15.xml" Id="Rf2be6a2be906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14b6640a4246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b2d9895d254ccd" /><Relationship Type="http://schemas.openxmlformats.org/officeDocument/2006/relationships/notesMaster" Target="/ppt/notesMasters/notesMaster1.xml" Id="R6a9fe07c7c15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396ce1867f4f25" /><Relationship Type="http://schemas.openxmlformats.org/officeDocument/2006/relationships/notesMaster" Target="/ppt/notesMasters/notesMaster1.xml" Id="R46e14324e0c543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c563e4dd00469e" /><Relationship Type="http://schemas.openxmlformats.org/officeDocument/2006/relationships/notesMaster" Target="/ppt/notesMasters/notesMaster1.xml" Id="R3b669a2c01e248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5e0e7dea2e4ec1" /><Relationship Type="http://schemas.openxmlformats.org/officeDocument/2006/relationships/notesMaster" Target="/ppt/notesMasters/notesMaster1.xml" Id="R3f0216d9435947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6367f16c3a4fc2" /><Relationship Type="http://schemas.openxmlformats.org/officeDocument/2006/relationships/notesMaster" Target="/ppt/notesMasters/notesMaster1.xml" Id="Rb0730e155e1641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0901fead294e3a" /><Relationship Type="http://schemas.openxmlformats.org/officeDocument/2006/relationships/notesMaster" Target="/ppt/notesMasters/notesMaster1.xml" Id="R108c530daddb4a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dd8c63e65140d5" /><Relationship Type="http://schemas.openxmlformats.org/officeDocument/2006/relationships/notesMaster" Target="/ppt/notesMasters/notesMaster1.xml" Id="Rfe7e6e628023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7c57e922a741fc" /><Relationship Type="http://schemas.openxmlformats.org/officeDocument/2006/relationships/notesMaster" Target="/ppt/notesMasters/notesMaster1.xml" Id="R68e893b3649f4b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0a3e23d474a5c" /><Relationship Type="http://schemas.openxmlformats.org/officeDocument/2006/relationships/notesMaster" Target="/ppt/notesMasters/notesMaster1.xml" Id="Rcfcadc24d6724f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da0e75e4c44912" /><Relationship Type="http://schemas.openxmlformats.org/officeDocument/2006/relationships/notesMaster" Target="/ppt/notesMasters/notesMaster1.xml" Id="R114f6cd1e2ad4c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a58fa8c6c4298" /><Relationship Type="http://schemas.openxmlformats.org/officeDocument/2006/relationships/notesMaster" Target="/ppt/notesMasters/notesMaster1.xml" Id="R7a840fd019eb40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797248989b48df" /><Relationship Type="http://schemas.openxmlformats.org/officeDocument/2006/relationships/notesMaster" Target="/ppt/notesMasters/notesMaster1.xml" Id="Ree1b5ec0937d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816b563a5843ee" /><Relationship Type="http://schemas.openxmlformats.org/officeDocument/2006/relationships/notesMaster" Target="/ppt/notesMasters/notesMaster1.xml" Id="Rdc04af829feb41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bcaa3962e94448" /><Relationship Type="http://schemas.openxmlformats.org/officeDocument/2006/relationships/notesMaster" Target="/ppt/notesMasters/notesMaster1.xml" Id="R5f92322a525745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bbfdce727f4bda" /><Relationship Type="http://schemas.openxmlformats.org/officeDocument/2006/relationships/notesMaster" Target="/ppt/notesMasters/notesMaster1.xml" Id="R5245468db387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Open with the bounded thesis: InfraGuard AI proposes and instantiates a governance-by-design reference framework for bounded LLM-assisted incident triage.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condition-and-ruleset fingerprint is the distinctive implemented construct. The artefact is not evidence of autonomous or production-ready incident response.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title page, Abstract and Sections 6.2 to 6.4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Separate the four gaps before describing novelty. The project does not claim a new foundation model.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scoped originality is the combined governance-by-design framework, not invention of AI governance or alert acknowledgement in general.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fingerprint is the framework's distinctive implemented construct; the feature comparison does not establish universal novelty or superiority.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1.2.1, 2.1.8, 2.4.5 and 6.3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Theoretical foundations are Design Science, organisational AI governance, trustworthy AI and appropriate reliance. Observability, SRE, AIOps and RAG are domain concepts; bounded context, provenance, validation, acknowledgement and approval are design constructs.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Alert fatigue is a motivation, not a measured outcome in this study.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2.1.6 to 2.1.8 and 2.4.5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Mäntymäki et al. (2022); Morley et al. (2020); NIST (2023, 2024); Raji et al. (2020); Lee and See (2004)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Use the questions as traceability controls, not as an inventory to read verbatim.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RQ4 is split so software/model evidence, descriptive usability and unresolved effectiveness claims are not collapsed into one answer.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1.3.1 to 1.3.3, Table 3.1 and Section 6.2.1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Design Science fits because the study must produce an artefact and evidence about its behaviour.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Keep software verification, model behaviour, two-assessor role-lens interpretation, perceived usability and governance/security evidence separate.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3.1 to 3.1.7, 5.1 and Table 3.2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Gregor and Hevner (2013); Hevner et al. (2004); Peffers et al. (2007)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16 August values are the historical baseline; the 18 August event includes the retained 81-test regression and frozen benchmark; the 28 August rerun supersedes the supervisor's earlier 27 August software snapshot.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Model roles differ: gemini-3.6-flash is the source-code default, DeepSeek V4 Flash was used in the observed pilot, and qwen2.5:3b was used in the controlled benchmark. Interface portability is not cross-provider equivalence.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4.1.1, 5.2.1, 5.4.2.1, 5.4.3, Table 5.1 and Appendix 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firewall and loopback changes remove the earlier development exposure, but they do not create an independently assessed production security posture.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Cloud-provider prompt content can still leave the host; the operator must document that data boundary.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3.3, 3.5, 4.3.2, 4.3.6 and Table 4.3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Repository: terraform/main.tf, terraform/variables.tf, terraform/terraform.tfvars.example, docker-compose.yml and README.md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overarching design contribution is the governance-by-design framework; this fingerprint is its distinctive implemented construct and its main identity limitation.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30-cycle figure is deterministic: later warning rows are masked from the default view, while all 30 model calls and records remain.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same model can supply the signature used for acknowledgement, creating circularity. Deterministic telemetry-derived identity is the recommended next design.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2.1.8, 2.2.4, 3.4.5, 4.2.5, 5.3 and 5.6.2.2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two role reports and the ten-response SUS assessment involve different participants, instruments and claims. Public item-level assessor score cells were unavailable, so the role-report aggregates are exploratory and not independently recomputable from the public package.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benchmark is a reproducible single-model baseline, not a cross-model comparison.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3.1.6, 3.1.7, 5.4.2, 5.4.3 and Appendices D–E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final 28 August run reported 148 passed, zero failed, 1,516 statements, 201 missed and 23 dependency warnings.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Coverage closes the supervisor-identified line-coverage gap; it does not prove assertion adequacy or live integration behaviour.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5.2 and 5.2.1, Table 5.1 and Figure 5.1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Final remediation test and coverage reports retained in the project evidence package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is exact agreement with the frozen four-class labels for qwen2.5:3b, not a universal score or chance comparison.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C20 sensitivity does not rescue the result: an acceptable {ok, warning} set remains 29/72 because all three predictions were critical; excluding C20 gives 29/69 only as a post-hoc sensitivity result.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Under-calls may delay response; repeated over-calls may increase review burden and erode calibrated trust.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5.4.2.2 and 5.6.1; Tables 5.5–5.6 and Appendix 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Keep retrieval reachability separate from generated-answer quality.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no-RAG zero grounding score reflects absent source-document traceability under the rubric, not automatic factual incorrectness or causal proof that RAG improved diagnosis.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5.4.2.4 to 5.4.2.6 and Tables 5.7–5.9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SUS was chosen as a brief, technology-agnostic global perceived-usability measure.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study retained no task timing, error, assistance or free-text records, so it cannot support task-performance claims.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3.1.7, 5.4.3 and 5.6.1; Table 5.11; Appendix 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Brooke (1996); Bangor et al. (2008)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Close on the bounded hierarchy: governance-by-design framework, fingerprint construct, reference implementation and configuration-specific empirical findings.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Do not claim workload reduction, production certification, commercial superiority or autonomous remediation.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Sections 6.2 to 6.4 and Table 5.12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These selected recent references support the governance and evaluation framing. The full alphabetised 51-entry bibliography, including foundational Design Science and human-factors sources, appears in the manuscript.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InfraGuard_AI_Masters_Project_REVISED_AFTER_28_AUGUST_REVIEW.docx, References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74641654541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0a8d0514442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e135dc6954b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f2afc4ccc41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ac044eb6741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9e5024b6b48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2ad62239a42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ae725d4324b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4fd2697b54ec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88f1c3b2545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a0fb7693347e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2">
            <a:extLst xmlns:a="http://schemas.openxmlformats.org/drawingml/2006/main">
              <a:ext uri="{FF2B5EF4-FFF2-40B4-BE49-F238E27FC236}">
                <a16:creationId xmlns:a16="http://schemas.microsoft.com/office/drawing/2014/main" id="{2AEB7C89-C8E0-4622-9430-6A9EA6D822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2">
            <a:extLst xmlns:a="http://schemas.openxmlformats.org/drawingml/2006/main">
              <a:ext uri="{FF2B5EF4-FFF2-40B4-BE49-F238E27FC236}">
                <a16:creationId xmlns:a16="http://schemas.microsoft.com/office/drawing/2014/main" id="{69ABCC32-9FA5-4F61-8EB1-48A407B987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2">
            <a:extLst xmlns:a="http://schemas.openxmlformats.org/drawingml/2006/main">
              <a:ext uri="{FF2B5EF4-FFF2-40B4-BE49-F238E27FC236}">
                <a16:creationId xmlns:a16="http://schemas.microsoft.com/office/drawing/2014/main" id="{6D291505-2D88-4CC8-8C2D-905644CEB4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3">
            <a:extLst xmlns:a="http://schemas.openxmlformats.org/drawingml/2006/main">
              <a:ext uri="{FF2B5EF4-FFF2-40B4-BE49-F238E27FC236}">
                <a16:creationId xmlns:a16="http://schemas.microsoft.com/office/drawing/2014/main" id="{121E9B3F-CA35-4E56-98B7-536E10780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23">
            <a:extLst xmlns:a="http://schemas.openxmlformats.org/drawingml/2006/main">
              <a:ext uri="{FF2B5EF4-FFF2-40B4-BE49-F238E27FC236}">
                <a16:creationId xmlns:a16="http://schemas.microsoft.com/office/drawing/2014/main" id="{E82CE9B8-87FD-4D48-B1C4-33410D66B4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Google Shape;16;p23">
            <a:extLst xmlns:a="http://schemas.openxmlformats.org/drawingml/2006/main">
              <a:ext uri="{FF2B5EF4-FFF2-40B4-BE49-F238E27FC236}">
                <a16:creationId xmlns:a16="http://schemas.microsoft.com/office/drawing/2014/main" id="{FBB0792B-D125-4250-A02E-A1EC57D1C1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24">
            <a:extLst xmlns:a="http://schemas.openxmlformats.org/drawingml/2006/main">
              <a:ext uri="{FF2B5EF4-FFF2-40B4-BE49-F238E27FC236}">
                <a16:creationId xmlns:a16="http://schemas.microsoft.com/office/drawing/2014/main" id="{A2EC30C7-62A3-4A85-89AC-8BB1165D4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4">
            <a:extLst xmlns:a="http://schemas.openxmlformats.org/drawingml/2006/main">
              <a:ext uri="{FF2B5EF4-FFF2-40B4-BE49-F238E27FC236}">
                <a16:creationId xmlns:a16="http://schemas.microsoft.com/office/drawing/2014/main" id="{70987D93-6C55-4937-B29E-3C8C274CE5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25">
            <a:extLst xmlns:a="http://schemas.openxmlformats.org/drawingml/2006/main">
              <a:ext uri="{FF2B5EF4-FFF2-40B4-BE49-F238E27FC236}">
                <a16:creationId xmlns:a16="http://schemas.microsoft.com/office/drawing/2014/main" id="{0BB4B537-04F6-4A86-B674-8A6462091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25">
            <a:extLst xmlns:a="http://schemas.openxmlformats.org/drawingml/2006/main">
              <a:ext uri="{FF2B5EF4-FFF2-40B4-BE49-F238E27FC236}">
                <a16:creationId xmlns:a16="http://schemas.microsoft.com/office/drawing/2014/main" id="{CBFC46D2-8591-4926-ADF3-817D5B302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25">
            <a:extLst xmlns:a="http://schemas.openxmlformats.org/drawingml/2006/main">
              <a:ext uri="{FF2B5EF4-FFF2-40B4-BE49-F238E27FC236}">
                <a16:creationId xmlns:a16="http://schemas.microsoft.com/office/drawing/2014/main" id="{57BE952D-56E6-44F7-904F-CA1E9B0057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25">
            <a:extLst xmlns:a="http://schemas.openxmlformats.org/drawingml/2006/main">
              <a:ext uri="{FF2B5EF4-FFF2-40B4-BE49-F238E27FC236}">
                <a16:creationId xmlns:a16="http://schemas.microsoft.com/office/drawing/2014/main" id="{0AAC1DB6-23C8-4A86-BF2B-73D887BC3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26">
            <a:extLst xmlns:a="http://schemas.openxmlformats.org/drawingml/2006/main">
              <a:ext uri="{FF2B5EF4-FFF2-40B4-BE49-F238E27FC236}">
                <a16:creationId xmlns:a16="http://schemas.microsoft.com/office/drawing/2014/main" id="{BB433B75-7181-4D9E-9B94-831130D24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26">
            <a:extLst xmlns:a="http://schemas.openxmlformats.org/drawingml/2006/main">
              <a:ext uri="{FF2B5EF4-FFF2-40B4-BE49-F238E27FC236}">
                <a16:creationId xmlns:a16="http://schemas.microsoft.com/office/drawing/2014/main" id="{EAE46275-300F-4153-B3AC-86F09351E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7">
            <a:extLst xmlns:a="http://schemas.openxmlformats.org/drawingml/2006/main">
              <a:ext uri="{FF2B5EF4-FFF2-40B4-BE49-F238E27FC236}">
                <a16:creationId xmlns:a16="http://schemas.microsoft.com/office/drawing/2014/main" id="{C4F79727-778C-497C-AE1A-CDB2489D2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27">
            <a:extLst xmlns:a="http://schemas.openxmlformats.org/drawingml/2006/main">
              <a:ext uri="{FF2B5EF4-FFF2-40B4-BE49-F238E27FC236}">
                <a16:creationId xmlns:a16="http://schemas.microsoft.com/office/drawing/2014/main" id="{E8BBB23D-D730-4580-8988-28D4D1F4F6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27">
            <a:extLst xmlns:a="http://schemas.openxmlformats.org/drawingml/2006/main">
              <a:ext uri="{FF2B5EF4-FFF2-40B4-BE49-F238E27FC236}">
                <a16:creationId xmlns:a16="http://schemas.microsoft.com/office/drawing/2014/main" id="{0720EB0A-D853-4E63-B8CD-BCC6605673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8">
            <a:extLst xmlns:a="http://schemas.openxmlformats.org/drawingml/2006/main">
              <a:ext uri="{FF2B5EF4-FFF2-40B4-BE49-F238E27FC236}">
                <a16:creationId xmlns:a16="http://schemas.microsoft.com/office/drawing/2014/main" id="{E0153E35-488E-410A-AB00-F2F84E968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28">
            <a:extLst xmlns:a="http://schemas.openxmlformats.org/drawingml/2006/main">
              <a:ext uri="{FF2B5EF4-FFF2-40B4-BE49-F238E27FC236}">
                <a16:creationId xmlns:a16="http://schemas.microsoft.com/office/drawing/2014/main" id="{68831EEE-7887-4437-9631-AD12E6725F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29">
            <a:extLst xmlns:a="http://schemas.openxmlformats.org/drawingml/2006/main">
              <a:ext uri="{FF2B5EF4-FFF2-40B4-BE49-F238E27FC236}">
                <a16:creationId xmlns:a16="http://schemas.microsoft.com/office/drawing/2014/main" id="{3FE0ECEC-51E4-4476-B3DA-6224A9B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29">
            <a:extLst xmlns:a="http://schemas.openxmlformats.org/drawingml/2006/main">
              <a:ext uri="{FF2B5EF4-FFF2-40B4-BE49-F238E27FC236}">
                <a16:creationId xmlns:a16="http://schemas.microsoft.com/office/drawing/2014/main" id="{57906E32-71D9-4460-A9E5-47AEA4132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29">
            <a:extLst xmlns:a="http://schemas.openxmlformats.org/drawingml/2006/main">
              <a:ext uri="{FF2B5EF4-FFF2-40B4-BE49-F238E27FC236}">
                <a16:creationId xmlns:a16="http://schemas.microsoft.com/office/drawing/2014/main" id="{520D5C1F-98AF-4B45-8E61-854D010926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29">
            <a:extLst xmlns:a="http://schemas.openxmlformats.org/drawingml/2006/main">
              <a:ext uri="{FF2B5EF4-FFF2-40B4-BE49-F238E27FC236}">
                <a16:creationId xmlns:a16="http://schemas.microsoft.com/office/drawing/2014/main" id="{A75F84D2-3781-4C55-A8D3-8BAC58DF49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29">
            <a:extLst xmlns:a="http://schemas.openxmlformats.org/drawingml/2006/main">
              <a:ext uri="{FF2B5EF4-FFF2-40B4-BE49-F238E27FC236}">
                <a16:creationId xmlns:a16="http://schemas.microsoft.com/office/drawing/2014/main" id="{E6F03898-AA2F-4D74-9E80-13C60C6BDE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30">
            <a:extLst xmlns:a="http://schemas.openxmlformats.org/drawingml/2006/main">
              <a:ext uri="{FF2B5EF4-FFF2-40B4-BE49-F238E27FC236}">
                <a16:creationId xmlns:a16="http://schemas.microsoft.com/office/drawing/2014/main" id="{901FDE27-8C32-4A0B-81EF-893B9D9541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30">
            <a:extLst xmlns:a="http://schemas.openxmlformats.org/drawingml/2006/main">
              <a:ext uri="{FF2B5EF4-FFF2-40B4-BE49-F238E27FC236}">
                <a16:creationId xmlns:a16="http://schemas.microsoft.com/office/drawing/2014/main" id="{F921355E-7AD6-4DAE-9AA0-911AA1ECB8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31">
            <a:extLst xmlns:a="http://schemas.openxmlformats.org/drawingml/2006/main">
              <a:ext uri="{FF2B5EF4-FFF2-40B4-BE49-F238E27FC236}">
                <a16:creationId xmlns:a16="http://schemas.microsoft.com/office/drawing/2014/main" id="{2271FA6F-FF45-4CAB-9367-843E41293A2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31">
            <a:extLst xmlns:a="http://schemas.openxmlformats.org/drawingml/2006/main">
              <a:ext uri="{FF2B5EF4-FFF2-40B4-BE49-F238E27FC236}">
                <a16:creationId xmlns:a16="http://schemas.microsoft.com/office/drawing/2014/main" id="{7066A19C-720C-4F49-B349-F671D3E21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31">
            <a:extLst xmlns:a="http://schemas.openxmlformats.org/drawingml/2006/main">
              <a:ext uri="{FF2B5EF4-FFF2-40B4-BE49-F238E27FC236}">
                <a16:creationId xmlns:a16="http://schemas.microsoft.com/office/drawing/2014/main" id="{DF5CDBCB-05DC-4ACC-8719-02D683832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32">
            <a:extLst xmlns:a="http://schemas.openxmlformats.org/drawingml/2006/main">
              <a:ext uri="{FF2B5EF4-FFF2-40B4-BE49-F238E27FC236}">
                <a16:creationId xmlns:a16="http://schemas.microsoft.com/office/drawing/2014/main" id="{16560358-EB1B-44A2-9CB6-303CC7ECCA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ecf181ae08496e" /><Relationship Type="http://schemas.openxmlformats.org/officeDocument/2006/relationships/slideLayout" Target="/ppt/slideLayouts/slideLayout1.xml" Id="R3b674e7e131b45f9" /><Relationship Type="http://schemas.openxmlformats.org/officeDocument/2006/relationships/slideLayout" Target="/ppt/slideLayouts/slideLayout2.xml" Id="R7049dfe717cf4dac" /><Relationship Type="http://schemas.openxmlformats.org/officeDocument/2006/relationships/slideLayout" Target="/ppt/slideLayouts/slideLayout3.xml" Id="Rbf11c96ba4034e33" /><Relationship Type="http://schemas.openxmlformats.org/officeDocument/2006/relationships/slideLayout" Target="/ppt/slideLayouts/slideLayout4.xml" Id="Ref89c65947164cd2" /><Relationship Type="http://schemas.openxmlformats.org/officeDocument/2006/relationships/slideLayout" Target="/ppt/slideLayouts/slideLayout5.xml" Id="Rcfbdc6dcf9314b11" /><Relationship Type="http://schemas.openxmlformats.org/officeDocument/2006/relationships/slideLayout" Target="/ppt/slideLayouts/slideLayout6.xml" Id="Rf092bad051e941f0" /><Relationship Type="http://schemas.openxmlformats.org/officeDocument/2006/relationships/slideLayout" Target="/ppt/slideLayouts/slideLayout7.xml" Id="R4c341881b16d4f3b" /><Relationship Type="http://schemas.openxmlformats.org/officeDocument/2006/relationships/slideLayout" Target="/ppt/slideLayouts/slideLayout8.xml" Id="Rfa899b841e4541e4" /><Relationship Type="http://schemas.openxmlformats.org/officeDocument/2006/relationships/slideLayout" Target="/ppt/slideLayouts/slideLayout9.xml" Id="Rc3ecae6aca394e8c" /><Relationship Type="http://schemas.openxmlformats.org/officeDocument/2006/relationships/slideLayout" Target="/ppt/slideLayouts/slideLayout10.xml" Id="R94569346329d406a" /><Relationship Type="http://schemas.openxmlformats.org/officeDocument/2006/relationships/slideLayout" Target="/ppt/slideLayouts/slideLayout11.xml" Id="R39d240e9aa3241a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21">
            <a:extLst xmlns:a="http://schemas.openxmlformats.org/drawingml/2006/main">
              <a:ext uri="{FF2B5EF4-FFF2-40B4-BE49-F238E27FC236}">
                <a16:creationId xmlns:a16="http://schemas.microsoft.com/office/drawing/2014/main" id="{4BE0C86A-C051-4EC6-98A4-96C1E988D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21">
            <a:extLst xmlns:a="http://schemas.openxmlformats.org/drawingml/2006/main">
              <a:ext uri="{FF2B5EF4-FFF2-40B4-BE49-F238E27FC236}">
                <a16:creationId xmlns:a16="http://schemas.microsoft.com/office/drawing/2014/main" id="{2D80BC4F-B183-41D4-8C71-DABAA00224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21">
            <a:extLst xmlns:a="http://schemas.openxmlformats.org/drawingml/2006/main">
              <a:ext uri="{FF2B5EF4-FFF2-40B4-BE49-F238E27FC236}">
                <a16:creationId xmlns:a16="http://schemas.microsoft.com/office/drawing/2014/main" id="{F05F1DD6-A414-41A8-82E6-7D1F84670A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74e7e131b45f9"/>
    <p:sldLayoutId xmlns:r="http://schemas.openxmlformats.org/officeDocument/2006/relationships" id="2147483650" r:id="R7049dfe717cf4dac"/>
    <p:sldLayoutId xmlns:r="http://schemas.openxmlformats.org/officeDocument/2006/relationships" id="2147483651" r:id="Rbf11c96ba4034e33"/>
    <p:sldLayoutId xmlns:r="http://schemas.openxmlformats.org/officeDocument/2006/relationships" id="2147483652" r:id="Ref89c65947164cd2"/>
    <p:sldLayoutId xmlns:r="http://schemas.openxmlformats.org/officeDocument/2006/relationships" id="2147483653" r:id="Rcfbdc6dcf9314b11"/>
    <p:sldLayoutId xmlns:r="http://schemas.openxmlformats.org/officeDocument/2006/relationships" id="2147483654" r:id="Rf092bad051e941f0"/>
    <p:sldLayoutId xmlns:r="http://schemas.openxmlformats.org/officeDocument/2006/relationships" id="2147483655" r:id="R4c341881b16d4f3b"/>
    <p:sldLayoutId xmlns:r="http://schemas.openxmlformats.org/officeDocument/2006/relationships" id="2147483656" r:id="Rfa899b841e4541e4"/>
    <p:sldLayoutId xmlns:r="http://schemas.openxmlformats.org/officeDocument/2006/relationships" id="2147483657" r:id="Rc3ecae6aca394e8c"/>
    <p:sldLayoutId xmlns:r="http://schemas.openxmlformats.org/officeDocument/2006/relationships" id="2147483658" r:id="R94569346329d406a"/>
    <p:sldLayoutId xmlns:r="http://schemas.openxmlformats.org/officeDocument/2006/relationships" id="2147483659" r:id="R39d240e9aa3241a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17f3502314beb" /><Relationship Type="http://schemas.openxmlformats.org/officeDocument/2006/relationships/image" Target="/ppt/media/image.png" Id="R4507389ac4f84303" /><Relationship Type="http://schemas.openxmlformats.org/officeDocument/2006/relationships/notesSlide" Target="/ppt/notesSlides/notesSlide1.xml" Id="Rd9ab0871b274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3fe733be34e57" /><Relationship Type="http://schemas.openxmlformats.org/officeDocument/2006/relationships/image" Target="/ppt/media/image2.png" Id="R1df7b914228242d6" /><Relationship Type="http://schemas.openxmlformats.org/officeDocument/2006/relationships/image" Target="/ppt/media/image3.png" Id="R4aa1c0e6525d4376" /><Relationship Type="http://schemas.openxmlformats.org/officeDocument/2006/relationships/notesSlide" Target="/ppt/notesSlides/notesSlide2.xml" Id="R4314d1e4ce0d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89fc8a87f4a74" /><Relationship Type="http://schemas.openxmlformats.org/officeDocument/2006/relationships/image" Target="/ppt/media/image3.png" Id="Re25181def25a4524" /><Relationship Type="http://schemas.openxmlformats.org/officeDocument/2006/relationships/notesSlide" Target="/ppt/notesSlides/notesSlide3.xml" Id="R97467043973b4d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fbdb07d2194aae" /><Relationship Type="http://schemas.openxmlformats.org/officeDocument/2006/relationships/image" Target="/ppt/media/image.png" Id="R6918912d63e94a44" /><Relationship Type="http://schemas.openxmlformats.org/officeDocument/2006/relationships/notesSlide" Target="/ppt/notesSlides/notesSlide4.xml" Id="R3c3e1fbebf7d4b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508356e7534277" /><Relationship Type="http://schemas.openxmlformats.org/officeDocument/2006/relationships/image" Target="/ppt/media/image.png" Id="Re2aaf1b192b04bd1" /><Relationship Type="http://schemas.openxmlformats.org/officeDocument/2006/relationships/notesSlide" Target="/ppt/notesSlides/notesSlide5.xml" Id="R0f55ef5fd70f41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f0b4099ab4ddc" /><Relationship Type="http://schemas.openxmlformats.org/officeDocument/2006/relationships/image" Target="/ppt/media/image.png" Id="Ra6078cfe16194674" /><Relationship Type="http://schemas.openxmlformats.org/officeDocument/2006/relationships/notesSlide" Target="/ppt/notesSlides/notesSlide6.xml" Id="R5bcb270e65fe4c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301804bef4598" /><Relationship Type="http://schemas.openxmlformats.org/officeDocument/2006/relationships/image" Target="/ppt/media/image2.png" Id="R87dba0aea90b4e9c" /><Relationship Type="http://schemas.openxmlformats.org/officeDocument/2006/relationships/image" Target="/ppt/media/image3.png" Id="R9926e43fd23f441c" /><Relationship Type="http://schemas.openxmlformats.org/officeDocument/2006/relationships/notesSlide" Target="/ppt/notesSlides/notesSlide7.xml" Id="R5c0e6469380a48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b7f6c73ea4de7" /><Relationship Type="http://schemas.openxmlformats.org/officeDocument/2006/relationships/image" Target="/ppt/media/image3.png" Id="R11d547f7ca3d428e" /><Relationship Type="http://schemas.openxmlformats.org/officeDocument/2006/relationships/notesSlide" Target="/ppt/notesSlides/notesSlide8.xml" Id="R1bf7223a7a264d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d06d852c846b9" /><Relationship Type="http://schemas.openxmlformats.org/officeDocument/2006/relationships/image" Target="/ppt/media/image.png" Id="R15a4a1ff72b24244" /><Relationship Type="http://schemas.openxmlformats.org/officeDocument/2006/relationships/notesSlide" Target="/ppt/notesSlides/notesSlide9.xml" Id="R104e580ac50748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4fe515ce34fe2" /><Relationship Type="http://schemas.openxmlformats.org/officeDocument/2006/relationships/image" Target="/ppt/media/image.png" Id="R76cdcd21d7ae49b7" /><Relationship Type="http://schemas.openxmlformats.org/officeDocument/2006/relationships/notesSlide" Target="/ppt/notesSlides/notesSlide10.xml" Id="R4427954f54e940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e298200ce4719" /><Relationship Type="http://schemas.openxmlformats.org/officeDocument/2006/relationships/image" Target="/ppt/media/image3.png" Id="R0a767a3e10034dba" /><Relationship Type="http://schemas.openxmlformats.org/officeDocument/2006/relationships/notesSlide" Target="/ppt/notesSlides/notesSlide11.xml" Id="R83298ddb5e274a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cbf2f9d5a0450a" /><Relationship Type="http://schemas.openxmlformats.org/officeDocument/2006/relationships/image" Target="/ppt/media/image.png" Id="R93be91ab6f12454f" /><Relationship Type="http://schemas.openxmlformats.org/officeDocument/2006/relationships/notesSlide" Target="/ppt/notesSlides/notesSlide12.xml" Id="R8d639696027a4d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2eaa714de14ca5" /><Relationship Type="http://schemas.openxmlformats.org/officeDocument/2006/relationships/image" Target="/ppt/media/image.png" Id="R9d8f39095d424235" /><Relationship Type="http://schemas.openxmlformats.org/officeDocument/2006/relationships/notesSlide" Target="/ppt/notesSlides/notesSlide13.xml" Id="R70231b5bc2aa42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44c7c7cd74a38" /><Relationship Type="http://schemas.openxmlformats.org/officeDocument/2006/relationships/image" Target="/ppt/media/image3.png" Id="R8e657b554fdd44aa" /><Relationship Type="http://schemas.openxmlformats.org/officeDocument/2006/relationships/notesSlide" Target="/ppt/notesSlides/notesSlide14.xml" Id="Rc9bf5795717144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5f903998043bd" /><Relationship Type="http://schemas.openxmlformats.org/officeDocument/2006/relationships/image" Target="/ppt/media/image3.png" Id="R24b7c13671424fc7" /><Relationship Type="http://schemas.openxmlformats.org/officeDocument/2006/relationships/notesSlide" Target="/ppt/notesSlides/notesSlide15.xml" Id="Ra41041b6226842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g3bb6db650b2_0_55">
            <a:extLst xmlns:a="http://schemas.openxmlformats.org/drawingml/2006/main">
              <a:ext uri="{FF2B5EF4-FFF2-40B4-BE49-F238E27FC236}">
                <a16:creationId xmlns:a16="http://schemas.microsoft.com/office/drawing/2014/main" id="{10498E75-CBC9-49BE-9474-1EAB8F8E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350" y="4642350"/>
            <a:ext cx="1989300" cy="20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383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7389ac4f8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52D65209-CA83-F3E2-3495-9CCDEF11EA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150" y="744538"/>
            <a:ext cx="8521700" cy="399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DESIGN AND EVALUATION OF INFRAGUARD AI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Governance-by-Design Reference Framework for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Bounded LLM-Assisted Incident Triage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PROJECT DEFENCE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Adebodun Samuel Tomola  |  2025/A/MIT/0616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Supervisor: Dr. Emmanuel Mkpojiogu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5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Miva Open University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1578195342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df7b914228242d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76E721-F8A9-464E-9641-EDEB9AE0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-171450"/>
            <a:ext cx="9326550" cy="5324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D3507DF7-F09C-4726-9A36-8F4BA6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Four gaps position the contribution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978C474A-3F16-41AD-8568-E03EEBBE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97884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Knowledge — reliability of a compact local model remains uncertain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Design — governance must be embedded in evidence, memory and action boundaries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Engineering — small teams need an inspectable operator-hosted reference artefact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Empirical — cross-model, workload, cost and production evidence remain limited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Design-science contribution — governance-by-design reference framework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Distinctive construct — condition-and-ruleset acknowledgement fingerprint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0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21B55B2B-794E-4D61-BEA8-B4DD3CA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1c0e6525d4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125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E9DE47-7A89-03FD-8838-AB32C51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" y="-152400"/>
            <a:ext cx="9421800" cy="530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50CF5E3E-E802-64F5-BC89-2D8335A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Literature review: theory becomes controls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2BC2C388-10A3-D249-2B73-7D9B289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99107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Automation bias can produce misuse, disuse or complacency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Trust should be calibrated to demonstrated reliability and visible evidence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Alert fatigue makes repeated presentation—not inference—an operational concern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Human-AI guidance requires capability disclosure, correction and user control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Organisational AI governance requires accountable roles, controls and evidence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Trustworthy AI turns principles into continuing risk and monitoring duties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6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Design implication — structured output never replaces operator judgement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0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4430A66-BD6A-1853-78AC-9C8941E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181def25a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6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8693143F-7EBC-4943-BAE8-6A65A41739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Five inquiry areas; seven bounded questions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EF046507-6A8C-4893-935C-79FC38E87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074" y="1715950"/>
            <a:ext cx="8149459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Aim — design, implement and verify bounded first-pass incident support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/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RQ1 — selected telemetry → reviewable verdicts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RQ2 — operator-hosted inference, RAG, validation and approval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RQ3 — recurrence, expiry, model/prompt change and severity escalation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RQ4a — implementation evidence and qwen2.5:3b behaviour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RQ4b — descriptive perceived usability in the evaluated group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RQ4c — unresolved diagnostic, cross-model, cost, workload and field claims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RQ5 — security, deployment and data-governance constraints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93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07CBB763-C78F-4971-8762-54C0B685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9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8912d63e94a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25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5BB0AB44-08D6-1BF3-91CA-740D15696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Design Science separates evidence levels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97D9ADB7-0603-2DBC-A1B2-213E59870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074" y="1715950"/>
            <a:ext cx="8149459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Problem → objectives → design → demonstration → evaluation → communication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Unit — selected parsing, provider, memory, telemetry and retrieval functions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Component/integration — temporary stores and mocked external services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System — source-scoped suite plus a frozen qwen2.5:3b benchmark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Live deployment — limited researcher-observed convenience pilot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5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5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Operational field — not completed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93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79DBF484-7568-C63F-3A19-08308D7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9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f1b192b04b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022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A27235BD-4E5E-342A-510C-825F9EA13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Timeline and resources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170A701B-5D26-E08C-A235-506D2768F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3829050"/>
            <a:ext cx="821483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96464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35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Resources — Windows/Docker development host; local qwen2.5:3b; FastAPI/LangChain; SQLite/ChromaDB; Loki/Prometheus; 20 runbooks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35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energy, hardware depreciation, opportunity cost and production scaling were not measured</a:t>
            </a:r>
          </a:p>
        </p:txBody>
      </p:sp>
      <p:cxnSp>
        <p:nvCxnSpPr>
          <p:cNvPr id="110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C336649F-617F-AA44-7F78-3F69969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78cfe161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timeline-rail">
            <a:extLst xmlns:a="http://schemas.openxmlformats.org/drawingml/2006/main">
              <a:ext uri="{FF2B5EF4-FFF2-40B4-BE49-F238E27FC236}">
                <a16:creationId xmlns:a16="http://schemas.microsoft.com/office/drawing/2014/main" id="{64C82ECD-063D-4004-A768-654DFED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A282"/>
            </a:solidFill>
            <a:prstDash val="solid"/>
          </a:ln>
        </p:spPr>
      </p:sp>
      <p:sp>
        <p:nvSpPr>
          <p:cNvPr id="92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D35D1E89-C346-4334-83DC-B1CCDA5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16 AUG</a:t>
            </a:r>
          </a:p>
        </p:txBody>
      </p:sp>
      <p:sp>
        <p:nvSpPr>
          <p:cNvPr id="93" name="timeline-stem-1">
            <a:extLst xmlns:a="http://schemas.openxmlformats.org/drawingml/2006/main">
              <a:ext uri="{FF2B5EF4-FFF2-40B4-BE49-F238E27FC236}">
                <a16:creationId xmlns:a16="http://schemas.microsoft.com/office/drawing/2014/main" id="{F253E95D-8413-4F7D-B16B-D687B8A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94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368D367A-7648-4467-9A97-872B4AA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A2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5" name="timeline-event-1">
            <a:extLst xmlns:a="http://schemas.openxmlformats.org/drawingml/2006/main">
              <a:ext uri="{FF2B5EF4-FFF2-40B4-BE49-F238E27FC236}">
                <a16:creationId xmlns:a16="http://schemas.microsoft.com/office/drawing/2014/main" id="{9887055E-F38A-40DA-9909-3CD86F1E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Pilot deployed</a:t>
            </a:r>
          </a:p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82 tests • 66%</a:t>
            </a:r>
          </a:p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dated baseline</a:t>
            </a:r>
          </a:p>
        </p:txBody>
      </p:sp>
      <p:sp>
        <p:nvSpPr>
          <p:cNvPr id="96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D1C86924-B48F-4612-A0D6-80A39F39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18 AUG</a:t>
            </a:r>
          </a:p>
        </p:txBody>
      </p:sp>
      <p:sp>
        <p:nvSpPr>
          <p:cNvPr id="97" name="timeline-stem-2">
            <a:extLst xmlns:a="http://schemas.openxmlformats.org/drawingml/2006/main">
              <a:ext uri="{FF2B5EF4-FFF2-40B4-BE49-F238E27FC236}">
                <a16:creationId xmlns:a16="http://schemas.microsoft.com/office/drawing/2014/main" id="{08519E1D-83A0-4105-BA1C-7673375E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98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FFDF8CA4-1DB7-4DD5-8CAB-51216259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9" name="timeline-event-2">
            <a:extLst xmlns:a="http://schemas.openxmlformats.org/drawingml/2006/main">
              <a:ext uri="{FF2B5EF4-FFF2-40B4-BE49-F238E27FC236}">
                <a16:creationId xmlns:a16="http://schemas.microsoft.com/office/drawing/2014/main" id="{C8349C37-4230-462D-8425-90C4233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81-test regression</a:t>
            </a:r>
          </a:p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qwen2.5:3b benchmark</a:t>
            </a:r>
          </a:p>
        </p:txBody>
      </p:sp>
      <p:sp>
        <p:nvSpPr>
          <p:cNvPr id="100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15BC1B89-6035-4A04-BFD5-6F760D74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32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22–26 AUG</a:t>
            </a:r>
          </a:p>
        </p:txBody>
      </p:sp>
      <p:sp>
        <p:nvSpPr>
          <p:cNvPr id="101" name="timeline-stem-3">
            <a:extLst xmlns:a="http://schemas.openxmlformats.org/drawingml/2006/main">
              <a:ext uri="{FF2B5EF4-FFF2-40B4-BE49-F238E27FC236}">
                <a16:creationId xmlns:a16="http://schemas.microsoft.com/office/drawing/2014/main" id="{B177FB11-FBC5-4C02-8CB0-05C36873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102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F2EDEE50-12F6-4EC0-9256-D3A7854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timeline-event-3">
            <a:extLst xmlns:a="http://schemas.openxmlformats.org/drawingml/2006/main">
              <a:ext uri="{FF2B5EF4-FFF2-40B4-BE49-F238E27FC236}">
                <a16:creationId xmlns:a16="http://schemas.microsoft.com/office/drawing/2014/main" id="{7DF256DA-281D-4014-91A4-131A3AB6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SUS submissions</a:t>
            </a:r>
          </a:p>
          <a:p xmlns:a="http://schemas.openxmlformats.org/drawingml/2006/main">
            <a:pPr algn="ctr">
              <a:defRPr sz="1350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collected</a:t>
            </a:r>
          </a:p>
        </p:txBody>
      </p:sp>
      <p:sp>
        <p:nvSpPr>
          <p:cNvPr id="104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2A122C62-1FF5-4A02-944E-76C8A1AB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28 AUG</a:t>
            </a:r>
          </a:p>
        </p:txBody>
      </p:sp>
      <p:sp>
        <p:nvSpPr>
          <p:cNvPr id="105" name="timeline-stem-4">
            <a:extLst xmlns:a="http://schemas.openxmlformats.org/drawingml/2006/main">
              <a:ext uri="{FF2B5EF4-FFF2-40B4-BE49-F238E27FC236}">
                <a16:creationId xmlns:a16="http://schemas.microsoft.com/office/drawing/2014/main" id="{F9204DF4-B6ED-48ED-BB58-6698195A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106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FF178ADB-B1F7-4C32-B201-13AB12A2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7" name="timeline-event-4">
            <a:extLst xmlns:a="http://schemas.openxmlformats.org/drawingml/2006/main">
              <a:ext uri="{FF2B5EF4-FFF2-40B4-BE49-F238E27FC236}">
                <a16:creationId xmlns:a16="http://schemas.microsoft.com/office/drawing/2014/main" id="{814C99E5-1414-4331-AB0B-E5303ED9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148 passed • 87%</a:t>
            </a:r>
          </a:p>
          <a:p xmlns:a="http://schemas.openxmlformats.org/drawingml/2006/main">
            <a:pPr algn="ctr">
              <a:defRPr sz="1350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final remediation</a:t>
            </a:r>
          </a:p>
        </p:txBody>
      </p:sp>
    </p:spTree>
    <p:extLst>
      <p:ext uri="{BB962C8B-B14F-4D97-AF65-F5344CB8AC3E}">
        <p14:creationId xmlns:p14="http://schemas.microsoft.com/office/powerpoint/2010/main" val="3145159410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7dba0aea90b4e9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76E721-F8A9-464E-9641-EDEB9AE0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-171450"/>
            <a:ext cx="9326550" cy="5324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D3507DF7-F09C-4726-9A36-8F4BA6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Governance is embedded in the workflow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978C474A-3F16-41AD-8568-E03EEBBE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" y="3752850"/>
            <a:ext cx="8214836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85303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Implemented/tested — bounded context, model/provider provenance, validation, operator approval and severity visibility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Recommended/not independently assessed — TLS, managed secrets, confidential notification, backup/recovery and penetration testing</a:t>
            </a:r>
          </a:p>
        </p:txBody>
      </p:sp>
      <p:cxnSp>
        <p:nvCxnSpPr>
          <p:cNvPr id="116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21B55B2B-794E-4D61-BEA8-B4DD3CA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6e43fd23f44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  <p:sp>
        <p:nvSpPr>
          <p:cNvPr id="104" name="architecture-card-1">
            <a:extLst xmlns:a="http://schemas.openxmlformats.org/drawingml/2006/main">
              <a:ext uri="{FF2B5EF4-FFF2-40B4-BE49-F238E27FC236}">
                <a16:creationId xmlns:a16="http://schemas.microsoft.com/office/drawing/2014/main" id="{8B7EEC80-3AF7-4559-B46E-C9C9548E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TELEMETRY</a:t>
            </a:r>
          </a:p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Loki • Prometheus
HTTP • Docker • CrowdSec</a:t>
            </a:r>
          </a:p>
        </p:txBody>
      </p:sp>
      <p:sp>
        <p:nvSpPr>
          <p:cNvPr id="105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6B464BF5-1749-4F27-866A-E5A8925F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669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6" name="architecture-card-2">
            <a:extLst xmlns:a="http://schemas.openxmlformats.org/drawingml/2006/main">
              <a:ext uri="{FF2B5EF4-FFF2-40B4-BE49-F238E27FC236}">
                <a16:creationId xmlns:a16="http://schemas.microsoft.com/office/drawing/2014/main" id="{CA213186-40EE-411A-B12D-1A213037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LOCAL CORE</a:t>
            </a:r>
          </a:p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FastAPI • SQLite
ChromaDB • 20 runbooks</a:t>
            </a:r>
          </a:p>
        </p:txBody>
      </p:sp>
      <p:sp>
        <p:nvSpPr>
          <p:cNvPr id="107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D2B5DE27-1C72-4054-AB18-65C4FDD8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669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8" name="architecture-card-3">
            <a:extLst xmlns:a="http://schemas.openxmlformats.org/drawingml/2006/main">
              <a:ext uri="{FF2B5EF4-FFF2-40B4-BE49-F238E27FC236}">
                <a16:creationId xmlns:a16="http://schemas.microsoft.com/office/drawing/2014/main" id="{2FA6F9C0-38BB-41D2-B23C-73D9D910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9525">
            <a:solidFill>
              <a:srgbClr val="F7A6A1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HUMAN GATE</a:t>
            </a:r>
          </a:p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Review • approve
or reject</a:t>
            </a:r>
          </a:p>
        </p:txBody>
      </p:sp>
      <p:sp>
        <p:nvSpPr>
          <p:cNvPr id="10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A7BB92D1-AF40-4B1B-9946-13814205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0" name="architecture-card-4">
            <a:extLst xmlns:a="http://schemas.openxmlformats.org/drawingml/2006/main">
              <a:ext uri="{FF2B5EF4-FFF2-40B4-BE49-F238E27FC236}">
                <a16:creationId xmlns:a16="http://schemas.microsoft.com/office/drawing/2014/main" id="{17BC90A7-BC41-4F81-8523-8328961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NOTIFY / ACT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Dashboard • alerts
CrowdSec ban after approval</a:t>
            </a:r>
          </a:p>
        </p:txBody>
      </p:sp>
      <p:sp>
        <p:nvSpPr>
          <p:cNvPr id="111" name="architecture-flow-labels">
            <a:extLst xmlns:a="http://schemas.openxmlformats.org/drawingml/2006/main">
              <a:ext uri="{FF2B5EF4-FFF2-40B4-BE49-F238E27FC236}">
                <a16:creationId xmlns:a16="http://schemas.microsoft.com/office/drawing/2014/main" id="{7AED7287-DE5F-4A47-8544-6B48CD83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907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A282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C0A282"/>
                </a:solidFill>
                <a:latin typeface="Manrope"/>
                <a:ea typeface="Manrope"/>
                <a:cs typeface="Manrope"/>
              </a:rPr>
              <a:t>collect          analyse          decide          notify</a:t>
            </a:r>
          </a:p>
        </p:txBody>
      </p:sp>
      <p:sp>
        <p:nvSpPr>
          <p:cNvPr id="112" name="architecture-boundary">
            <a:extLst xmlns:a="http://schemas.openxmlformats.org/drawingml/2006/main">
              <a:ext uri="{FF2B5EF4-FFF2-40B4-BE49-F238E27FC236}">
                <a16:creationId xmlns:a16="http://schemas.microsoft.com/office/drawing/2014/main" id="{958F0EBB-57E2-4874-AD5F-895EA1AE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096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E83831"/>
            </a:solidFill>
            <a:prstDash val="solid"/>
          </a:ln>
        </p:spPr>
        <p:txBody>
          <a:bodyPr xmlns:a="http://schemas.openxmlformats.org/drawingml/2006/main" wrap="square" lIns="95250" tIns="28575" rIns="95250" bIns="28575" anchor="ctr">
            <a:normAutofit fontScale="86959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ACTION BOUNDARY  •  the model never changes services or firewall rules</a:t>
            </a:r>
          </a:p>
        </p:txBody>
      </p:sp>
    </p:spTree>
    <p:extLst>
      <p:ext uri="{BB962C8B-B14F-4D97-AF65-F5344CB8AC3E}">
        <p14:creationId xmlns:p14="http://schemas.microsoft.com/office/powerpoint/2010/main" val="10083125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E9DE47-7A89-03FD-8838-AB32C51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" y="-152400"/>
            <a:ext cx="9421800" cy="530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50CF5E3E-E802-64F5-BC89-2D8335A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The fingerprint is the distinctive construct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2BC2C388-10A3-D249-2B73-7D9B289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" y="4038600"/>
            <a:ext cx="8214836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91842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Limitation — only 10/24 scenarios (41.7%) had one stable signature; same-model identity creates circularity risk.</a:t>
            </a:r>
          </a:p>
        </p:txBody>
      </p:sp>
      <p:cxnSp>
        <p:nvCxnSpPr>
          <p:cNvPr id="133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4430A66-BD6A-1853-78AC-9C8941E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3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547f7ca3d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  <p:sp>
        <p:nvSpPr>
          <p:cNvPr id="104" name="fingerprint-formula">
            <a:extLst xmlns:a="http://schemas.openxmlformats.org/drawingml/2006/main">
              <a:ext uri="{FF2B5EF4-FFF2-40B4-BE49-F238E27FC236}">
                <a16:creationId xmlns:a16="http://schemas.microsoft.com/office/drawing/2014/main" id="{9C3DA796-FD1E-46D4-BAB8-F4258E5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7762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fingerprint = SHA-256(signature | prompt version | model)</a:t>
            </a:r>
          </a:p>
        </p:txBody>
      </p:sp>
      <p:sp>
        <p:nvSpPr>
          <p:cNvPr id="105" name="fingerprint-inputs">
            <a:extLst xmlns:a="http://schemas.openxmlformats.org/drawingml/2006/main">
              <a:ext uri="{FF2B5EF4-FFF2-40B4-BE49-F238E27FC236}">
                <a16:creationId xmlns:a16="http://schemas.microsoft.com/office/drawing/2014/main" id="{3C6D2565-9C5F-4C8C-962C-0C35918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06" name="fingerprint-inputs-title">
            <a:extLst xmlns:a="http://schemas.openxmlformats.org/drawingml/2006/main">
              <a:ext uri="{FF2B5EF4-FFF2-40B4-BE49-F238E27FC236}">
                <a16:creationId xmlns:a16="http://schemas.microsoft.com/office/drawing/2014/main" id="{7FC5EEDB-DE73-4CA0-9BA1-E621242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833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CONTEXT INPUTS</a:t>
            </a:r>
          </a:p>
        </p:txBody>
      </p:sp>
      <p:sp>
        <p:nvSpPr>
          <p:cNvPr id="107" name="fingerprint-inputs-body">
            <a:extLst xmlns:a="http://schemas.openxmlformats.org/drawingml/2006/main">
              <a:ext uri="{FF2B5EF4-FFF2-40B4-BE49-F238E27FC236}">
                <a16:creationId xmlns:a16="http://schemas.microsoft.com/office/drawing/2014/main" id="{70416357-96D3-4C1F-9223-A2B4EE46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signature</a:t>
            </a:r>
          </a:p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prompt version</a:t>
            </a:r>
          </a:p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model</a:t>
            </a:r>
          </a:p>
        </p:txBody>
      </p:sp>
      <p:sp>
        <p:nvSpPr>
          <p:cNvPr id="108" name="fingerprint-arrow-1">
            <a:extLst xmlns:a="http://schemas.openxmlformats.org/drawingml/2006/main">
              <a:ext uri="{FF2B5EF4-FFF2-40B4-BE49-F238E27FC236}">
                <a16:creationId xmlns:a16="http://schemas.microsoft.com/office/drawing/2014/main" id="{73AEAF86-C874-4E98-9288-05AC8FE4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9" name="fingerprint-hash">
            <a:extLst xmlns:a="http://schemas.openxmlformats.org/drawingml/2006/main">
              <a:ext uri="{FF2B5EF4-FFF2-40B4-BE49-F238E27FC236}">
                <a16:creationId xmlns:a16="http://schemas.microsoft.com/office/drawing/2014/main" id="{9D552513-B90B-4ABD-A87D-AA92CA65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10953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10" name="fingerprint-hash-title">
            <a:extLst xmlns:a="http://schemas.openxmlformats.org/drawingml/2006/main">
              <a:ext uri="{FF2B5EF4-FFF2-40B4-BE49-F238E27FC236}">
                <a16:creationId xmlns:a16="http://schemas.microsoft.com/office/drawing/2014/main" id="{8069F636-076A-491A-89C2-F206F83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09825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SHA-256</a:t>
            </a:r>
          </a:p>
        </p:txBody>
      </p:sp>
      <p:sp>
        <p:nvSpPr>
          <p:cNvPr id="111" name="fingerprint-hash-body">
            <a:extLst xmlns:a="http://schemas.openxmlformats.org/drawingml/2006/main">
              <a:ext uri="{FF2B5EF4-FFF2-40B4-BE49-F238E27FC236}">
                <a16:creationId xmlns:a16="http://schemas.microsoft.com/office/drawing/2014/main" id="{26122F61-FA9C-4C75-9B28-C6C5749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67000"/>
            <a:ext cx="942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bind context</a:t>
            </a:r>
          </a:p>
        </p:txBody>
      </p:sp>
      <p:sp>
        <p:nvSpPr>
          <p:cNvPr id="112" name="fingerprint-arrow-2">
            <a:extLst xmlns:a="http://schemas.openxmlformats.org/drawingml/2006/main">
              <a:ext uri="{FF2B5EF4-FFF2-40B4-BE49-F238E27FC236}">
                <a16:creationId xmlns:a16="http://schemas.microsoft.com/office/drawing/2014/main" id="{D03DF14B-974A-4A4B-B995-824ABE45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3" name="fingerprint-fingerprint">
            <a:extLst xmlns:a="http://schemas.openxmlformats.org/drawingml/2006/main">
              <a:ext uri="{FF2B5EF4-FFF2-40B4-BE49-F238E27FC236}">
                <a16:creationId xmlns:a16="http://schemas.microsoft.com/office/drawing/2014/main" id="{202FA2F1-81A7-4E91-A874-18ED99D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1333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14" name="fingerprint-fingerprint-title">
            <a:extLst xmlns:a="http://schemas.openxmlformats.org/drawingml/2006/main">
              <a:ext uri="{FF2B5EF4-FFF2-40B4-BE49-F238E27FC236}">
                <a16:creationId xmlns:a16="http://schemas.microsoft.com/office/drawing/2014/main" id="{53AFC738-EB27-4821-980A-6B412A68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098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FINGERPRINT</a:t>
            </a:r>
          </a:p>
        </p:txBody>
      </p:sp>
      <p:sp>
        <p:nvSpPr>
          <p:cNvPr id="115" name="fingerprint-fingerprint-body">
            <a:extLst xmlns:a="http://schemas.openxmlformats.org/drawingml/2006/main">
              <a:ext uri="{FF2B5EF4-FFF2-40B4-BE49-F238E27FC236}">
                <a16:creationId xmlns:a16="http://schemas.microsoft.com/office/drawing/2014/main" id="{D74A856A-5664-43BC-A224-1FA9337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6700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stored with review</a:t>
            </a:r>
          </a:p>
        </p:txBody>
      </p:sp>
      <p:sp>
        <p:nvSpPr>
          <p:cNvPr id="116" name="fingerprint-match-decision">
            <a:extLst xmlns:a="http://schemas.openxmlformats.org/drawingml/2006/main">
              <a:ext uri="{FF2B5EF4-FFF2-40B4-BE49-F238E27FC236}">
                <a16:creationId xmlns:a16="http://schemas.microsoft.com/office/drawing/2014/main" id="{E93A1501-748F-468D-8FD5-8DAB4B3A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9825"/>
            <a:ext cx="95250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5465F"/>
          </a:solidFill>
          <a:ln xmlns:a="http://schemas.openxmlformats.org/drawingml/2006/main" w="19050">
            <a:solidFill>
              <a:srgbClr val="C0A28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56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MATCH</a:t>
            </a:r>
          </a:p>
        </p:txBody>
      </p:sp>
      <p:sp>
        <p:nvSpPr>
          <p:cNvPr id="117" name="fingerprint-decision-arrow">
            <a:extLst xmlns:a="http://schemas.openxmlformats.org/drawingml/2006/main">
              <a:ext uri="{FF2B5EF4-FFF2-40B4-BE49-F238E27FC236}">
                <a16:creationId xmlns:a16="http://schemas.microsoft.com/office/drawing/2014/main" id="{A3279C36-C7CD-480C-B30C-E116B98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8" name="fingerprint-match-yes">
            <a:extLst xmlns:a="http://schemas.openxmlformats.org/drawingml/2006/main">
              <a:ext uri="{FF2B5EF4-FFF2-40B4-BE49-F238E27FC236}">
                <a16:creationId xmlns:a16="http://schemas.microsoft.com/office/drawing/2014/main" id="{74D5E6B8-6839-45E9-9D66-035CB54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C0A282"/>
            </a:solidFill>
            <a:prstDash val="solid"/>
          </a:ln>
        </p:spPr>
      </p:sp>
      <p:sp>
        <p:nvSpPr>
          <p:cNvPr id="119" name="fingerprint-match-yes-text">
            <a:extLst xmlns:a="http://schemas.openxmlformats.org/drawingml/2006/main">
              <a:ext uri="{FF2B5EF4-FFF2-40B4-BE49-F238E27FC236}">
                <a16:creationId xmlns:a16="http://schemas.microsoft.com/office/drawing/2014/main" id="{4EE5A589-5A98-448E-97D4-D6291AB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866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YES • default-view mask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calls + records continue</a:t>
            </a:r>
          </a:p>
        </p:txBody>
      </p:sp>
      <p:sp>
        <p:nvSpPr>
          <p:cNvPr id="120" name="fingerprint-match-no">
            <a:extLst xmlns:a="http://schemas.openxmlformats.org/drawingml/2006/main">
              <a:ext uri="{FF2B5EF4-FFF2-40B4-BE49-F238E27FC236}">
                <a16:creationId xmlns:a16="http://schemas.microsoft.com/office/drawing/2014/main" id="{5351B488-83F2-43BD-9785-BABCA0AD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9525">
            <a:solidFill>
              <a:srgbClr val="F7A6A1"/>
            </a:solidFill>
            <a:prstDash val="solid"/>
          </a:ln>
        </p:spPr>
      </p:sp>
      <p:sp>
        <p:nvSpPr>
          <p:cNvPr id="121" name="fingerprint-match-no-text">
            <a:extLst xmlns:a="http://schemas.openxmlformats.org/drawingml/2006/main">
              <a:ext uri="{FF2B5EF4-FFF2-40B4-BE49-F238E27FC236}">
                <a16:creationId xmlns:a16="http://schemas.microsoft.com/office/drawing/2014/main" id="{76D8290F-26F4-4A1F-8ECD-F2C9C951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575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51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 • fresh review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model/prompt change resets</a:t>
            </a:r>
          </a:p>
        </p:txBody>
      </p:sp>
      <p:sp>
        <p:nvSpPr>
          <p:cNvPr id="122" name="fingerprint-yes-branch">
            <a:extLst xmlns:a="http://schemas.openxmlformats.org/drawingml/2006/main">
              <a:ext uri="{FF2B5EF4-FFF2-40B4-BE49-F238E27FC236}">
                <a16:creationId xmlns:a16="http://schemas.microsoft.com/office/drawing/2014/main" id="{BE2E684A-FB6D-47E8-B1E8-DBB2675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A282"/>
            </a:solidFill>
            <a:prstDash val="solid"/>
          </a:ln>
        </p:spPr>
      </p:sp>
      <p:sp>
        <p:nvSpPr>
          <p:cNvPr id="123" name="fingerprint-no-branch">
            <a:extLst xmlns:a="http://schemas.openxmlformats.org/drawingml/2006/main">
              <a:ext uri="{FF2B5EF4-FFF2-40B4-BE49-F238E27FC236}">
                <a16:creationId xmlns:a16="http://schemas.microsoft.com/office/drawing/2014/main" id="{99C81341-C49D-4D9D-95A3-FF937B9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90875"/>
            <a:ext cx="56197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831"/>
            </a:solidFill>
            <a:prstDash val="solid"/>
          </a:ln>
        </p:spPr>
      </p:sp>
      <p:sp>
        <p:nvSpPr>
          <p:cNvPr id="124" name="fingerprint-chip-1">
            <a:extLst xmlns:a="http://schemas.openxmlformats.org/drawingml/2006/main">
              <a:ext uri="{FF2B5EF4-FFF2-40B4-BE49-F238E27FC236}">
                <a16:creationId xmlns:a16="http://schemas.microsoft.com/office/drawing/2014/main" id="{CCAD2EF5-1ACC-41F3-ABAB-9C501ADE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25" name="fingerprint-chip-text-1">
            <a:extLst xmlns:a="http://schemas.openxmlformats.org/drawingml/2006/main">
              <a:ext uri="{FF2B5EF4-FFF2-40B4-BE49-F238E27FC236}">
                <a16:creationId xmlns:a16="http://schemas.microsoft.com/office/drawing/2014/main" id="{940C7AF5-189C-4C27-A1B7-0B364954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27/30 later rows masked</a:t>
            </a:r>
          </a:p>
        </p:txBody>
      </p:sp>
      <p:sp>
        <p:nvSpPr>
          <p:cNvPr id="126" name="fingerprint-chip-2">
            <a:extLst xmlns:a="http://schemas.openxmlformats.org/drawingml/2006/main">
              <a:ext uri="{FF2B5EF4-FFF2-40B4-BE49-F238E27FC236}">
                <a16:creationId xmlns:a16="http://schemas.microsoft.com/office/drawing/2014/main" id="{F08215B5-D213-4287-BFA3-A1EEB73C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57600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27" name="fingerprint-chip-text-2">
            <a:extLst xmlns:a="http://schemas.openxmlformats.org/drawingml/2006/main">
              <a:ext uri="{FF2B5EF4-FFF2-40B4-BE49-F238E27FC236}">
                <a16:creationId xmlns:a16="http://schemas.microsoft.com/office/drawing/2014/main" id="{EDA70C94-6AAA-4E44-A761-FD300541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766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94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30/30 calls and records retained</a:t>
            </a:r>
          </a:p>
        </p:txBody>
      </p:sp>
      <p:sp>
        <p:nvSpPr>
          <p:cNvPr id="128" name="fingerprint-chip-3">
            <a:extLst xmlns:a="http://schemas.openxmlformats.org/drawingml/2006/main">
              <a:ext uri="{FF2B5EF4-FFF2-40B4-BE49-F238E27FC236}">
                <a16:creationId xmlns:a16="http://schemas.microsoft.com/office/drawing/2014/main" id="{76496840-63B8-4891-B6E5-FA4173AF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57600"/>
            <a:ext cx="2714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29" name="fingerprint-chip-text-3">
            <a:extLst xmlns:a="http://schemas.openxmlformats.org/drawingml/2006/main">
              <a:ext uri="{FF2B5EF4-FFF2-40B4-BE49-F238E27FC236}">
                <a16:creationId xmlns:a16="http://schemas.microsoft.com/office/drawing/2014/main" id="{09DB5C57-3845-482C-833E-3C375EDB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76650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high + critical always visible</a:t>
            </a:r>
          </a:p>
        </p:txBody>
      </p:sp>
    </p:spTree>
    <p:extLst>
      <p:ext uri="{BB962C8B-B14F-4D97-AF65-F5344CB8AC3E}">
        <p14:creationId xmlns:p14="http://schemas.microsoft.com/office/powerpoint/2010/main" val="2027136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5BB0AB44-08D6-1BF3-91CA-740D15696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Evidence streams stay separate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97D9ADB7-0603-2DBC-A1B2-213E59870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4114800"/>
            <a:ext cx="821483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350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controlled verification and small human samples, not field effectiveness</a:t>
            </a:r>
          </a:p>
        </p:txBody>
      </p:sp>
      <p:cxnSp>
        <p:nvCxnSpPr>
          <p:cNvPr id="102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79DBF484-7568-C63F-3A19-08308D7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4a1ff72b24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4FDABFCC-5C62-4F14-9B8D-46418E32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2860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33350" tIns="123825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FROZEN MODEL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72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incident responses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24 fixtures × 3
RAG/no-RAG: 36 + 36</a:t>
            </a:r>
          </a:p>
        </p:txBody>
      </p:sp>
      <p:sp>
        <p:nvSpPr>
          <p:cNvPr id="92" name="evidence-card-accent-1">
            <a:extLst xmlns:a="http://schemas.openxmlformats.org/drawingml/2006/main">
              <a:ext uri="{FF2B5EF4-FFF2-40B4-BE49-F238E27FC236}">
                <a16:creationId xmlns:a16="http://schemas.microsoft.com/office/drawing/2014/main" id="{D010B48C-36CF-4B1B-8378-E56E9ECF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14F"/>
          </a:solidFill>
          <a:ln xmlns:a="http://schemas.openxmlformats.org/drawingml/2006/main" w="0">
            <a:solidFill>
              <a:srgbClr val="0B314F"/>
            </a:solidFill>
            <a:prstDash val="solid"/>
          </a:ln>
        </p:spPr>
      </p:sp>
      <p:sp>
        <p:nvSpPr>
          <p:cNvPr id="93" name="evidence-divider-1">
            <a:extLst xmlns:a="http://schemas.openxmlformats.org/drawingml/2006/main">
              <a:ext uri="{FF2B5EF4-FFF2-40B4-BE49-F238E27FC236}">
                <a16:creationId xmlns:a16="http://schemas.microsoft.com/office/drawing/2014/main" id="{BEE53D62-3712-4CE2-A53B-DEE2F62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4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E4526492-C9AB-4B65-B03F-179A4EAF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2860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33350" tIns="123825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ROLE REPORTS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assessor perspectives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exploratory interpretation
item-level cells unavailable</a:t>
            </a:r>
          </a:p>
        </p:txBody>
      </p:sp>
      <p:sp>
        <p:nvSpPr>
          <p:cNvPr id="95" name="evidence-card-accent-2">
            <a:extLst xmlns:a="http://schemas.openxmlformats.org/drawingml/2006/main">
              <a:ext uri="{FF2B5EF4-FFF2-40B4-BE49-F238E27FC236}">
                <a16:creationId xmlns:a16="http://schemas.microsoft.com/office/drawing/2014/main" id="{064B9A8C-2463-47DE-A2C0-3EF57CA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96" name="evidence-divider-2">
            <a:extLst xmlns:a="http://schemas.openxmlformats.org/drawingml/2006/main">
              <a:ext uri="{FF2B5EF4-FFF2-40B4-BE49-F238E27FC236}">
                <a16:creationId xmlns:a16="http://schemas.microsoft.com/office/drawing/2014/main" id="{AE400F5B-239B-4CC6-98D3-8CC0DCF4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7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DE4D534C-29DD-4CD9-8EF9-CC6EB811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81200"/>
            <a:ext cx="22860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33350" tIns="123825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SUS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10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complete responses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11 consented
perceived usability</a:t>
            </a:r>
          </a:p>
        </p:txBody>
      </p:sp>
      <p:sp>
        <p:nvSpPr>
          <p:cNvPr id="98" name="evidence-card-accent-3">
            <a:extLst xmlns:a="http://schemas.openxmlformats.org/drawingml/2006/main">
              <a:ext uri="{FF2B5EF4-FFF2-40B4-BE49-F238E27FC236}">
                <a16:creationId xmlns:a16="http://schemas.microsoft.com/office/drawing/2014/main" id="{B8661ECE-614A-4330-972F-01FF62F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812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99" name="evidence-divider-3">
            <a:extLst xmlns:a="http://schemas.openxmlformats.org/drawingml/2006/main">
              <a:ext uri="{FF2B5EF4-FFF2-40B4-BE49-F238E27FC236}">
                <a16:creationId xmlns:a16="http://schemas.microsoft.com/office/drawing/2014/main" id="{1ADF6BDB-E5C2-4605-9ED7-98C18D60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76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04022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E7749026-8990-A95E-5684-CF562DB49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Five targeted modules reached 100% line coverage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4132265A-49C1-EDF3-57A5-1E033FC18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4114800"/>
            <a:ext cx="821483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82625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350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mocked-path coverage is software verification, not live-service, diagnostic or production effectiveness</a:t>
            </a:r>
          </a:p>
        </p:txBody>
      </p:sp>
      <p:cxnSp>
        <p:nvCxnSpPr>
          <p:cNvPr id="129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0EA5BED6-F809-286E-6B52-29C8DAF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3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dcd21d7ae49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tests-passed-surface">
            <a:extLst xmlns:a="http://schemas.openxmlformats.org/drawingml/2006/main">
              <a:ext uri="{FF2B5EF4-FFF2-40B4-BE49-F238E27FC236}">
                <a16:creationId xmlns:a16="http://schemas.microsoft.com/office/drawing/2014/main" id="{0D636AEE-F822-4A63-9537-D24CC95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666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2" name="tests-passed-value">
            <a:extLst xmlns:a="http://schemas.openxmlformats.org/drawingml/2006/main">
              <a:ext uri="{FF2B5EF4-FFF2-40B4-BE49-F238E27FC236}">
                <a16:creationId xmlns:a16="http://schemas.microsoft.com/office/drawing/2014/main" id="{3670594F-20CA-4B98-B7CC-D1BEF9D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9775"/>
            <a:ext cx="1514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148</a:t>
            </a:r>
          </a:p>
        </p:txBody>
      </p:sp>
      <p:sp>
        <p:nvSpPr>
          <p:cNvPr id="93" name="tests-passed-label">
            <a:extLst xmlns:a="http://schemas.openxmlformats.org/drawingml/2006/main">
              <a:ext uri="{FF2B5EF4-FFF2-40B4-BE49-F238E27FC236}">
                <a16:creationId xmlns:a16="http://schemas.microsoft.com/office/drawing/2014/main" id="{C0A3BA87-EC00-4603-9907-7C9D8C4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15144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TESTS PASSED</a:t>
            </a:r>
          </a:p>
        </p:txBody>
      </p:sp>
      <p:sp>
        <p:nvSpPr>
          <p:cNvPr id="94" name="tests-failed-surface">
            <a:extLst xmlns:a="http://schemas.openxmlformats.org/drawingml/2006/main">
              <a:ext uri="{FF2B5EF4-FFF2-40B4-BE49-F238E27FC236}">
                <a16:creationId xmlns:a16="http://schemas.microsoft.com/office/drawing/2014/main" id="{44312C2D-F3E8-4B99-8382-04F16908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1666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5" name="tests-failed-value">
            <a:extLst xmlns:a="http://schemas.openxmlformats.org/drawingml/2006/main">
              <a:ext uri="{FF2B5EF4-FFF2-40B4-BE49-F238E27FC236}">
                <a16:creationId xmlns:a16="http://schemas.microsoft.com/office/drawing/2014/main" id="{1E3D25CB-169E-48C8-B59C-068FE19F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9775"/>
            <a:ext cx="1514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96" name="tests-failed-label">
            <a:extLst xmlns:a="http://schemas.openxmlformats.org/drawingml/2006/main">
              <a:ext uri="{FF2B5EF4-FFF2-40B4-BE49-F238E27FC236}">
                <a16:creationId xmlns:a16="http://schemas.microsoft.com/office/drawing/2014/main" id="{7234534D-5F76-483A-A741-87621BC1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5144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FAILED</a:t>
            </a:r>
          </a:p>
        </p:txBody>
      </p:sp>
      <p:sp>
        <p:nvSpPr>
          <p:cNvPr id="97" name="coverage-heading">
            <a:extLst xmlns:a="http://schemas.openxmlformats.org/drawingml/2006/main">
              <a:ext uri="{FF2B5EF4-FFF2-40B4-BE49-F238E27FC236}">
                <a16:creationId xmlns:a16="http://schemas.microsoft.com/office/drawing/2014/main" id="{C3F386BD-2554-45EA-97CC-8B1F1AE8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Overall line coverage</a:t>
            </a:r>
          </a:p>
        </p:txBody>
      </p:sp>
      <p:sp>
        <p:nvSpPr>
          <p:cNvPr id="98" name="coverage-bar-label-1">
            <a:extLst xmlns:a="http://schemas.openxmlformats.org/drawingml/2006/main">
              <a:ext uri="{FF2B5EF4-FFF2-40B4-BE49-F238E27FC236}">
                <a16:creationId xmlns:a16="http://schemas.microsoft.com/office/drawing/2014/main" id="{BE6A60A2-7FE1-488E-94ED-35305D8D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809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16 Aug baseline</a:t>
            </a:r>
          </a:p>
        </p:txBody>
      </p:sp>
      <p:sp>
        <p:nvSpPr>
          <p:cNvPr id="99" name="coverage-bar-track-1">
            <a:extLst xmlns:a="http://schemas.openxmlformats.org/drawingml/2006/main">
              <a:ext uri="{FF2B5EF4-FFF2-40B4-BE49-F238E27FC236}">
                <a16:creationId xmlns:a16="http://schemas.microsoft.com/office/drawing/2014/main" id="{7BCF9A8E-1020-4DD9-9C50-A567FB6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9EC"/>
          </a:solidFill>
          <a:ln xmlns:a="http://schemas.openxmlformats.org/drawingml/2006/main" w="0">
            <a:solidFill>
              <a:srgbClr val="E3E9EC"/>
            </a:solidFill>
            <a:prstDash val="solid"/>
          </a:ln>
        </p:spPr>
      </p:sp>
      <p:sp>
        <p:nvSpPr>
          <p:cNvPr id="100" name="coverage-bar-fill-1">
            <a:extLst xmlns:a="http://schemas.openxmlformats.org/drawingml/2006/main">
              <a:ext uri="{FF2B5EF4-FFF2-40B4-BE49-F238E27FC236}">
                <a16:creationId xmlns:a16="http://schemas.microsoft.com/office/drawing/2014/main" id="{2A8115FB-E714-4DC5-8B68-C2F2C21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138303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1" name="coverage-bar-value-1">
            <a:extLst xmlns:a="http://schemas.openxmlformats.org/drawingml/2006/main">
              <a:ext uri="{FF2B5EF4-FFF2-40B4-BE49-F238E27FC236}">
                <a16:creationId xmlns:a16="http://schemas.microsoft.com/office/drawing/2014/main" id="{21AC1040-3754-46A2-AFFF-A0FBA8D4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66%</a:t>
            </a:r>
          </a:p>
        </p:txBody>
      </p:sp>
      <p:sp>
        <p:nvSpPr>
          <p:cNvPr id="102" name="coverage-bar-label-2">
            <a:extLst xmlns:a="http://schemas.openxmlformats.org/drawingml/2006/main">
              <a:ext uri="{FF2B5EF4-FFF2-40B4-BE49-F238E27FC236}">
                <a16:creationId xmlns:a16="http://schemas.microsoft.com/office/drawing/2014/main" id="{A6FB5E9E-B577-44BE-B22B-D4BBEC76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28 Aug final</a:t>
            </a:r>
          </a:p>
        </p:txBody>
      </p:sp>
      <p:sp>
        <p:nvSpPr>
          <p:cNvPr id="103" name="coverage-bar-track-2">
            <a:extLst xmlns:a="http://schemas.openxmlformats.org/drawingml/2006/main">
              <a:ext uri="{FF2B5EF4-FFF2-40B4-BE49-F238E27FC236}">
                <a16:creationId xmlns:a16="http://schemas.microsoft.com/office/drawing/2014/main" id="{991B8D4D-C196-4749-90AF-5C7DCB34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2415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9EC"/>
          </a:solidFill>
          <a:ln xmlns:a="http://schemas.openxmlformats.org/drawingml/2006/main" w="0">
            <a:solidFill>
              <a:srgbClr val="E3E9EC"/>
            </a:solidFill>
            <a:prstDash val="solid"/>
          </a:ln>
        </p:spPr>
      </p:sp>
      <p:sp>
        <p:nvSpPr>
          <p:cNvPr id="104" name="coverage-bar-fill-2">
            <a:extLst xmlns:a="http://schemas.openxmlformats.org/drawingml/2006/main">
              <a:ext uri="{FF2B5EF4-FFF2-40B4-BE49-F238E27FC236}">
                <a16:creationId xmlns:a16="http://schemas.microsoft.com/office/drawing/2014/main" id="{614684C0-A50D-4D10-9DD6-EA45713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24150"/>
            <a:ext cx="182308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5" name="coverage-bar-value-2">
            <a:extLst xmlns:a="http://schemas.openxmlformats.org/drawingml/2006/main">
              <a:ext uri="{FF2B5EF4-FFF2-40B4-BE49-F238E27FC236}">
                <a16:creationId xmlns:a16="http://schemas.microsoft.com/office/drawing/2014/main" id="{A318E1D3-3F33-4895-94BC-0225A125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87%</a:t>
            </a:r>
          </a:p>
        </p:txBody>
      </p:sp>
      <p:sp>
        <p:nvSpPr>
          <p:cNvPr id="106" name="targeted-heading">
            <a:extLst xmlns:a="http://schemas.openxmlformats.org/drawingml/2006/main">
              <a:ext uri="{FF2B5EF4-FFF2-40B4-BE49-F238E27FC236}">
                <a16:creationId xmlns:a16="http://schemas.microsoft.com/office/drawing/2014/main" id="{84554FA8-7E5D-4080-AFEE-E1E9821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776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SUPERVISOR-TARGETED MODULES  •  100% EACH</a:t>
            </a:r>
          </a:p>
        </p:txBody>
      </p:sp>
      <p:sp>
        <p:nvSpPr>
          <p:cNvPr id="107" name="target-module-1">
            <a:extLst xmlns:a="http://schemas.openxmlformats.org/drawingml/2006/main">
              <a:ext uri="{FF2B5EF4-FFF2-40B4-BE49-F238E27FC236}">
                <a16:creationId xmlns:a16="http://schemas.microsoft.com/office/drawing/2014/main" id="{468B3740-112C-4BEB-8DE6-0EDD3AC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40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8" name="target-module-accent-1">
            <a:extLst xmlns:a="http://schemas.openxmlformats.org/drawingml/2006/main">
              <a:ext uri="{FF2B5EF4-FFF2-40B4-BE49-F238E27FC236}">
                <a16:creationId xmlns:a16="http://schemas.microsoft.com/office/drawing/2014/main" id="{F4678CA9-B0F0-4DD2-BA15-B55409D2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9" name="target-module-value-1">
            <a:extLst xmlns:a="http://schemas.openxmlformats.org/drawingml/2006/main">
              <a:ext uri="{FF2B5EF4-FFF2-40B4-BE49-F238E27FC236}">
                <a16:creationId xmlns:a16="http://schemas.microsoft.com/office/drawing/2014/main" id="{D51B65D4-D68A-4CB6-BEA1-F09E123B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71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10" name="target-module-label-1">
            <a:extLst xmlns:a="http://schemas.openxmlformats.org/drawingml/2006/main">
              <a:ext uri="{FF2B5EF4-FFF2-40B4-BE49-F238E27FC236}">
                <a16:creationId xmlns:a16="http://schemas.microsoft.com/office/drawing/2014/main" id="{2A7321B8-7B7C-4769-8201-472F312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9092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87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LangChain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multi-tool agent</a:t>
            </a:r>
          </a:p>
        </p:txBody>
      </p:sp>
      <p:sp>
        <p:nvSpPr>
          <p:cNvPr id="111" name="target-module-2">
            <a:extLst xmlns:a="http://schemas.openxmlformats.org/drawingml/2006/main">
              <a:ext uri="{FF2B5EF4-FFF2-40B4-BE49-F238E27FC236}">
                <a16:creationId xmlns:a16="http://schemas.microsoft.com/office/drawing/2014/main" id="{5178D1B3-567B-4D82-91FD-4341DE43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14700"/>
            <a:ext cx="140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2" name="target-module-accent-2">
            <a:extLst xmlns:a="http://schemas.openxmlformats.org/drawingml/2006/main">
              <a:ext uri="{FF2B5EF4-FFF2-40B4-BE49-F238E27FC236}">
                <a16:creationId xmlns:a16="http://schemas.microsoft.com/office/drawing/2014/main" id="{88B9A961-8C62-4B7C-BA3E-8C206909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147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3" name="target-module-value-2">
            <a:extLst xmlns:a="http://schemas.openxmlformats.org/drawingml/2006/main">
              <a:ext uri="{FF2B5EF4-FFF2-40B4-BE49-F238E27FC236}">
                <a16:creationId xmlns:a16="http://schemas.microsoft.com/office/drawing/2014/main" id="{81450CEF-78A9-423B-AB34-65FBC23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71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14" name="target-module-label-2">
            <a:extLst xmlns:a="http://schemas.openxmlformats.org/drawingml/2006/main">
              <a:ext uri="{FF2B5EF4-FFF2-40B4-BE49-F238E27FC236}">
                <a16:creationId xmlns:a16="http://schemas.microsoft.com/office/drawing/2014/main" id="{CA00E364-8AEF-4D40-A9B7-4E83926A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851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Scheduled agent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entry point</a:t>
            </a:r>
          </a:p>
        </p:txBody>
      </p:sp>
      <p:sp>
        <p:nvSpPr>
          <p:cNvPr id="115" name="target-module-3">
            <a:extLst xmlns:a="http://schemas.openxmlformats.org/drawingml/2006/main">
              <a:ext uri="{FF2B5EF4-FFF2-40B4-BE49-F238E27FC236}">
                <a16:creationId xmlns:a16="http://schemas.microsoft.com/office/drawing/2014/main" id="{93012981-8512-4B27-809E-07435289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14700"/>
            <a:ext cx="140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6" name="target-module-accent-3">
            <a:extLst xmlns:a="http://schemas.openxmlformats.org/drawingml/2006/main">
              <a:ext uri="{FF2B5EF4-FFF2-40B4-BE49-F238E27FC236}">
                <a16:creationId xmlns:a16="http://schemas.microsoft.com/office/drawing/2014/main" id="{E24A9C66-D8ED-4CD3-A21B-70609BF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147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7" name="target-module-value-3">
            <a:extLst xmlns:a="http://schemas.openxmlformats.org/drawingml/2006/main">
              <a:ext uri="{FF2B5EF4-FFF2-40B4-BE49-F238E27FC236}">
                <a16:creationId xmlns:a16="http://schemas.microsoft.com/office/drawing/2014/main" id="{A6AE7A55-8A33-4B3D-91B4-F853762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371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18" name="target-module-label-3">
            <a:extLst xmlns:a="http://schemas.openxmlformats.org/drawingml/2006/main">
              <a:ext uri="{FF2B5EF4-FFF2-40B4-BE49-F238E27FC236}">
                <a16:creationId xmlns:a16="http://schemas.microsoft.com/office/drawing/2014/main" id="{4F717517-085C-4FB7-B761-62BAE675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59092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Docker API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collector</a:t>
            </a:r>
          </a:p>
        </p:txBody>
      </p:sp>
      <p:sp>
        <p:nvSpPr>
          <p:cNvPr id="119" name="target-module-4">
            <a:extLst xmlns:a="http://schemas.openxmlformats.org/drawingml/2006/main">
              <a:ext uri="{FF2B5EF4-FFF2-40B4-BE49-F238E27FC236}">
                <a16:creationId xmlns:a16="http://schemas.microsoft.com/office/drawing/2014/main" id="{F194B7F9-B7AC-48D7-96A7-DF9917E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14700"/>
            <a:ext cx="140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20" name="target-module-accent-4">
            <a:extLst xmlns:a="http://schemas.openxmlformats.org/drawingml/2006/main">
              <a:ext uri="{FF2B5EF4-FFF2-40B4-BE49-F238E27FC236}">
                <a16:creationId xmlns:a16="http://schemas.microsoft.com/office/drawing/2014/main" id="{D3AC5084-B248-4A2A-B3D5-63F1907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147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21" name="target-module-value-4">
            <a:extLst xmlns:a="http://schemas.openxmlformats.org/drawingml/2006/main">
              <a:ext uri="{FF2B5EF4-FFF2-40B4-BE49-F238E27FC236}">
                <a16:creationId xmlns:a16="http://schemas.microsoft.com/office/drawing/2014/main" id="{739512AD-0472-4974-8E1F-21F5AA32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22" name="target-module-label-4">
            <a:extLst xmlns:a="http://schemas.openxmlformats.org/drawingml/2006/main">
              <a:ext uri="{FF2B5EF4-FFF2-40B4-BE49-F238E27FC236}">
                <a16:creationId xmlns:a16="http://schemas.microsoft.com/office/drawing/2014/main" id="{C355F0FF-44AE-49A1-A214-F2D38E3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9092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Docker event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collector</a:t>
            </a:r>
          </a:p>
        </p:txBody>
      </p:sp>
      <p:sp>
        <p:nvSpPr>
          <p:cNvPr id="123" name="target-module-5">
            <a:extLst xmlns:a="http://schemas.openxmlformats.org/drawingml/2006/main">
              <a:ext uri="{FF2B5EF4-FFF2-40B4-BE49-F238E27FC236}">
                <a16:creationId xmlns:a16="http://schemas.microsoft.com/office/drawing/2014/main" id="{94CD557A-707D-4608-BB98-2219BF0A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14700"/>
            <a:ext cx="140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24" name="target-module-accent-5">
            <a:extLst xmlns:a="http://schemas.openxmlformats.org/drawingml/2006/main">
              <a:ext uri="{FF2B5EF4-FFF2-40B4-BE49-F238E27FC236}">
                <a16:creationId xmlns:a16="http://schemas.microsoft.com/office/drawing/2014/main" id="{E253BD90-3B62-482B-A172-E766E978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147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25" name="target-module-value-5">
            <a:extLst xmlns:a="http://schemas.openxmlformats.org/drawingml/2006/main">
              <a:ext uri="{FF2B5EF4-FFF2-40B4-BE49-F238E27FC236}">
                <a16:creationId xmlns:a16="http://schemas.microsoft.com/office/drawing/2014/main" id="{40347BA6-5E0C-4858-A8BA-E40ECD4E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718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26" name="target-module-label-5">
            <a:extLst xmlns:a="http://schemas.openxmlformats.org/drawingml/2006/main">
              <a:ext uri="{FF2B5EF4-FFF2-40B4-BE49-F238E27FC236}">
                <a16:creationId xmlns:a16="http://schemas.microsoft.com/office/drawing/2014/main" id="{97C240AB-426D-40B3-AD62-15476E8E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9092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ChromaDB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vector store</a:t>
            </a:r>
          </a:p>
        </p:txBody>
      </p:sp>
    </p:spTree>
    <p:extLst>
      <p:ext uri="{BB962C8B-B14F-4D97-AF65-F5344CB8AC3E}">
        <p14:creationId xmlns:p14="http://schemas.microsoft.com/office/powerpoint/2010/main" val="37035474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B59DA8BC-98DD-0625-DE1C-8EE11BC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-5196"/>
            <a:ext cx="9288450" cy="5320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34468AB8-7B5E-EFB9-0516-3F92B695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Severity is poorly calibrated</a:t>
            </a: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3353B898-44C9-9A9C-80E1-2B91EB5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" y="4038600"/>
            <a:ext cx="8214836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86897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100% schema validity ≠ diagnostic calibration. Human review is mandatory; there is no unattended-triage claim.</a:t>
            </a:r>
          </a:p>
        </p:txBody>
      </p:sp>
      <p:cxnSp>
        <p:nvCxnSpPr>
          <p:cNvPr id="113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0DDA3CF-EF31-AC2E-EDFA-78ECF93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67a3e1003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  <p:sp>
        <p:nvSpPr>
          <p:cNvPr id="104" name="severity-metric-1">
            <a:extLst xmlns:a="http://schemas.openxmlformats.org/drawingml/2006/main">
              <a:ext uri="{FF2B5EF4-FFF2-40B4-BE49-F238E27FC236}">
                <a16:creationId xmlns:a16="http://schemas.microsoft.com/office/drawing/2014/main" id="{A75326DC-0480-4901-8B89-22E4200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40.3%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EXACT SEVERITY
ACCURACY</a:t>
            </a:r>
          </a:p>
        </p:txBody>
      </p:sp>
      <p:sp>
        <p:nvSpPr>
          <p:cNvPr id="105" name="severity-metric-2">
            <a:extLst xmlns:a="http://schemas.openxmlformats.org/drawingml/2006/main">
              <a:ext uri="{FF2B5EF4-FFF2-40B4-BE49-F238E27FC236}">
                <a16:creationId xmlns:a16="http://schemas.microsoft.com/office/drawing/2014/main" id="{A0D465CB-0A95-437F-95DA-B4A4D7C1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0.383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MACRO-F1</a:t>
            </a:r>
          </a:p>
        </p:txBody>
      </p:sp>
      <p:sp>
        <p:nvSpPr>
          <p:cNvPr id="106" name="severity-metric-3">
            <a:extLst xmlns:a="http://schemas.openxmlformats.org/drawingml/2006/main">
              <a:ext uri="{FF2B5EF4-FFF2-40B4-BE49-F238E27FC236}">
                <a16:creationId xmlns:a16="http://schemas.microsoft.com/office/drawing/2014/main" id="{F095F75F-86A4-44AF-BF41-ABD0CDD4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0%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WARNING RECALL</a:t>
            </a:r>
          </a:p>
        </p:txBody>
      </p:sp>
      <p:sp>
        <p:nvSpPr>
          <p:cNvPr id="107" name="severity-metric-4">
            <a:extLst xmlns:a="http://schemas.openxmlformats.org/drawingml/2006/main">
              <a:ext uri="{FF2B5EF4-FFF2-40B4-BE49-F238E27FC236}">
                <a16:creationId xmlns:a16="http://schemas.microsoft.com/office/drawing/2014/main" id="{5C76C4F5-0256-4005-8F46-94F3BC8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100%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CRITICAL RECALL</a:t>
            </a:r>
          </a:p>
        </p:txBody>
      </p:sp>
      <p:sp>
        <p:nvSpPr>
          <p:cNvPr id="108" name="severity-undercall">
            <a:extLst xmlns:a="http://schemas.openxmlformats.org/drawingml/2006/main">
              <a:ext uri="{FF2B5EF4-FFF2-40B4-BE49-F238E27FC236}">
                <a16:creationId xmlns:a16="http://schemas.microsoft.com/office/drawing/2014/main" id="{44B31D9C-8F1F-4112-A1D7-5F97A504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61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C2F3B"/>
          </a:solidFill>
          <a:ln xmlns:a="http://schemas.openxmlformats.org/drawingml/2006/main" w="9525">
            <a:solidFill>
              <a:srgbClr val="E83831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7855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6 HIGH-SEVERITY CASES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were under-classified</a:t>
            </a:r>
          </a:p>
        </p:txBody>
      </p:sp>
      <p:sp>
        <p:nvSpPr>
          <p:cNvPr id="109" name="severity-critical-precision">
            <a:extLst xmlns:a="http://schemas.openxmlformats.org/drawingml/2006/main">
              <a:ext uri="{FF2B5EF4-FFF2-40B4-BE49-F238E27FC236}">
                <a16:creationId xmlns:a16="http://schemas.microsoft.com/office/drawing/2014/main" id="{0590E5DE-3EA6-48E9-A391-B9B208AD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361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C0A28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863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CRITICAL PRECISION  •  27.3%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recall and precision tell different safety stories</a:t>
            </a:r>
          </a:p>
        </p:txBody>
      </p:sp>
    </p:spTree>
    <p:extLst>
      <p:ext uri="{BB962C8B-B14F-4D97-AF65-F5344CB8AC3E}">
        <p14:creationId xmlns:p14="http://schemas.microsoft.com/office/powerpoint/2010/main" val="7661100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A27235BD-4E5E-342A-510C-825F9EA13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RAG received higher ratings on this evaluated set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170A701B-5D26-E08C-A235-506D2768F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4038600"/>
            <a:ext cx="82148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35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reported means from two assessor role reports; public item-level score cells were unavailable. This is exploratory evidence, not population-level diagnostic proof.</a:t>
            </a:r>
          </a:p>
        </p:txBody>
      </p:sp>
      <p:cxnSp>
        <p:nvCxnSpPr>
          <p:cNvPr id="116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C336649F-617F-AA44-7F78-3F69969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e91ab6f12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rag-scale-title">
            <a:extLst xmlns:a="http://schemas.openxmlformats.org/drawingml/2006/main">
              <a:ext uri="{FF2B5EF4-FFF2-40B4-BE49-F238E27FC236}">
                <a16:creationId xmlns:a16="http://schemas.microsoft.com/office/drawing/2014/main" id="{D241A419-6738-4A87-A89F-60D8830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Reported assessor mean (0–2)</a:t>
            </a:r>
          </a:p>
        </p:txBody>
      </p:sp>
      <p:sp>
        <p:nvSpPr>
          <p:cNvPr id="92" name="rag-grid-0">
            <a:extLst xmlns:a="http://schemas.openxmlformats.org/drawingml/2006/main">
              <a:ext uri="{FF2B5EF4-FFF2-40B4-BE49-F238E27FC236}">
                <a16:creationId xmlns:a16="http://schemas.microsoft.com/office/drawing/2014/main" id="{7628E6D6-5811-4041-A992-B80418EC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3" name="rag-tick-0">
            <a:extLst xmlns:a="http://schemas.openxmlformats.org/drawingml/2006/main">
              <a:ext uri="{FF2B5EF4-FFF2-40B4-BE49-F238E27FC236}">
                <a16:creationId xmlns:a16="http://schemas.microsoft.com/office/drawing/2014/main" id="{8DBD729D-13FC-436B-960C-72D6D21C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7814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94" name="rag-grid-1">
            <a:extLst xmlns:a="http://schemas.openxmlformats.org/drawingml/2006/main">
              <a:ext uri="{FF2B5EF4-FFF2-40B4-BE49-F238E27FC236}">
                <a16:creationId xmlns:a16="http://schemas.microsoft.com/office/drawing/2014/main" id="{B0E2136C-867F-4DDD-8986-70CA4C26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5" name="rag-tick-1">
            <a:extLst xmlns:a="http://schemas.openxmlformats.org/drawingml/2006/main">
              <a:ext uri="{FF2B5EF4-FFF2-40B4-BE49-F238E27FC236}">
                <a16:creationId xmlns:a16="http://schemas.microsoft.com/office/drawing/2014/main" id="{F267E4B3-3CF3-4A5E-8041-CBA3FB3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814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96" name="rag-grid-2">
            <a:extLst xmlns:a="http://schemas.openxmlformats.org/drawingml/2006/main">
              <a:ext uri="{FF2B5EF4-FFF2-40B4-BE49-F238E27FC236}">
                <a16:creationId xmlns:a16="http://schemas.microsoft.com/office/drawing/2014/main" id="{794DE684-76E8-4DF6-B875-F16FFB48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7" name="rag-tick-2">
            <a:extLst xmlns:a="http://schemas.openxmlformats.org/drawingml/2006/main">
              <a:ext uri="{FF2B5EF4-FFF2-40B4-BE49-F238E27FC236}">
                <a16:creationId xmlns:a16="http://schemas.microsoft.com/office/drawing/2014/main" id="{93A9E6C1-AA14-4DBD-87BB-A82BD893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814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8" name="rag-row-label-1">
            <a:extLst xmlns:a="http://schemas.openxmlformats.org/drawingml/2006/main">
              <a:ext uri="{FF2B5EF4-FFF2-40B4-BE49-F238E27FC236}">
                <a16:creationId xmlns:a16="http://schemas.microsoft.com/office/drawing/2014/main" id="{FAF0027E-2792-46D3-8A06-B7DF8238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Correctness</a:t>
            </a:r>
          </a:p>
        </p:txBody>
      </p:sp>
      <p:sp>
        <p:nvSpPr>
          <p:cNvPr id="99" name="rag-bar-1-1">
            <a:extLst xmlns:a="http://schemas.openxmlformats.org/drawingml/2006/main">
              <a:ext uri="{FF2B5EF4-FFF2-40B4-BE49-F238E27FC236}">
                <a16:creationId xmlns:a16="http://schemas.microsoft.com/office/drawing/2014/main" id="{3B10F7CE-6156-4A0E-ACB4-625A843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24100"/>
            <a:ext cx="2321719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0" name="rag-bar-value-1-1">
            <a:extLst xmlns:a="http://schemas.openxmlformats.org/drawingml/2006/main">
              <a:ext uri="{FF2B5EF4-FFF2-40B4-BE49-F238E27FC236}">
                <a16:creationId xmlns:a16="http://schemas.microsoft.com/office/drawing/2014/main" id="{F9A5C94A-3292-458A-AA04-E245F26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669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1.625  RAG</a:t>
            </a:r>
          </a:p>
        </p:txBody>
      </p:sp>
      <p:sp>
        <p:nvSpPr>
          <p:cNvPr id="101" name="rag-bar-1-2">
            <a:extLst xmlns:a="http://schemas.openxmlformats.org/drawingml/2006/main">
              <a:ext uri="{FF2B5EF4-FFF2-40B4-BE49-F238E27FC236}">
                <a16:creationId xmlns:a16="http://schemas.microsoft.com/office/drawing/2014/main" id="{4AB95913-C236-43A7-9BA9-4CE4399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09850"/>
            <a:ext cx="105156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2" name="rag-bar-value-1-2">
            <a:extLst xmlns:a="http://schemas.openxmlformats.org/drawingml/2006/main">
              <a:ext uri="{FF2B5EF4-FFF2-40B4-BE49-F238E27FC236}">
                <a16:creationId xmlns:a16="http://schemas.microsoft.com/office/drawing/2014/main" id="{09BE5048-E94D-45BB-9811-5218D63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809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0.736  no RAG</a:t>
            </a:r>
          </a:p>
        </p:txBody>
      </p:sp>
      <p:sp>
        <p:nvSpPr>
          <p:cNvPr id="103" name="rag-row-label-2">
            <a:extLst xmlns:a="http://schemas.openxmlformats.org/drawingml/2006/main">
              <a:ext uri="{FF2B5EF4-FFF2-40B4-BE49-F238E27FC236}">
                <a16:creationId xmlns:a16="http://schemas.microsoft.com/office/drawing/2014/main" id="{E2B52EF5-43AD-4F25-8B17-E4551F4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Grounding</a:t>
            </a:r>
          </a:p>
        </p:txBody>
      </p:sp>
      <p:sp>
        <p:nvSpPr>
          <p:cNvPr id="104" name="rag-bar-2-1">
            <a:extLst xmlns:a="http://schemas.openxmlformats.org/drawingml/2006/main">
              <a:ext uri="{FF2B5EF4-FFF2-40B4-BE49-F238E27FC236}">
                <a16:creationId xmlns:a16="http://schemas.microsoft.com/office/drawing/2014/main" id="{DA86EF7F-A58A-4C06-BA00-6229088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5150"/>
            <a:ext cx="2381726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5" name="rag-bar-value-2-1">
            <a:extLst xmlns:a="http://schemas.openxmlformats.org/drawingml/2006/main">
              <a:ext uri="{FF2B5EF4-FFF2-40B4-BE49-F238E27FC236}">
                <a16:creationId xmlns:a16="http://schemas.microsoft.com/office/drawing/2014/main" id="{298B465A-6005-41D6-A352-918573D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480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1.667  RAG</a:t>
            </a:r>
          </a:p>
        </p:txBody>
      </p:sp>
      <p:sp>
        <p:nvSpPr>
          <p:cNvPr id="106" name="rag-bar-2-2">
            <a:extLst xmlns:a="http://schemas.openxmlformats.org/drawingml/2006/main">
              <a:ext uri="{FF2B5EF4-FFF2-40B4-BE49-F238E27FC236}">
                <a16:creationId xmlns:a16="http://schemas.microsoft.com/office/drawing/2014/main" id="{BD6CA4C1-A2D5-41B7-96C0-51FAE8E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90900"/>
            <a:ext cx="190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7" name="rag-bar-value-2-2">
            <a:extLst xmlns:a="http://schemas.openxmlformats.org/drawingml/2006/main">
              <a:ext uri="{FF2B5EF4-FFF2-40B4-BE49-F238E27FC236}">
                <a16:creationId xmlns:a16="http://schemas.microsoft.com/office/drawing/2014/main" id="{30B8E22B-E879-469A-86D8-E3EA057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808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0.000  no RAG</a:t>
            </a:r>
          </a:p>
        </p:txBody>
      </p:sp>
      <p:sp>
        <p:nvSpPr>
          <p:cNvPr id="108" name="rag-retrieval-surface">
            <a:extLst xmlns:a="http://schemas.openxmlformats.org/drawingml/2006/main">
              <a:ext uri="{FF2B5EF4-FFF2-40B4-BE49-F238E27FC236}">
                <a16:creationId xmlns:a16="http://schemas.microsoft.com/office/drawing/2014/main" id="{39A31B0C-99BA-4F54-9065-BE69DA92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33600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9" name="rag-retrieval-value">
            <a:extLst xmlns:a="http://schemas.openxmlformats.org/drawingml/2006/main">
              <a:ext uri="{FF2B5EF4-FFF2-40B4-BE49-F238E27FC236}">
                <a16:creationId xmlns:a16="http://schemas.microsoft.com/office/drawing/2014/main" id="{5B985C46-914B-4FC5-B177-1E916C5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1800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12/12</a:t>
            </a:r>
          </a:p>
        </p:txBody>
      </p:sp>
      <p:sp>
        <p:nvSpPr>
          <p:cNvPr id="110" name="rag-retrieval-label">
            <a:extLst xmlns:a="http://schemas.openxmlformats.org/drawingml/2006/main">
              <a:ext uri="{FF2B5EF4-FFF2-40B4-BE49-F238E27FC236}">
                <a16:creationId xmlns:a16="http://schemas.microsoft.com/office/drawing/2014/main" id="{332B1740-FE5D-42BD-B5DD-C441B78E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0507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RELEVANT RUNBOOK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IN TOP FOUR</a:t>
            </a:r>
          </a:p>
        </p:txBody>
      </p:sp>
      <p:sp>
        <p:nvSpPr>
          <p:cNvPr id="111" name="rag-practitioners-surface">
            <a:extLst xmlns:a="http://schemas.openxmlformats.org/drawingml/2006/main">
              <a:ext uri="{FF2B5EF4-FFF2-40B4-BE49-F238E27FC236}">
                <a16:creationId xmlns:a16="http://schemas.microsoft.com/office/drawing/2014/main" id="{61E23473-EC33-4302-AEF9-2B4FFB9F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2" name="rag-practitioners-value">
            <a:extLst xmlns:a="http://schemas.openxmlformats.org/drawingml/2006/main">
              <a:ext uri="{FF2B5EF4-FFF2-40B4-BE49-F238E27FC236}">
                <a16:creationId xmlns:a16="http://schemas.microsoft.com/office/drawing/2014/main" id="{D96E9E60-4423-421E-97EA-BE92A8A1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24200"/>
            <a:ext cx="1800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13" name="rag-practitioners-label">
            <a:extLst xmlns:a="http://schemas.openxmlformats.org/drawingml/2006/main">
              <a:ext uri="{FF2B5EF4-FFF2-40B4-BE49-F238E27FC236}">
                <a16:creationId xmlns:a16="http://schemas.microsoft.com/office/drawing/2014/main" id="{B6C6F0ED-1D77-4193-8B2C-3DEC2EDD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385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ASSESSOR ROLE</a:t>
            </a:r>
          </a:p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31451594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E7749026-8990-A95E-5684-CF562DB49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657225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Ten complete responses suggest favourable usability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4132265A-49C1-EDF3-57A5-1E033FC18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3943350"/>
            <a:ext cx="821483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35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35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Range 40.0–97.5; one incomplete response was excluded without imputation. Boundary — perceived usability in this group, not task performance, workload reduction or population usability.</a:t>
            </a:r>
          </a:p>
        </p:txBody>
      </p:sp>
      <p:cxnSp>
        <p:nvCxnSpPr>
          <p:cNvPr id="118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0EA5BED6-F809-286E-6B52-29C8DAF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f39095d42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sus-summary-1-surface">
            <a:extLst xmlns:a="http://schemas.openxmlformats.org/drawingml/2006/main">
              <a:ext uri="{FF2B5EF4-FFF2-40B4-BE49-F238E27FC236}">
                <a16:creationId xmlns:a16="http://schemas.microsoft.com/office/drawing/2014/main" id="{20B50DC9-736B-4E61-9F5E-6FDB9277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2" name="sus-summary-1-value">
            <a:extLst xmlns:a="http://schemas.openxmlformats.org/drawingml/2006/main">
              <a:ext uri="{FF2B5EF4-FFF2-40B4-BE49-F238E27FC236}">
                <a16:creationId xmlns:a16="http://schemas.microsoft.com/office/drawing/2014/main" id="{64EFB612-D8D1-43BD-872A-3BFC647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812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11 → 10</a:t>
            </a:r>
          </a:p>
        </p:txBody>
      </p:sp>
      <p:sp>
        <p:nvSpPr>
          <p:cNvPr id="93" name="sus-summary-1-label">
            <a:extLst xmlns:a="http://schemas.openxmlformats.org/drawingml/2006/main">
              <a:ext uri="{FF2B5EF4-FFF2-40B4-BE49-F238E27FC236}">
                <a16:creationId xmlns:a16="http://schemas.microsoft.com/office/drawing/2014/main" id="{8D06DB16-5A76-491F-BD41-C9D2308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955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CONSENTED → COMPLETE</a:t>
            </a:r>
          </a:p>
        </p:txBody>
      </p:sp>
      <p:sp>
        <p:nvSpPr>
          <p:cNvPr id="94" name="sus-summary-2-surface">
            <a:extLst xmlns:a="http://schemas.openxmlformats.org/drawingml/2006/main">
              <a:ext uri="{FF2B5EF4-FFF2-40B4-BE49-F238E27FC236}">
                <a16:creationId xmlns:a16="http://schemas.microsoft.com/office/drawing/2014/main" id="{8FB1DBE5-7AE1-4EB5-B5F0-1C46DC20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5" name="sus-summary-2-value">
            <a:extLst xmlns:a="http://schemas.openxmlformats.org/drawingml/2006/main">
              <a:ext uri="{FF2B5EF4-FFF2-40B4-BE49-F238E27FC236}">
                <a16:creationId xmlns:a16="http://schemas.microsoft.com/office/drawing/2014/main" id="{397CD75B-FFE7-436C-A396-A9E4F588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812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96" name="sus-summary-2-label">
            <a:extLst xmlns:a="http://schemas.openxmlformats.org/drawingml/2006/main">
              <a:ext uri="{FF2B5EF4-FFF2-40B4-BE49-F238E27FC236}">
                <a16:creationId xmlns:a16="http://schemas.microsoft.com/office/drawing/2014/main" id="{9BB358AC-FEC1-4D02-96F8-1067D835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955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821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DEVOPS / DEVSECOPS</a:t>
            </a:r>
          </a:p>
        </p:txBody>
      </p:sp>
      <p:sp>
        <p:nvSpPr>
          <p:cNvPr id="97" name="sus-summary-3-surface">
            <a:extLst xmlns:a="http://schemas.openxmlformats.org/drawingml/2006/main">
              <a:ext uri="{FF2B5EF4-FFF2-40B4-BE49-F238E27FC236}">
                <a16:creationId xmlns:a16="http://schemas.microsoft.com/office/drawing/2014/main" id="{65B38059-99A2-4E65-A53B-0DF10CB5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8" name="sus-summary-3-value">
            <a:extLst xmlns:a="http://schemas.openxmlformats.org/drawingml/2006/main">
              <a:ext uri="{FF2B5EF4-FFF2-40B4-BE49-F238E27FC236}">
                <a16:creationId xmlns:a16="http://schemas.microsoft.com/office/drawing/2014/main" id="{1E1DF160-603D-4B27-9FBA-AF820FE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812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99" name="sus-summary-3-label">
            <a:extLst xmlns:a="http://schemas.openxmlformats.org/drawingml/2006/main">
              <a:ext uri="{FF2B5EF4-FFF2-40B4-BE49-F238E27FC236}">
                <a16:creationId xmlns:a16="http://schemas.microsoft.com/office/drawing/2014/main" id="{6149EC01-C044-4FB1-9A1A-6CD4B155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955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SRE</a:t>
            </a:r>
          </a:p>
        </p:txBody>
      </p:sp>
      <p:sp>
        <p:nvSpPr>
          <p:cNvPr id="100" name="sus-summary-4-surface">
            <a:extLst xmlns:a="http://schemas.openxmlformats.org/drawingml/2006/main">
              <a:ext uri="{FF2B5EF4-FFF2-40B4-BE49-F238E27FC236}">
                <a16:creationId xmlns:a16="http://schemas.microsoft.com/office/drawing/2014/main" id="{F16774C7-6DA0-4318-9064-D722E3B1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1" name="sus-summary-4-value">
            <a:extLst xmlns:a="http://schemas.openxmlformats.org/drawingml/2006/main">
              <a:ext uri="{FF2B5EF4-FFF2-40B4-BE49-F238E27FC236}">
                <a16:creationId xmlns:a16="http://schemas.microsoft.com/office/drawing/2014/main" id="{810C058B-E760-4D83-9214-5B3F7D40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812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18.18</a:t>
            </a:r>
          </a:p>
        </p:txBody>
      </p:sp>
      <p:sp>
        <p:nvSpPr>
          <p:cNvPr id="102" name="sus-summary-4-label">
            <a:extLst xmlns:a="http://schemas.openxmlformats.org/drawingml/2006/main">
              <a:ext uri="{FF2B5EF4-FFF2-40B4-BE49-F238E27FC236}">
                <a16:creationId xmlns:a16="http://schemas.microsoft.com/office/drawing/2014/main" id="{2BA89EE9-386A-4FA8-8F2A-3F9DBDC6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95525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819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STANDARD DEVIATION</a:t>
            </a:r>
          </a:p>
        </p:txBody>
      </p:sp>
      <p:sp>
        <p:nvSpPr>
          <p:cNvPr id="103" name="sus-scale-title">
            <a:extLst xmlns:a="http://schemas.openxmlformats.org/drawingml/2006/main">
              <a:ext uri="{FF2B5EF4-FFF2-40B4-BE49-F238E27FC236}">
                <a16:creationId xmlns:a16="http://schemas.microsoft.com/office/drawing/2014/main" id="{990088F5-B651-487A-81B2-316B9EED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System Usability Scale (0–100)</a:t>
            </a:r>
          </a:p>
        </p:txBody>
      </p:sp>
      <p:sp>
        <p:nvSpPr>
          <p:cNvPr id="104" name="sus-scale-track">
            <a:extLst xmlns:a="http://schemas.openxmlformats.org/drawingml/2006/main">
              <a:ext uri="{FF2B5EF4-FFF2-40B4-BE49-F238E27FC236}">
                <a16:creationId xmlns:a16="http://schemas.microsoft.com/office/drawing/2014/main" id="{CB551392-7931-45AC-BB7B-DE485A4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6858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solidFill>
              <a:srgbClr val="D7DEE2"/>
            </a:solidFill>
            <a:prstDash val="solid"/>
          </a:ln>
        </p:spPr>
      </p:sp>
      <p:sp>
        <p:nvSpPr>
          <p:cNvPr id="105" name="sus-range">
            <a:extLst xmlns:a="http://schemas.openxmlformats.org/drawingml/2006/main">
              <a:ext uri="{FF2B5EF4-FFF2-40B4-BE49-F238E27FC236}">
                <a16:creationId xmlns:a16="http://schemas.microsoft.com/office/drawing/2014/main" id="{BEAAC5B0-C1E2-4C9F-AE5E-2AE17871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05175"/>
            <a:ext cx="394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6" name="sus-mean-marker">
            <a:extLst xmlns:a="http://schemas.openxmlformats.org/drawingml/2006/main">
              <a:ext uri="{FF2B5EF4-FFF2-40B4-BE49-F238E27FC236}">
                <a16:creationId xmlns:a16="http://schemas.microsoft.com/office/drawing/2014/main" id="{D2F04FEC-79D0-46FE-A1A0-756C2138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715" y="32194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3831"/>
            </a:solidFill>
            <a:prstDash val="solid"/>
          </a:ln>
        </p:spPr>
      </p:sp>
      <p:sp>
        <p:nvSpPr>
          <p:cNvPr id="107" name="sus-mean-label">
            <a:extLst xmlns:a="http://schemas.openxmlformats.org/drawingml/2006/main">
              <a:ext uri="{FF2B5EF4-FFF2-40B4-BE49-F238E27FC236}">
                <a16:creationId xmlns:a16="http://schemas.microsoft.com/office/drawing/2014/main" id="{6AF18212-AC04-45EE-897C-9965FDD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265" y="3028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Mean 79.25</a:t>
            </a:r>
          </a:p>
        </p:txBody>
      </p:sp>
      <p:sp>
        <p:nvSpPr>
          <p:cNvPr id="108" name="sus-median-marker">
            <a:extLst xmlns:a="http://schemas.openxmlformats.org/drawingml/2006/main">
              <a:ext uri="{FF2B5EF4-FFF2-40B4-BE49-F238E27FC236}">
                <a16:creationId xmlns:a16="http://schemas.microsoft.com/office/drawing/2014/main" id="{870E1583-4FB9-44FC-9A5C-E5255D68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194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314F"/>
            </a:solidFill>
            <a:prstDash val="solid"/>
          </a:ln>
        </p:spPr>
      </p:sp>
      <p:sp>
        <p:nvSpPr>
          <p:cNvPr id="109" name="sus-median-label">
            <a:extLst xmlns:a="http://schemas.openxmlformats.org/drawingml/2006/main">
              <a:ext uri="{FF2B5EF4-FFF2-40B4-BE49-F238E27FC236}">
                <a16:creationId xmlns:a16="http://schemas.microsoft.com/office/drawing/2014/main" id="{8C5F7B9A-D64F-42BC-B9B6-3A66724F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959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Median 83.75</a:t>
            </a:r>
          </a:p>
        </p:txBody>
      </p:sp>
      <p:sp>
        <p:nvSpPr>
          <p:cNvPr id="110" name="sus-tick-1">
            <a:extLst xmlns:a="http://schemas.openxmlformats.org/drawingml/2006/main">
              <a:ext uri="{FF2B5EF4-FFF2-40B4-BE49-F238E27FC236}">
                <a16:creationId xmlns:a16="http://schemas.microsoft.com/office/drawing/2014/main" id="{3D1F6E40-6196-4B12-A4F5-AE4244B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796"/>
            </a:solidFill>
            <a:prstDash val="solid"/>
          </a:ln>
        </p:spPr>
      </p:sp>
      <p:sp>
        <p:nvSpPr>
          <p:cNvPr id="111" name="sus-tick-label-1">
            <a:extLst xmlns:a="http://schemas.openxmlformats.org/drawingml/2006/main">
              <a:ext uri="{FF2B5EF4-FFF2-40B4-BE49-F238E27FC236}">
                <a16:creationId xmlns:a16="http://schemas.microsoft.com/office/drawing/2014/main" id="{119C3426-622F-4FAD-A144-9BE8E4E8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12" name="sus-tick-2">
            <a:extLst xmlns:a="http://schemas.openxmlformats.org/drawingml/2006/main">
              <a:ext uri="{FF2B5EF4-FFF2-40B4-BE49-F238E27FC236}">
                <a16:creationId xmlns:a16="http://schemas.microsoft.com/office/drawing/2014/main" id="{5DFB2A14-501B-4B28-B503-718A040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796"/>
            </a:solidFill>
            <a:prstDash val="solid"/>
          </a:ln>
        </p:spPr>
      </p:sp>
      <p:sp>
        <p:nvSpPr>
          <p:cNvPr id="113" name="sus-tick-label-2">
            <a:extLst xmlns:a="http://schemas.openxmlformats.org/drawingml/2006/main">
              <a:ext uri="{FF2B5EF4-FFF2-40B4-BE49-F238E27FC236}">
                <a16:creationId xmlns:a16="http://schemas.microsoft.com/office/drawing/2014/main" id="{6F61C6A6-8354-4276-888B-76FD786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385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50</a:t>
            </a:r>
          </a:p>
        </p:txBody>
      </p:sp>
      <p:sp>
        <p:nvSpPr>
          <p:cNvPr id="114" name="sus-tick-3">
            <a:extLst xmlns:a="http://schemas.openxmlformats.org/drawingml/2006/main">
              <a:ext uri="{FF2B5EF4-FFF2-40B4-BE49-F238E27FC236}">
                <a16:creationId xmlns:a16="http://schemas.microsoft.com/office/drawing/2014/main" id="{DF08028D-07D7-4913-BB3A-6B1F93B9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796"/>
            </a:solidFill>
            <a:prstDash val="solid"/>
          </a:ln>
        </p:spPr>
      </p:sp>
      <p:sp>
        <p:nvSpPr>
          <p:cNvPr id="115" name="sus-tick-label-3">
            <a:extLst xmlns:a="http://schemas.openxmlformats.org/drawingml/2006/main">
              <a:ext uri="{FF2B5EF4-FFF2-40B4-BE49-F238E27FC236}">
                <a16:creationId xmlns:a16="http://schemas.microsoft.com/office/drawing/2014/main" id="{CD583EFA-F691-4B7C-A309-80A8DAC4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385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7035474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B59DA8BC-98DD-0625-DE1C-8EE11BC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-5196"/>
            <a:ext cx="9288450" cy="5320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34468AB8-7B5E-EFB9-0516-3F92B695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Governance-by-design is the contribution</a:t>
            </a: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3353B898-44C9-9A9C-80E1-2B91EB5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86956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Design science — governance-by-design reference framework for bounded LLM-assisted triage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Distinctive construct — condition-and-ruleset fingerprint with severity safeguard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Engineering — inspectable operator-hosted implementation and reproducible evidence package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Empirical — reproducible baseline exposes retrieval strength and severity/signature weakness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Human evidence — exploratory two-assessor interpretation and descriptive SUS in ten complete responses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Defensible conclusion — provides inspectable decision-support functionality; does not establish improved decisions, workload reduction, autonomous triage or production effectiveness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4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Next evidence — deterministic signatures, stronger models, live workloads and larger independent human studies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0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0DDA3CF-EF31-AC2E-EDFA-78ECF93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57b554fdd44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100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011733BF-9D57-8F93-7EC5-33BE5C94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-152400"/>
            <a:ext cx="9440850" cy="530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C4856BF4-18B4-81C6-0AA5-4D62756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5722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85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85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Selected APA 7 references (2020–2024)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2F88F4C8-49DA-2E5E-D406-6242B1DB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86997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Ahmed, T., Ghosh, S., Bansal, C., Zimmermann, T., Zhang, X., &amp; Rajmohan, S. (2023). Recommending root-cause and mitigation steps for cloud incidents using large language models. In 2023 IEEE/ACM ICSE (pp. 1737–1749). IEEE. https://doi.org/10.1109/ICSE48619.2023.00149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Mäntymäki, M., Minkkinen, M., Birkstedt, T., &amp; Viljanen, M. (2022). Defining organizational AI governance. AI and Ethics, 2(4), 603–609. https://doi.org/10.1007/s43681-022-00143-x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Morley, J., Floridi, L., Kinsey, L., &amp; Elhalal, A. (2020). From what to how: An initial review of publicly available AI ethics tools, methods and research to translate principles into practices. Science and Engineering Ethics, 26(4), 2141–2168. https://doi.org/10.1007/s11948-019-00165-5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35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National Institute of Standards and Technology. (2024). Artificial intelligence risk management framework: Generative artificial intelligence profile (NIST AI 600-1). U.S. Department of Commerce. https://doi.org/10.6028/NIST.AI.600-1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0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269058DF-CFFD-890D-335C-0280F99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2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7c13671424f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2390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2026-08-28T14:20:09.1140000Z</dcterms:created>
  <dcterms:modified xsi:type="dcterms:W3CDTF">2026-08-28T14:20:09.1140000Z</dcterms:modified>
</coreProperties>
</file>